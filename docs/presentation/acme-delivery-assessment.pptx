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ten slides in about 10–12 minutes, with no appendix. Explain the architecture, deliverables and measured performance. ACME needs current order information for operational planning. This is a working assessment implementation, not a certified production cluster.</a:t>
            </a:r>
          </a:p>
          <a:p/>
          <a:p>
            <a:r>
              <a:t>Evidence: README.md, docs/assessment-deliverables.md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 answers all four business questions. Pending items expose both line count and total units. The repository also contains the architecture, sizing strategy, application, SQL, tests, experiment code and recorded evidence. No business ROI is claimed from synthetic data.</a:t>
            </a:r>
          </a:p>
          <a:p/>
          <a:p>
            <a:r>
              <a:t>Evidence: docs/assessment-deliverables.md, sql/pending-items.sql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Debezium loads the initial snapshot and captures PostgreSQL WAL changes. Kafka has four entity topics. Spark has two streams and checkpoints: Kafka to Parquet Bronze, then Bronze to foreachBatch for Silver/Gold. Both streams share two local slots. One materializer owns the tables. A completed version manifest is the supported read boundary. Invalid events go to quarantine and block publication. Secrets use the environment/provider. Local plaintext traffic and a single broker are not production TLS/HA.</a:t>
            </a:r>
          </a:p>
          <a:p/>
          <a:p>
            <a:r>
              <a:t>Evidence: docs/architecture.md, docker-compose.yaml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Bronze preserves Kafka bytes and coordinates. Silver orders changes using PostgreSQL LSN and Kafka offset, conditionally merges the latest key state and retains delete guards. A new item joins a stored order; a changed parent refreshes stored children even without item events. Gold separates order/item fact grains and customer/product/date dimensions. Dimensions are SCD1. History means snapshot plus accumulated current state, not SCD2. The CLI reads the completed versions from a single manifest; transactions split across topics are eventually reconciled.</a:t>
            </a:r>
          </a:p>
          <a:p/>
          <a:p>
            <a:r>
              <a:t>Evidence: app/gold.py, app/materialize.py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local[2] is two task slots in one driver JVM, not two executors. Both streams share them. Heap is 2 GiB within a 3 GiB container budget. Four shuffle partitions are an initial setting, not a proven optimum. Kafka intake is 20000 offsets per ten-second trigger; Bronze intake is 32 files per batch. These do not bound fanout or retained-target scans. Production needs actual rates/bytes, mutation mix, historical targets, storage, fanout and freshness/recovery goals. Shared durable storage and distributed measurements are still required.</a:t>
            </a:r>
          </a:p>
          <a:p/>
          <a:p>
            <a:r>
              <a:t>Evidence: docs/performance.md, docker-compose.yaml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Actual arrival rate includes SQL execution and sampling pauses. Batch duration is active processing; freshness includes previous waiting. Each age p95 is calculated inside one batch. Its median/maximum across batches is not a global event p95. Native Spark metrics include CPU, task duration, GC, shuffle, spill and failures. Each stress scenario ran once, with arrival steps of about two minutes. Thirty seconds is an experimental reference, not a numeric SLA supplied by Deel.</a:t>
            </a:r>
          </a:p>
          <a:p/>
          <a:p>
            <a:r>
              <a:t>Evidence: docs/performance-stress.md, docs/evidence/stress/streaming-levels.json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Initial fixtures contain about 0.6, 3 and 6 million events. Materialization excludes Spark initialization, separate Bronze writing and later checks. The largest took 370.5 seconds; Gold used 232.5 seconds, about 63%. Task disk spill of 846 MB, CPU of 482.8s and GC of 51.3s are totals for the whole largest application, including update/checks. Task sums are not wall time or JVM-wide GC percentages. Failed attempts were zero. The memory probe approached the container cap without OOM. Bulk events/s does not certify streaming freshness.</a:t>
            </a:r>
          </a:p>
          <a:p/>
          <a:p>
            <a:r>
              <a:t>Evidence: docs/evidence/stress/materialization.json, docs/evidence/stress/scale-1m-spark-metrics.json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measured input rates: 235, 954, 2356 and 2587 events/s. The nominal 6000/s target was not reached. The chart shows median/highest within-batch p95 ages, not global event p95. Above roughly 2000/s the original cap contributes growing lag. Even the lowest step had a batch p95 above the 30s experimental reference. Highest batch p95 was 112.5s. All steps drained after input stopped; the highest two needed about 66s and 70s. These short tests do not certify a production SLA.</a:t>
            </a:r>
          </a:p>
          <a:p/>
          <a:p>
            <a:r>
              <a:t>Evidence: docs/evidence/stress/streaming-levels.json, docs/evidence/stress/streaming-batches.json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774001 counts raw events, not unique orders. Topic offsets, physical Bronze rows/distinct Kafka coordinates and published input counts matched. Four business metrics matched independent PostgreSQL queries three times: after load, after mutations and after recovery. We applied 12375 order updates and 6378 item deletes. While Kafka was stopped, 6000 events committed to the source. The 53.5s interval includes stop, wait, restart, processing and polling. Spark needed no restart. This demonstrates recovery with retained volumes, not single-broker HA or disk-loss recovery.</a:t>
            </a:r>
          </a:p>
          <a:p/>
          <a:p>
            <a:r>
              <a:t>Evidence: docs/evidence/stress/final-integrity.json, docs/evidence/stress/broker-outage.jsonl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working source-to-query platform, measured evidence and a clear next experiment. Prioritize Gold target scans/merge work, then compare resources and file layout using real arrival/freshness targets. Repository contents include application, SQL, Docker, tests, experiment code and slide sources. The CLI reads completed publications. The README indexes the deliverables. Detailed explanations remain in documentation and speaker notes; there is no slide appendix.</a:t>
            </a:r>
          </a:p>
          <a:p/>
          <a:p>
            <a:r>
              <a:t>Evidence: README.md, docs/presentation/README.md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fabdutra/deel-data-engineering-task/blob/main/README.md"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fabdutra/deel-data-engineering-task/blob/main/docs/assessment-deliverables.md"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fabdutra/deel-data-engineering-task/blob/main/docs/architecture.md" TargetMode="Externa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fabdutra/deel-data-engineering-task/blob/main/app/gold.py" TargetMode="Externa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fabdutra/deel-data-engineering-task/blob/main/docs/performance.md" TargetMode="Externa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fabdutra/deel-data-engineering-task/blob/main/docs/performance-stress.md" TargetMode="Externa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github.com/fabdutra/deel-data-engineering-task/blob/main/docs/evidence/stress/materialization.json"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github.com/fabdutra/deel-data-engineering-task/blob/main/docs/evidence/stress/streaming-levels.json"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fabdutra/deel-data-engineering-task/blob/main/docs/evidence/stress/final-integrity.json" TargetMode="Externa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fabdutra/deel-data-engineering-task" TargetMode="External"/><Relationship Id="rId3" Type="http://schemas.openxmlformats.org/officeDocument/2006/relationships/hyperlink" Target="https://github.com/fabdutra/deel-data-engineering-task/blob/main/README.md" TargetMode="External"/><Relationship Id="rId4"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22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609600"/>
            <a:ext cx="10972800" cy="245872"/>
          </a:xfrm>
          <a:prstGeom prst="rect">
            <a:avLst/>
          </a:prstGeom>
          <a:noFill/>
        </p:spPr>
        <p:txBody>
          <a:bodyPr wrap="none" lIns="0" rIns="0" tIns="0" bIns="0" anchor="t">
            <a:spAutoFit/>
          </a:bodyPr>
          <a:lstStyle/>
          <a:p>
            <a:pPr>
              <a:spcBef>
                <a:spcPts val="0"/>
              </a:spcBef>
              <a:spcAft>
                <a:spcPts val="0"/>
              </a:spcAft>
            </a:pPr>
            <a:r>
              <a:rPr sz="1200" b="1">
                <a:solidFill>
                  <a:srgbClr val="6DE0C6"/>
                </a:solidFill>
                <a:latin typeface="Arial"/>
              </a:rPr>
              <a:t>DEEL / SENIOR DATA ENGINEER ASSESSMENT</a:t>
            </a:r>
          </a:p>
        </p:txBody>
      </p:sp>
      <p:sp>
        <p:nvSpPr>
          <p:cNvPr id="4" name="TextBox 3"/>
          <p:cNvSpPr txBox="1"/>
          <p:nvPr/>
        </p:nvSpPr>
        <p:spPr>
          <a:xfrm>
            <a:off x="609600" y="1866900"/>
            <a:ext cx="10972800" cy="711200"/>
          </a:xfrm>
          <a:prstGeom prst="rect">
            <a:avLst/>
          </a:prstGeom>
          <a:noFill/>
        </p:spPr>
        <p:txBody>
          <a:bodyPr wrap="none" lIns="0" rIns="0" tIns="0" bIns="0" anchor="t">
            <a:spAutoFit/>
          </a:bodyPr>
          <a:lstStyle/>
          <a:p>
            <a:pPr>
              <a:spcBef>
                <a:spcPts val="0"/>
              </a:spcBef>
              <a:spcAft>
                <a:spcPts val="0"/>
              </a:spcAft>
            </a:pPr>
            <a:r>
              <a:rPr sz="4400" b="1">
                <a:solidFill>
                  <a:srgbClr val="FFFFFF"/>
                </a:solidFill>
                <a:latin typeface="Arial"/>
              </a:rPr>
              <a:t>ACME Delivery</a:t>
            </a:r>
          </a:p>
        </p:txBody>
      </p:sp>
      <p:sp>
        <p:nvSpPr>
          <p:cNvPr id="5" name="TextBox 4"/>
          <p:cNvSpPr txBox="1"/>
          <p:nvPr/>
        </p:nvSpPr>
        <p:spPr>
          <a:xfrm>
            <a:off x="609600" y="2527300"/>
            <a:ext cx="10972800" cy="711200"/>
          </a:xfrm>
          <a:prstGeom prst="rect">
            <a:avLst/>
          </a:prstGeom>
          <a:noFill/>
        </p:spPr>
        <p:txBody>
          <a:bodyPr wrap="none" lIns="0" rIns="0" tIns="0" bIns="0" anchor="t">
            <a:spAutoFit/>
          </a:bodyPr>
          <a:lstStyle/>
          <a:p>
            <a:pPr>
              <a:spcBef>
                <a:spcPts val="0"/>
              </a:spcBef>
              <a:spcAft>
                <a:spcPts val="0"/>
              </a:spcAft>
            </a:pPr>
            <a:r>
              <a:rPr sz="4400" b="1">
                <a:solidFill>
                  <a:srgbClr val="FFFFFF"/>
                </a:solidFill>
                <a:latin typeface="Arial"/>
              </a:rPr>
              <a:t>Streaming analytics</a:t>
            </a:r>
          </a:p>
        </p:txBody>
      </p:sp>
      <p:sp>
        <p:nvSpPr>
          <p:cNvPr id="6" name="TextBox 5"/>
          <p:cNvSpPr txBox="1"/>
          <p:nvPr/>
        </p:nvSpPr>
        <p:spPr>
          <a:xfrm>
            <a:off x="609600" y="3619500"/>
            <a:ext cx="10972800" cy="424688"/>
          </a:xfrm>
          <a:prstGeom prst="rect">
            <a:avLst/>
          </a:prstGeom>
          <a:noFill/>
        </p:spPr>
        <p:txBody>
          <a:bodyPr wrap="none" lIns="0" rIns="0" tIns="0" bIns="0" anchor="t">
            <a:spAutoFit/>
          </a:bodyPr>
          <a:lstStyle/>
          <a:p>
            <a:pPr>
              <a:spcBef>
                <a:spcPts val="0"/>
              </a:spcBef>
              <a:spcAft>
                <a:spcPts val="0"/>
              </a:spcAft>
            </a:pPr>
            <a:r>
              <a:rPr sz="2300" b="0">
                <a:solidFill>
                  <a:srgbClr val="D2E4EC"/>
                </a:solidFill>
                <a:latin typeface="Arial"/>
              </a:rPr>
              <a:t>Architecture, deliverables and measured performance</a:t>
            </a:r>
          </a:p>
        </p:txBody>
      </p:sp>
      <p:sp>
        <p:nvSpPr>
          <p:cNvPr id="7" name="TextBox 6"/>
          <p:cNvSpPr txBox="1"/>
          <p:nvPr/>
        </p:nvSpPr>
        <p:spPr>
          <a:xfrm>
            <a:off x="609600" y="4749800"/>
            <a:ext cx="10972800" cy="392176"/>
          </a:xfrm>
          <a:prstGeom prst="rect">
            <a:avLst/>
          </a:prstGeom>
          <a:noFill/>
        </p:spPr>
        <p:txBody>
          <a:bodyPr wrap="none" lIns="0" rIns="0" tIns="0" bIns="0" anchor="t">
            <a:spAutoFit/>
          </a:bodyPr>
          <a:lstStyle/>
          <a:p>
            <a:pPr>
              <a:spcBef>
                <a:spcPts val="0"/>
              </a:spcBef>
              <a:spcAft>
                <a:spcPts val="0"/>
              </a:spcAft>
            </a:pPr>
            <a:r>
              <a:rPr sz="2100" b="1">
                <a:solidFill>
                  <a:srgbClr val="FFFFFF"/>
                </a:solidFill>
                <a:latin typeface="Arial"/>
              </a:rPr>
              <a:t>Fabricio Dutra</a:t>
            </a:r>
          </a:p>
        </p:txBody>
      </p:sp>
      <p:sp>
        <p:nvSpPr>
          <p:cNvPr id="8" name="TextBox 7"/>
          <p:cNvSpPr txBox="1"/>
          <p:nvPr/>
        </p:nvSpPr>
        <p:spPr>
          <a:xfrm>
            <a:off x="609600" y="5499100"/>
            <a:ext cx="10972800" cy="375920"/>
          </a:xfrm>
          <a:prstGeom prst="rect">
            <a:avLst/>
          </a:prstGeom>
          <a:noFill/>
        </p:spPr>
        <p:txBody>
          <a:bodyPr wrap="none" lIns="0" rIns="0" tIns="0" bIns="0" anchor="t">
            <a:spAutoFit/>
          </a:bodyPr>
          <a:lstStyle/>
          <a:p>
            <a:pPr>
              <a:spcBef>
                <a:spcPts val="0"/>
              </a:spcBef>
              <a:spcAft>
                <a:spcPts val="0"/>
              </a:spcAft>
            </a:pPr>
            <a:r>
              <a:rPr sz="2000" b="1">
                <a:solidFill>
                  <a:srgbClr val="6DE0C6"/>
                </a:solidFill>
                <a:latin typeface="Arial"/>
              </a:rPr>
              <a:t>From source changes to queryable order metrics.</a:t>
            </a:r>
          </a:p>
        </p:txBody>
      </p:sp>
      <p:cxnSp>
        <p:nvCxnSpPr>
          <p:cNvPr id="9" name="Connector 8"/>
          <p:cNvCxnSpPr/>
          <p:nvPr/>
        </p:nvCxnSpPr>
        <p:spPr>
          <a:xfrm>
            <a:off x="609600" y="6324600"/>
            <a:ext cx="10972800" cy="0"/>
          </a:xfrm>
          <a:prstGeom prst="line">
            <a:avLst/>
          </a:prstGeom>
          <a:ln w="8890">
            <a:solidFill>
              <a:srgbClr val="375361"/>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B2CAD5"/>
                </a:solidFill>
                <a:latin typeface="Arial"/>
                <a:hlinkClick r:id="rId2"/>
              </a:rPr>
              <a:t>Sources: README.md | docs/assessment-deliverables.md</a:t>
            </a:r>
          </a:p>
        </p:txBody>
      </p:sp>
      <p:sp>
        <p:nvSpPr>
          <p:cNvPr id="11" name="TextBox 10"/>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B2CAD5"/>
                </a:solidFill>
                <a:latin typeface="Arial"/>
              </a:rPr>
              <a:t>01 /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DELIVERABLES</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What was delivered</a:t>
            </a:r>
          </a:p>
        </p:txBody>
      </p:sp>
      <p:sp>
        <p:nvSpPr>
          <p:cNvPr id="5" name="Rounded Rectangle 4"/>
          <p:cNvSpPr/>
          <p:nvPr/>
        </p:nvSpPr>
        <p:spPr>
          <a:xfrm>
            <a:off x="609600" y="1511300"/>
            <a:ext cx="5308600" cy="18415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09600" y="1511300"/>
            <a:ext cx="50800" cy="18415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200" y="1701800"/>
            <a:ext cx="48768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Four business queries</a:t>
            </a:r>
          </a:p>
        </p:txBody>
      </p:sp>
      <p:sp>
        <p:nvSpPr>
          <p:cNvPr id="8" name="TextBox 7"/>
          <p:cNvSpPr txBox="1"/>
          <p:nvPr/>
        </p:nvSpPr>
        <p:spPr>
          <a:xfrm>
            <a:off x="838200" y="2108708"/>
            <a:ext cx="48768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Open orders by date and status</a:t>
            </a:r>
          </a:p>
        </p:txBody>
      </p:sp>
      <p:sp>
        <p:nvSpPr>
          <p:cNvPr id="9" name="TextBox 8"/>
          <p:cNvSpPr txBox="1"/>
          <p:nvPr/>
        </p:nvSpPr>
        <p:spPr>
          <a:xfrm>
            <a:off x="838200" y="2368804"/>
            <a:ext cx="48768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Top delivery dates</a:t>
            </a:r>
          </a:p>
        </p:txBody>
      </p:sp>
      <p:sp>
        <p:nvSpPr>
          <p:cNvPr id="10" name="TextBox 9"/>
          <p:cNvSpPr txBox="1"/>
          <p:nvPr/>
        </p:nvSpPr>
        <p:spPr>
          <a:xfrm>
            <a:off x="838200" y="2628900"/>
            <a:ext cx="48768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Pending items by product</a:t>
            </a:r>
          </a:p>
        </p:txBody>
      </p:sp>
      <p:sp>
        <p:nvSpPr>
          <p:cNvPr id="11" name="TextBox 10"/>
          <p:cNvSpPr txBox="1"/>
          <p:nvPr/>
        </p:nvSpPr>
        <p:spPr>
          <a:xfrm>
            <a:off x="838200" y="2888996"/>
            <a:ext cx="48768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Top customers</a:t>
            </a:r>
          </a:p>
        </p:txBody>
      </p:sp>
      <p:sp>
        <p:nvSpPr>
          <p:cNvPr id="12" name="Rounded Rectangle 11"/>
          <p:cNvSpPr/>
          <p:nvPr/>
        </p:nvSpPr>
        <p:spPr>
          <a:xfrm>
            <a:off x="6223000" y="1511300"/>
            <a:ext cx="5359400" cy="18415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3000" y="1511300"/>
            <a:ext cx="50800" cy="18415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51600" y="1701800"/>
            <a:ext cx="4927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A complete data pipeline</a:t>
            </a:r>
          </a:p>
        </p:txBody>
      </p:sp>
      <p:sp>
        <p:nvSpPr>
          <p:cNvPr id="15" name="TextBox 14"/>
          <p:cNvSpPr txBox="1"/>
          <p:nvPr/>
        </p:nvSpPr>
        <p:spPr>
          <a:xfrm>
            <a:off x="6451600" y="2108708"/>
            <a:ext cx="49276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PostgreSQL → Debezium → Kafka → Spark</a:t>
            </a:r>
          </a:p>
        </p:txBody>
      </p:sp>
      <p:sp>
        <p:nvSpPr>
          <p:cNvPr id="16" name="TextBox 15"/>
          <p:cNvSpPr txBox="1"/>
          <p:nvPr/>
        </p:nvSpPr>
        <p:spPr>
          <a:xfrm>
            <a:off x="6451600" y="2368804"/>
            <a:ext cx="49276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Raw events and Delta query tables</a:t>
            </a:r>
          </a:p>
        </p:txBody>
      </p:sp>
      <p:sp>
        <p:nvSpPr>
          <p:cNvPr id="17" name="TextBox 16"/>
          <p:cNvSpPr txBox="1"/>
          <p:nvPr/>
        </p:nvSpPr>
        <p:spPr>
          <a:xfrm>
            <a:off x="6451600" y="2628900"/>
            <a:ext cx="49276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Queries available through a CLI</a:t>
            </a:r>
          </a:p>
        </p:txBody>
      </p:sp>
      <p:sp>
        <p:nvSpPr>
          <p:cNvPr id="18" name="Rounded Rectangle 17"/>
          <p:cNvSpPr/>
          <p:nvPr/>
        </p:nvSpPr>
        <p:spPr>
          <a:xfrm>
            <a:off x="609600" y="3644900"/>
            <a:ext cx="5308600" cy="18415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9600" y="3644900"/>
            <a:ext cx="50800" cy="18415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8200" y="3835400"/>
            <a:ext cx="48768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Architecture and sizing</a:t>
            </a:r>
          </a:p>
        </p:txBody>
      </p:sp>
      <p:sp>
        <p:nvSpPr>
          <p:cNvPr id="21" name="TextBox 20"/>
          <p:cNvSpPr txBox="1"/>
          <p:nvPr/>
        </p:nvSpPr>
        <p:spPr>
          <a:xfrm>
            <a:off x="838200" y="4242308"/>
            <a:ext cx="48768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Component diagram and data model</a:t>
            </a:r>
          </a:p>
        </p:txBody>
      </p:sp>
      <p:sp>
        <p:nvSpPr>
          <p:cNvPr id="22" name="TextBox 21"/>
          <p:cNvSpPr txBox="1"/>
          <p:nvPr/>
        </p:nvSpPr>
        <p:spPr>
          <a:xfrm>
            <a:off x="838200" y="4502404"/>
            <a:ext cx="48768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Spark resource budgets</a:t>
            </a:r>
          </a:p>
        </p:txBody>
      </p:sp>
      <p:sp>
        <p:nvSpPr>
          <p:cNvPr id="23" name="TextBox 22"/>
          <p:cNvSpPr txBox="1"/>
          <p:nvPr/>
        </p:nvSpPr>
        <p:spPr>
          <a:xfrm>
            <a:off x="838200" y="4762500"/>
            <a:ext cx="48768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Assumptions and scaling decisions</a:t>
            </a:r>
          </a:p>
        </p:txBody>
      </p:sp>
      <p:sp>
        <p:nvSpPr>
          <p:cNvPr id="24" name="Rounded Rectangle 23"/>
          <p:cNvSpPr/>
          <p:nvPr/>
        </p:nvSpPr>
        <p:spPr>
          <a:xfrm>
            <a:off x="6223000" y="3644900"/>
            <a:ext cx="5359400" cy="18415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23000" y="3644900"/>
            <a:ext cx="50800" cy="18415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51600" y="3835400"/>
            <a:ext cx="4927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Code and execution evidence</a:t>
            </a:r>
          </a:p>
        </p:txBody>
      </p:sp>
      <p:sp>
        <p:nvSpPr>
          <p:cNvPr id="27" name="TextBox 26"/>
          <p:cNvSpPr txBox="1"/>
          <p:nvPr/>
        </p:nvSpPr>
        <p:spPr>
          <a:xfrm>
            <a:off x="6451600" y="4242308"/>
            <a:ext cx="49276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Docker setup, application and SQL</a:t>
            </a:r>
          </a:p>
        </p:txBody>
      </p:sp>
      <p:sp>
        <p:nvSpPr>
          <p:cNvPr id="28" name="TextBox 27"/>
          <p:cNvSpPr txBox="1"/>
          <p:nvPr/>
        </p:nvSpPr>
        <p:spPr>
          <a:xfrm>
            <a:off x="6451600" y="4502404"/>
            <a:ext cx="49276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Tests and source/Gold comparisons</a:t>
            </a:r>
          </a:p>
        </p:txBody>
      </p:sp>
      <p:sp>
        <p:nvSpPr>
          <p:cNvPr id="29" name="TextBox 28"/>
          <p:cNvSpPr txBox="1"/>
          <p:nvPr/>
        </p:nvSpPr>
        <p:spPr>
          <a:xfrm>
            <a:off x="6451600" y="4762500"/>
            <a:ext cx="49276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Performance results and experiment code</a:t>
            </a:r>
          </a:p>
        </p:txBody>
      </p:sp>
      <p:sp>
        <p:nvSpPr>
          <p:cNvPr id="30" name="TextBox 29"/>
          <p:cNvSpPr txBox="1"/>
          <p:nvPr/>
        </p:nvSpPr>
        <p:spPr>
          <a:xfrm>
            <a:off x="609600" y="5816600"/>
            <a:ext cx="10972800" cy="327152"/>
          </a:xfrm>
          <a:prstGeom prst="rect">
            <a:avLst/>
          </a:prstGeom>
          <a:noFill/>
        </p:spPr>
        <p:txBody>
          <a:bodyPr wrap="none" lIns="0" rIns="0" tIns="0" bIns="0" anchor="t">
            <a:spAutoFit/>
          </a:bodyPr>
          <a:lstStyle/>
          <a:p>
            <a:pPr>
              <a:spcBef>
                <a:spcPts val="0"/>
              </a:spcBef>
              <a:spcAft>
                <a:spcPts val="0"/>
              </a:spcAft>
            </a:pPr>
            <a:r>
              <a:rPr sz="1700" b="1">
                <a:solidFill>
                  <a:srgbClr val="007F78"/>
                </a:solidFill>
                <a:latin typeface="Arial"/>
              </a:rPr>
              <a:t>The README links each requirement to its implementation and evidence.</a:t>
            </a:r>
          </a:p>
        </p:txBody>
      </p:sp>
      <p:cxnSp>
        <p:nvCxnSpPr>
          <p:cNvPr id="31" name="Connector 30"/>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2"/>
              </a:rPr>
              <a:t>Sources: docs/assessment-deliverables.md | sql/pending-items.sql</a:t>
            </a:r>
          </a:p>
        </p:txBody>
      </p:sp>
      <p:sp>
        <p:nvSpPr>
          <p:cNvPr id="33" name="TextBox 32"/>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02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ARCHITECTURE</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How the components connect</a:t>
            </a:r>
          </a:p>
        </p:txBody>
      </p:sp>
      <p:sp>
        <p:nvSpPr>
          <p:cNvPr id="5" name="Rounded Rectangle 4"/>
          <p:cNvSpPr/>
          <p:nvPr/>
        </p:nvSpPr>
        <p:spPr>
          <a:xfrm>
            <a:off x="609600" y="1460500"/>
            <a:ext cx="2590800" cy="8255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09600" y="1460500"/>
            <a:ext cx="50800" cy="8255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200" y="1612900"/>
            <a:ext cx="21590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PostgreSQL</a:t>
            </a:r>
          </a:p>
        </p:txBody>
      </p:sp>
      <p:sp>
        <p:nvSpPr>
          <p:cNvPr id="8" name="TextBox 7"/>
          <p:cNvSpPr txBox="1"/>
          <p:nvPr/>
        </p:nvSpPr>
        <p:spPr>
          <a:xfrm>
            <a:off x="838200" y="1932939"/>
            <a:ext cx="2159000" cy="245872"/>
          </a:xfrm>
          <a:prstGeom prst="rect">
            <a:avLst/>
          </a:prstGeom>
          <a:noFill/>
        </p:spPr>
        <p:txBody>
          <a:bodyPr wrap="none" lIns="0" rIns="0" tIns="0" bIns="0" anchor="t">
            <a:spAutoFit/>
          </a:bodyPr>
          <a:lstStyle/>
          <a:p>
            <a:pPr>
              <a:spcBef>
                <a:spcPts val="0"/>
              </a:spcBef>
              <a:spcAft>
                <a:spcPts val="0"/>
              </a:spcAft>
            </a:pPr>
            <a:r>
              <a:rPr sz="1200" b="0">
                <a:solidFill>
                  <a:srgbClr val="516978"/>
                </a:solidFill>
                <a:latin typeface="Arial"/>
              </a:rPr>
              <a:t>Source + automatic updates</a:t>
            </a:r>
          </a:p>
        </p:txBody>
      </p:sp>
      <p:sp>
        <p:nvSpPr>
          <p:cNvPr id="9" name="Rounded Rectangle 8"/>
          <p:cNvSpPr/>
          <p:nvPr/>
        </p:nvSpPr>
        <p:spPr>
          <a:xfrm>
            <a:off x="3581400" y="1460500"/>
            <a:ext cx="2590800" cy="8255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81400" y="1460500"/>
            <a:ext cx="50800" cy="8255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10000" y="1612900"/>
            <a:ext cx="21590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Debezium / Connect</a:t>
            </a:r>
          </a:p>
        </p:txBody>
      </p:sp>
      <p:sp>
        <p:nvSpPr>
          <p:cNvPr id="12" name="TextBox 11"/>
          <p:cNvSpPr txBox="1"/>
          <p:nvPr/>
        </p:nvSpPr>
        <p:spPr>
          <a:xfrm>
            <a:off x="3810000" y="1932939"/>
            <a:ext cx="2159000" cy="245872"/>
          </a:xfrm>
          <a:prstGeom prst="rect">
            <a:avLst/>
          </a:prstGeom>
          <a:noFill/>
        </p:spPr>
        <p:txBody>
          <a:bodyPr wrap="none" lIns="0" rIns="0" tIns="0" bIns="0" anchor="t">
            <a:spAutoFit/>
          </a:bodyPr>
          <a:lstStyle/>
          <a:p>
            <a:pPr>
              <a:spcBef>
                <a:spcPts val="0"/>
              </a:spcBef>
              <a:spcAft>
                <a:spcPts val="0"/>
              </a:spcAft>
            </a:pPr>
            <a:r>
              <a:rPr sz="1200" b="0">
                <a:solidFill>
                  <a:srgbClr val="516978"/>
                </a:solidFill>
                <a:latin typeface="Arial"/>
              </a:rPr>
              <a:t>Initial snapshot + changes</a:t>
            </a:r>
          </a:p>
        </p:txBody>
      </p:sp>
      <p:sp>
        <p:nvSpPr>
          <p:cNvPr id="13" name="Rounded Rectangle 12"/>
          <p:cNvSpPr/>
          <p:nvPr/>
        </p:nvSpPr>
        <p:spPr>
          <a:xfrm>
            <a:off x="6553200" y="1460500"/>
            <a:ext cx="2590800" cy="8255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53200" y="1460500"/>
            <a:ext cx="50800" cy="8255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81800" y="1612900"/>
            <a:ext cx="21590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Kafka</a:t>
            </a:r>
          </a:p>
        </p:txBody>
      </p:sp>
      <p:sp>
        <p:nvSpPr>
          <p:cNvPr id="16" name="TextBox 15"/>
          <p:cNvSpPr txBox="1"/>
          <p:nvPr/>
        </p:nvSpPr>
        <p:spPr>
          <a:xfrm>
            <a:off x="6781800" y="1932939"/>
            <a:ext cx="2159000" cy="245872"/>
          </a:xfrm>
          <a:prstGeom prst="rect">
            <a:avLst/>
          </a:prstGeom>
          <a:noFill/>
        </p:spPr>
        <p:txBody>
          <a:bodyPr wrap="none" lIns="0" rIns="0" tIns="0" bIns="0" anchor="t">
            <a:spAutoFit/>
          </a:bodyPr>
          <a:lstStyle/>
          <a:p>
            <a:pPr>
              <a:spcBef>
                <a:spcPts val="0"/>
              </a:spcBef>
              <a:spcAft>
                <a:spcPts val="0"/>
              </a:spcAft>
            </a:pPr>
            <a:r>
              <a:rPr sz="1200" b="0">
                <a:solidFill>
                  <a:srgbClr val="516978"/>
                </a:solidFill>
                <a:latin typeface="Arial"/>
              </a:rPr>
              <a:t>Four entity topics</a:t>
            </a:r>
          </a:p>
        </p:txBody>
      </p:sp>
      <p:cxnSp>
        <p:nvCxnSpPr>
          <p:cNvPr id="17" name="Connector 16"/>
          <p:cNvCxnSpPr/>
          <p:nvPr/>
        </p:nvCxnSpPr>
        <p:spPr>
          <a:xfrm>
            <a:off x="3200400" y="1854200"/>
            <a:ext cx="381000" cy="0"/>
          </a:xfrm>
          <a:prstGeom prst="line">
            <a:avLst/>
          </a:prstGeom>
          <a:ln w="22860">
            <a:solidFill>
              <a:srgbClr val="007F78"/>
            </a:solidFill>
          </a:ln>
        </p:spPr>
        <p:style>
          <a:lnRef idx="2">
            <a:schemeClr val="accent1"/>
          </a:lnRef>
          <a:fillRef idx="0">
            <a:schemeClr val="accent1"/>
          </a:fillRef>
          <a:effectRef idx="1">
            <a:schemeClr val="accent1"/>
          </a:effectRef>
          <a:fontRef idx="minor">
            <a:schemeClr val="tx1"/>
          </a:fontRef>
        </p:style>
      </p:cxnSp>
      <p:sp>
        <p:nvSpPr>
          <p:cNvPr id="18" name="Isosceles Triangle 17"/>
          <p:cNvSpPr/>
          <p:nvPr/>
        </p:nvSpPr>
        <p:spPr>
          <a:xfrm rot="5400000">
            <a:off x="3530600" y="1803400"/>
            <a:ext cx="101600" cy="101600"/>
          </a:xfrm>
          <a:prstGeom prst="triangle">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6172200" y="1854200"/>
            <a:ext cx="381000" cy="0"/>
          </a:xfrm>
          <a:prstGeom prst="line">
            <a:avLst/>
          </a:prstGeom>
          <a:ln w="22860">
            <a:solidFill>
              <a:srgbClr val="007F78"/>
            </a:solidFill>
          </a:ln>
        </p:spPr>
        <p:style>
          <a:lnRef idx="2">
            <a:schemeClr val="accent1"/>
          </a:lnRef>
          <a:fillRef idx="0">
            <a:schemeClr val="accent1"/>
          </a:fillRef>
          <a:effectRef idx="1">
            <a:schemeClr val="accent1"/>
          </a:effectRef>
          <a:fontRef idx="minor">
            <a:schemeClr val="tx1"/>
          </a:fontRef>
        </p:style>
      </p:cxnSp>
      <p:sp>
        <p:nvSpPr>
          <p:cNvPr id="20" name="Isosceles Triangle 19"/>
          <p:cNvSpPr/>
          <p:nvPr/>
        </p:nvSpPr>
        <p:spPr>
          <a:xfrm rot="5400000">
            <a:off x="6502400" y="1803400"/>
            <a:ext cx="101600" cy="101600"/>
          </a:xfrm>
          <a:prstGeom prst="triangle">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25000" y="1511300"/>
            <a:ext cx="2032000" cy="262128"/>
          </a:xfrm>
          <a:prstGeom prst="rect">
            <a:avLst/>
          </a:prstGeom>
          <a:noFill/>
        </p:spPr>
        <p:txBody>
          <a:bodyPr wrap="none" lIns="0" rIns="0" tIns="0" bIns="0" anchor="t">
            <a:spAutoFit/>
          </a:bodyPr>
          <a:lstStyle/>
          <a:p>
            <a:pPr>
              <a:spcBef>
                <a:spcPts val="0"/>
              </a:spcBef>
              <a:spcAft>
                <a:spcPts val="0"/>
              </a:spcAft>
            </a:pPr>
            <a:r>
              <a:rPr sz="1300" b="0">
                <a:solidFill>
                  <a:srgbClr val="516978"/>
                </a:solidFill>
                <a:latin typeface="Arial"/>
              </a:rPr>
              <a:t>Secrets from environment</a:t>
            </a:r>
          </a:p>
        </p:txBody>
      </p:sp>
      <p:sp>
        <p:nvSpPr>
          <p:cNvPr id="22" name="TextBox 21"/>
          <p:cNvSpPr txBox="1"/>
          <p:nvPr/>
        </p:nvSpPr>
        <p:spPr>
          <a:xfrm>
            <a:off x="9525000" y="1722627"/>
            <a:ext cx="2032000" cy="262128"/>
          </a:xfrm>
          <a:prstGeom prst="rect">
            <a:avLst/>
          </a:prstGeom>
          <a:noFill/>
        </p:spPr>
        <p:txBody>
          <a:bodyPr wrap="none" lIns="0" rIns="0" tIns="0" bIns="0" anchor="t">
            <a:spAutoFit/>
          </a:bodyPr>
          <a:lstStyle/>
          <a:p>
            <a:pPr>
              <a:spcBef>
                <a:spcPts val="0"/>
              </a:spcBef>
              <a:spcAft>
                <a:spcPts val="0"/>
              </a:spcAft>
            </a:pPr>
            <a:r>
              <a:rPr sz="1300" b="0">
                <a:solidFill>
                  <a:srgbClr val="516978"/>
                </a:solidFill>
                <a:latin typeface="Arial"/>
              </a:rPr>
              <a:t>One-off connector setup</a:t>
            </a:r>
          </a:p>
        </p:txBody>
      </p:sp>
      <p:sp>
        <p:nvSpPr>
          <p:cNvPr id="23" name="Rounded Rectangle 22"/>
          <p:cNvSpPr/>
          <p:nvPr/>
        </p:nvSpPr>
        <p:spPr>
          <a:xfrm>
            <a:off x="609600" y="2654300"/>
            <a:ext cx="10972800" cy="2184400"/>
          </a:xfrm>
          <a:prstGeom prst="roundRect">
            <a:avLst>
              <a:gd name="adj" fmla="val 12000"/>
            </a:avLst>
          </a:prstGeom>
          <a:solidFill>
            <a:srgbClr val="E6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2800" y="2781300"/>
            <a:ext cx="10414000" cy="245872"/>
          </a:xfrm>
          <a:prstGeom prst="rect">
            <a:avLst/>
          </a:prstGeom>
          <a:noFill/>
        </p:spPr>
        <p:txBody>
          <a:bodyPr wrap="none" lIns="0" rIns="0" tIns="0" bIns="0" anchor="t">
            <a:spAutoFit/>
          </a:bodyPr>
          <a:lstStyle/>
          <a:p>
            <a:pPr>
              <a:spcBef>
                <a:spcPts val="0"/>
              </a:spcBef>
              <a:spcAft>
                <a:spcPts val="0"/>
              </a:spcAft>
            </a:pPr>
            <a:r>
              <a:rPr sz="1200" b="1">
                <a:solidFill>
                  <a:srgbClr val="007F78"/>
                </a:solidFill>
                <a:latin typeface="Arial"/>
              </a:rPr>
              <a:t>ONE SPARK APPLICATION / TWO STREAMS</a:t>
            </a:r>
          </a:p>
        </p:txBody>
      </p:sp>
      <p:sp>
        <p:nvSpPr>
          <p:cNvPr id="25" name="Rounded Rectangle 24"/>
          <p:cNvSpPr/>
          <p:nvPr/>
        </p:nvSpPr>
        <p:spPr>
          <a:xfrm>
            <a:off x="812800" y="3175000"/>
            <a:ext cx="2260600" cy="12573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2800" y="3175000"/>
            <a:ext cx="50800" cy="12573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41400" y="3365500"/>
            <a:ext cx="18288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Bronze</a:t>
            </a:r>
          </a:p>
        </p:txBody>
      </p:sp>
      <p:sp>
        <p:nvSpPr>
          <p:cNvPr id="28" name="TextBox 27"/>
          <p:cNvSpPr txBox="1"/>
          <p:nvPr/>
        </p:nvSpPr>
        <p:spPr>
          <a:xfrm>
            <a:off x="1041400" y="3772408"/>
            <a:ext cx="1828800" cy="262128"/>
          </a:xfrm>
          <a:prstGeom prst="rect">
            <a:avLst/>
          </a:prstGeom>
          <a:noFill/>
        </p:spPr>
        <p:txBody>
          <a:bodyPr wrap="none" lIns="0" rIns="0" tIns="0" bIns="0" anchor="t">
            <a:spAutoFit/>
          </a:bodyPr>
          <a:lstStyle/>
          <a:p>
            <a:pPr>
              <a:spcBef>
                <a:spcPts val="0"/>
              </a:spcBef>
              <a:spcAft>
                <a:spcPts val="0"/>
              </a:spcAft>
            </a:pPr>
            <a:r>
              <a:rPr sz="1300" b="0">
                <a:solidFill>
                  <a:srgbClr val="516978"/>
                </a:solidFill>
                <a:latin typeface="Arial"/>
              </a:rPr>
              <a:t>Raw events</a:t>
            </a:r>
          </a:p>
        </p:txBody>
      </p:sp>
      <p:sp>
        <p:nvSpPr>
          <p:cNvPr id="29" name="TextBox 28"/>
          <p:cNvSpPr txBox="1"/>
          <p:nvPr/>
        </p:nvSpPr>
        <p:spPr>
          <a:xfrm>
            <a:off x="1041400" y="3983736"/>
            <a:ext cx="1828800" cy="262128"/>
          </a:xfrm>
          <a:prstGeom prst="rect">
            <a:avLst/>
          </a:prstGeom>
          <a:noFill/>
        </p:spPr>
        <p:txBody>
          <a:bodyPr wrap="none" lIns="0" rIns="0" tIns="0" bIns="0" anchor="t">
            <a:spAutoFit/>
          </a:bodyPr>
          <a:lstStyle/>
          <a:p>
            <a:pPr>
              <a:spcBef>
                <a:spcPts val="0"/>
              </a:spcBef>
              <a:spcAft>
                <a:spcPts val="0"/>
              </a:spcAft>
            </a:pPr>
            <a:r>
              <a:rPr sz="1300" b="0">
                <a:solidFill>
                  <a:srgbClr val="516978"/>
                </a:solidFill>
                <a:latin typeface="Arial"/>
              </a:rPr>
              <a:t>Append-only Parquet</a:t>
            </a:r>
          </a:p>
        </p:txBody>
      </p:sp>
      <p:sp>
        <p:nvSpPr>
          <p:cNvPr id="30" name="Rounded Rectangle 29"/>
          <p:cNvSpPr/>
          <p:nvPr/>
        </p:nvSpPr>
        <p:spPr>
          <a:xfrm>
            <a:off x="3581400" y="3175000"/>
            <a:ext cx="2260600" cy="12573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581400" y="3175000"/>
            <a:ext cx="50800" cy="12573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10000" y="3365500"/>
            <a:ext cx="18288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Silver</a:t>
            </a:r>
          </a:p>
        </p:txBody>
      </p:sp>
      <p:sp>
        <p:nvSpPr>
          <p:cNvPr id="33" name="TextBox 32"/>
          <p:cNvSpPr txBox="1"/>
          <p:nvPr/>
        </p:nvSpPr>
        <p:spPr>
          <a:xfrm>
            <a:off x="3810000" y="3772408"/>
            <a:ext cx="1828800" cy="262128"/>
          </a:xfrm>
          <a:prstGeom prst="rect">
            <a:avLst/>
          </a:prstGeom>
          <a:noFill/>
        </p:spPr>
        <p:txBody>
          <a:bodyPr wrap="none" lIns="0" rIns="0" tIns="0" bIns="0" anchor="t">
            <a:spAutoFit/>
          </a:bodyPr>
          <a:lstStyle/>
          <a:p>
            <a:pPr>
              <a:spcBef>
                <a:spcPts val="0"/>
              </a:spcBef>
              <a:spcAft>
                <a:spcPts val="0"/>
              </a:spcAft>
            </a:pPr>
            <a:r>
              <a:rPr sz="1300" b="0">
                <a:solidFill>
                  <a:srgbClr val="516978"/>
                </a:solidFill>
                <a:latin typeface="Arial"/>
              </a:rPr>
              <a:t>Current state</a:t>
            </a:r>
          </a:p>
        </p:txBody>
      </p:sp>
      <p:sp>
        <p:nvSpPr>
          <p:cNvPr id="34" name="TextBox 33"/>
          <p:cNvSpPr txBox="1"/>
          <p:nvPr/>
        </p:nvSpPr>
        <p:spPr>
          <a:xfrm>
            <a:off x="3810000" y="3983736"/>
            <a:ext cx="1828800" cy="262128"/>
          </a:xfrm>
          <a:prstGeom prst="rect">
            <a:avLst/>
          </a:prstGeom>
          <a:noFill/>
        </p:spPr>
        <p:txBody>
          <a:bodyPr wrap="none" lIns="0" rIns="0" tIns="0" bIns="0" anchor="t">
            <a:spAutoFit/>
          </a:bodyPr>
          <a:lstStyle/>
          <a:p>
            <a:pPr>
              <a:spcBef>
                <a:spcPts val="0"/>
              </a:spcBef>
              <a:spcAft>
                <a:spcPts val="0"/>
              </a:spcAft>
            </a:pPr>
            <a:r>
              <a:rPr sz="1300" b="0">
                <a:solidFill>
                  <a:srgbClr val="516978"/>
                </a:solidFill>
                <a:latin typeface="Arial"/>
              </a:rPr>
              <a:t>Delta upserts / deletes</a:t>
            </a:r>
          </a:p>
        </p:txBody>
      </p:sp>
      <p:sp>
        <p:nvSpPr>
          <p:cNvPr id="35" name="Rounded Rectangle 34"/>
          <p:cNvSpPr/>
          <p:nvPr/>
        </p:nvSpPr>
        <p:spPr>
          <a:xfrm>
            <a:off x="6350000" y="3175000"/>
            <a:ext cx="2260600" cy="12573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50000" y="3175000"/>
            <a:ext cx="50800" cy="12573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78600" y="3365500"/>
            <a:ext cx="18288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Gold</a:t>
            </a:r>
          </a:p>
        </p:txBody>
      </p:sp>
      <p:sp>
        <p:nvSpPr>
          <p:cNvPr id="38" name="TextBox 37"/>
          <p:cNvSpPr txBox="1"/>
          <p:nvPr/>
        </p:nvSpPr>
        <p:spPr>
          <a:xfrm>
            <a:off x="6578600" y="3772408"/>
            <a:ext cx="1828800" cy="262128"/>
          </a:xfrm>
          <a:prstGeom prst="rect">
            <a:avLst/>
          </a:prstGeom>
          <a:noFill/>
        </p:spPr>
        <p:txBody>
          <a:bodyPr wrap="none" lIns="0" rIns="0" tIns="0" bIns="0" anchor="t">
            <a:spAutoFit/>
          </a:bodyPr>
          <a:lstStyle/>
          <a:p>
            <a:pPr>
              <a:spcBef>
                <a:spcPts val="0"/>
              </a:spcBef>
              <a:spcAft>
                <a:spcPts val="0"/>
              </a:spcAft>
            </a:pPr>
            <a:r>
              <a:rPr sz="1300" b="0">
                <a:solidFill>
                  <a:srgbClr val="516978"/>
                </a:solidFill>
                <a:latin typeface="Arial"/>
              </a:rPr>
              <a:t>Facts + dimensions</a:t>
            </a:r>
          </a:p>
        </p:txBody>
      </p:sp>
      <p:sp>
        <p:nvSpPr>
          <p:cNvPr id="39" name="TextBox 38"/>
          <p:cNvSpPr txBox="1"/>
          <p:nvPr/>
        </p:nvSpPr>
        <p:spPr>
          <a:xfrm>
            <a:off x="6578600" y="3983736"/>
            <a:ext cx="1828800" cy="262128"/>
          </a:xfrm>
          <a:prstGeom prst="rect">
            <a:avLst/>
          </a:prstGeom>
          <a:noFill/>
        </p:spPr>
        <p:txBody>
          <a:bodyPr wrap="none" lIns="0" rIns="0" tIns="0" bIns="0" anchor="t">
            <a:spAutoFit/>
          </a:bodyPr>
          <a:lstStyle/>
          <a:p>
            <a:pPr>
              <a:spcBef>
                <a:spcPts val="0"/>
              </a:spcBef>
              <a:spcAft>
                <a:spcPts val="0"/>
              </a:spcAft>
            </a:pPr>
            <a:r>
              <a:rPr sz="1300" b="0">
                <a:solidFill>
                  <a:srgbClr val="516978"/>
                </a:solidFill>
                <a:latin typeface="Arial"/>
              </a:rPr>
              <a:t>Historical-state joins</a:t>
            </a:r>
          </a:p>
        </p:txBody>
      </p:sp>
      <p:sp>
        <p:nvSpPr>
          <p:cNvPr id="40" name="Rounded Rectangle 39"/>
          <p:cNvSpPr/>
          <p:nvPr/>
        </p:nvSpPr>
        <p:spPr>
          <a:xfrm>
            <a:off x="9118600" y="3175000"/>
            <a:ext cx="2260600" cy="12573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118600" y="3175000"/>
            <a:ext cx="50800" cy="12573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347200" y="3365500"/>
            <a:ext cx="18288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Publication</a:t>
            </a:r>
          </a:p>
        </p:txBody>
      </p:sp>
      <p:sp>
        <p:nvSpPr>
          <p:cNvPr id="43" name="TextBox 42"/>
          <p:cNvSpPr txBox="1"/>
          <p:nvPr/>
        </p:nvSpPr>
        <p:spPr>
          <a:xfrm>
            <a:off x="9347200" y="3772408"/>
            <a:ext cx="1828800" cy="262128"/>
          </a:xfrm>
          <a:prstGeom prst="rect">
            <a:avLst/>
          </a:prstGeom>
          <a:noFill/>
        </p:spPr>
        <p:txBody>
          <a:bodyPr wrap="none" lIns="0" rIns="0" tIns="0" bIns="0" anchor="t">
            <a:spAutoFit/>
          </a:bodyPr>
          <a:lstStyle/>
          <a:p>
            <a:pPr>
              <a:spcBef>
                <a:spcPts val="0"/>
              </a:spcBef>
              <a:spcAft>
                <a:spcPts val="0"/>
              </a:spcAft>
            </a:pPr>
            <a:r>
              <a:rPr sz="1300" b="0">
                <a:solidFill>
                  <a:srgbClr val="516978"/>
                </a:solidFill>
                <a:latin typeface="Arial"/>
              </a:rPr>
              <a:t>Completed Delta</a:t>
            </a:r>
          </a:p>
        </p:txBody>
      </p:sp>
      <p:sp>
        <p:nvSpPr>
          <p:cNvPr id="44" name="TextBox 43"/>
          <p:cNvSpPr txBox="1"/>
          <p:nvPr/>
        </p:nvSpPr>
        <p:spPr>
          <a:xfrm>
            <a:off x="9347200" y="3983736"/>
            <a:ext cx="1828800" cy="262128"/>
          </a:xfrm>
          <a:prstGeom prst="rect">
            <a:avLst/>
          </a:prstGeom>
          <a:noFill/>
        </p:spPr>
        <p:txBody>
          <a:bodyPr wrap="none" lIns="0" rIns="0" tIns="0" bIns="0" anchor="t">
            <a:spAutoFit/>
          </a:bodyPr>
          <a:lstStyle/>
          <a:p>
            <a:pPr>
              <a:spcBef>
                <a:spcPts val="0"/>
              </a:spcBef>
              <a:spcAft>
                <a:spcPts val="0"/>
              </a:spcAft>
            </a:pPr>
            <a:r>
              <a:rPr sz="1300" b="0">
                <a:solidFill>
                  <a:srgbClr val="516978"/>
                </a:solidFill>
                <a:latin typeface="Arial"/>
              </a:rPr>
              <a:t>versions</a:t>
            </a:r>
          </a:p>
        </p:txBody>
      </p:sp>
      <p:sp>
        <p:nvSpPr>
          <p:cNvPr id="45" name="TextBox 44"/>
          <p:cNvSpPr txBox="1"/>
          <p:nvPr/>
        </p:nvSpPr>
        <p:spPr>
          <a:xfrm>
            <a:off x="9347200" y="4195064"/>
            <a:ext cx="1828800" cy="262128"/>
          </a:xfrm>
          <a:prstGeom prst="rect">
            <a:avLst/>
          </a:prstGeom>
          <a:noFill/>
        </p:spPr>
        <p:txBody>
          <a:bodyPr wrap="none" lIns="0" rIns="0" tIns="0" bIns="0" anchor="t">
            <a:spAutoFit/>
          </a:bodyPr>
          <a:lstStyle/>
          <a:p>
            <a:pPr>
              <a:spcBef>
                <a:spcPts val="0"/>
              </a:spcBef>
              <a:spcAft>
                <a:spcPts val="0"/>
              </a:spcAft>
            </a:pPr>
            <a:r>
              <a:rPr sz="1300" b="0">
                <a:solidFill>
                  <a:srgbClr val="516978"/>
                </a:solidFill>
                <a:latin typeface="Arial"/>
              </a:rPr>
              <a:t>Consistent query view</a:t>
            </a:r>
          </a:p>
        </p:txBody>
      </p:sp>
      <p:cxnSp>
        <p:nvCxnSpPr>
          <p:cNvPr id="46" name="Connector 45"/>
          <p:cNvCxnSpPr/>
          <p:nvPr/>
        </p:nvCxnSpPr>
        <p:spPr>
          <a:xfrm>
            <a:off x="3073400" y="3759200"/>
            <a:ext cx="508000" cy="0"/>
          </a:xfrm>
          <a:prstGeom prst="line">
            <a:avLst/>
          </a:prstGeom>
          <a:ln w="22860">
            <a:solidFill>
              <a:srgbClr val="007F78"/>
            </a:solidFill>
          </a:ln>
        </p:spPr>
        <p:style>
          <a:lnRef idx="2">
            <a:schemeClr val="accent1"/>
          </a:lnRef>
          <a:fillRef idx="0">
            <a:schemeClr val="accent1"/>
          </a:fillRef>
          <a:effectRef idx="1">
            <a:schemeClr val="accent1"/>
          </a:effectRef>
          <a:fontRef idx="minor">
            <a:schemeClr val="tx1"/>
          </a:fontRef>
        </p:style>
      </p:cxnSp>
      <p:sp>
        <p:nvSpPr>
          <p:cNvPr id="47" name="Isosceles Triangle 46"/>
          <p:cNvSpPr/>
          <p:nvPr/>
        </p:nvSpPr>
        <p:spPr>
          <a:xfrm rot="5400000">
            <a:off x="3530600" y="3708400"/>
            <a:ext cx="101600" cy="101600"/>
          </a:xfrm>
          <a:prstGeom prst="triangle">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a:off x="5842000" y="3759200"/>
            <a:ext cx="508000" cy="0"/>
          </a:xfrm>
          <a:prstGeom prst="line">
            <a:avLst/>
          </a:prstGeom>
          <a:ln w="22860">
            <a:solidFill>
              <a:srgbClr val="007F78"/>
            </a:solidFill>
          </a:ln>
        </p:spPr>
        <p:style>
          <a:lnRef idx="2">
            <a:schemeClr val="accent1"/>
          </a:lnRef>
          <a:fillRef idx="0">
            <a:schemeClr val="accent1"/>
          </a:fillRef>
          <a:effectRef idx="1">
            <a:schemeClr val="accent1"/>
          </a:effectRef>
          <a:fontRef idx="minor">
            <a:schemeClr val="tx1"/>
          </a:fontRef>
        </p:style>
      </p:cxnSp>
      <p:sp>
        <p:nvSpPr>
          <p:cNvPr id="49" name="Isosceles Triangle 48"/>
          <p:cNvSpPr/>
          <p:nvPr/>
        </p:nvSpPr>
        <p:spPr>
          <a:xfrm rot="5400000">
            <a:off x="6299200" y="3708400"/>
            <a:ext cx="101600" cy="101600"/>
          </a:xfrm>
          <a:prstGeom prst="triangle">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8610600" y="3759200"/>
            <a:ext cx="508000" cy="0"/>
          </a:xfrm>
          <a:prstGeom prst="line">
            <a:avLst/>
          </a:prstGeom>
          <a:ln w="22860">
            <a:solidFill>
              <a:srgbClr val="007F78"/>
            </a:solidFill>
          </a:ln>
        </p:spPr>
        <p:style>
          <a:lnRef idx="2">
            <a:schemeClr val="accent1"/>
          </a:lnRef>
          <a:fillRef idx="0">
            <a:schemeClr val="accent1"/>
          </a:fillRef>
          <a:effectRef idx="1">
            <a:schemeClr val="accent1"/>
          </a:effectRef>
          <a:fontRef idx="minor">
            <a:schemeClr val="tx1"/>
          </a:fontRef>
        </p:style>
      </p:cxnSp>
      <p:sp>
        <p:nvSpPr>
          <p:cNvPr id="51" name="Isosceles Triangle 50"/>
          <p:cNvSpPr/>
          <p:nvPr/>
        </p:nvSpPr>
        <p:spPr>
          <a:xfrm rot="5400000">
            <a:off x="9067800" y="3708400"/>
            <a:ext cx="101600" cy="101600"/>
          </a:xfrm>
          <a:prstGeom prst="triangle">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a:off x="7848600" y="2286000"/>
            <a:ext cx="0" cy="177800"/>
          </a:xfrm>
          <a:prstGeom prst="line">
            <a:avLst/>
          </a:prstGeom>
          <a:ln w="22860">
            <a:solidFill>
              <a:srgbClr val="007F7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1943100" y="2463800"/>
            <a:ext cx="5905500" cy="0"/>
          </a:xfrm>
          <a:prstGeom prst="line">
            <a:avLst/>
          </a:prstGeom>
          <a:ln w="22860">
            <a:solidFill>
              <a:srgbClr val="007F7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943100" y="2463800"/>
            <a:ext cx="0" cy="711200"/>
          </a:xfrm>
          <a:prstGeom prst="line">
            <a:avLst/>
          </a:prstGeom>
          <a:ln w="22860">
            <a:solidFill>
              <a:srgbClr val="007F78"/>
            </a:solidFill>
          </a:ln>
        </p:spPr>
        <p:style>
          <a:lnRef idx="2">
            <a:schemeClr val="accent1"/>
          </a:lnRef>
          <a:fillRef idx="0">
            <a:schemeClr val="accent1"/>
          </a:fillRef>
          <a:effectRef idx="1">
            <a:schemeClr val="accent1"/>
          </a:effectRef>
          <a:fontRef idx="minor">
            <a:schemeClr val="tx1"/>
          </a:fontRef>
        </p:style>
      </p:cxnSp>
      <p:sp>
        <p:nvSpPr>
          <p:cNvPr id="55" name="Isosceles Triangle 54"/>
          <p:cNvSpPr/>
          <p:nvPr/>
        </p:nvSpPr>
        <p:spPr>
          <a:xfrm rot="10800000">
            <a:off x="1892300" y="3124200"/>
            <a:ext cx="101600" cy="101600"/>
          </a:xfrm>
          <a:prstGeom prst="triangle">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09600" y="5156200"/>
            <a:ext cx="3454400" cy="8128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09600" y="5156200"/>
            <a:ext cx="50800" cy="8128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38200" y="5308600"/>
            <a:ext cx="30226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Recovery and metrics</a:t>
            </a:r>
          </a:p>
        </p:txBody>
      </p:sp>
      <p:sp>
        <p:nvSpPr>
          <p:cNvPr id="59" name="TextBox 58"/>
          <p:cNvSpPr txBox="1"/>
          <p:nvPr/>
        </p:nvSpPr>
        <p:spPr>
          <a:xfrm>
            <a:off x="838200" y="5628640"/>
            <a:ext cx="3022600" cy="245872"/>
          </a:xfrm>
          <a:prstGeom prst="rect">
            <a:avLst/>
          </a:prstGeom>
          <a:noFill/>
        </p:spPr>
        <p:txBody>
          <a:bodyPr wrap="none" lIns="0" rIns="0" tIns="0" bIns="0" anchor="t">
            <a:spAutoFit/>
          </a:bodyPr>
          <a:lstStyle/>
          <a:p>
            <a:pPr>
              <a:spcBef>
                <a:spcPts val="0"/>
              </a:spcBef>
              <a:spcAft>
                <a:spcPts val="0"/>
              </a:spcAft>
            </a:pPr>
            <a:r>
              <a:rPr sz="1200" b="0">
                <a:solidFill>
                  <a:srgbClr val="516978"/>
                </a:solidFill>
                <a:latin typeface="Arial"/>
              </a:rPr>
              <a:t>Checkpoints • progress • event logs</a:t>
            </a:r>
          </a:p>
        </p:txBody>
      </p:sp>
      <p:sp>
        <p:nvSpPr>
          <p:cNvPr id="60" name="Rounded Rectangle 59"/>
          <p:cNvSpPr/>
          <p:nvPr/>
        </p:nvSpPr>
        <p:spPr>
          <a:xfrm>
            <a:off x="4368800" y="5156200"/>
            <a:ext cx="3454400" cy="8128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368800" y="5156200"/>
            <a:ext cx="50800" cy="8128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597400" y="5308600"/>
            <a:ext cx="30226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Invalid events</a:t>
            </a:r>
          </a:p>
        </p:txBody>
      </p:sp>
      <p:sp>
        <p:nvSpPr>
          <p:cNvPr id="63" name="TextBox 62"/>
          <p:cNvSpPr txBox="1"/>
          <p:nvPr/>
        </p:nvSpPr>
        <p:spPr>
          <a:xfrm>
            <a:off x="4597400" y="5628640"/>
            <a:ext cx="3022600" cy="245872"/>
          </a:xfrm>
          <a:prstGeom prst="rect">
            <a:avLst/>
          </a:prstGeom>
          <a:noFill/>
        </p:spPr>
        <p:txBody>
          <a:bodyPr wrap="none" lIns="0" rIns="0" tIns="0" bIns="0" anchor="t">
            <a:spAutoFit/>
          </a:bodyPr>
          <a:lstStyle/>
          <a:p>
            <a:pPr>
              <a:spcBef>
                <a:spcPts val="0"/>
              </a:spcBef>
              <a:spcAft>
                <a:spcPts val="0"/>
              </a:spcAft>
            </a:pPr>
            <a:r>
              <a:rPr sz="1200" b="0">
                <a:solidFill>
                  <a:srgbClr val="516978"/>
                </a:solidFill>
                <a:latin typeface="Arial"/>
              </a:rPr>
              <a:t>Quarantine • publication withheld</a:t>
            </a:r>
          </a:p>
        </p:txBody>
      </p:sp>
      <p:sp>
        <p:nvSpPr>
          <p:cNvPr id="64" name="Rounded Rectangle 63"/>
          <p:cNvSpPr/>
          <p:nvPr/>
        </p:nvSpPr>
        <p:spPr>
          <a:xfrm>
            <a:off x="8128000" y="5156200"/>
            <a:ext cx="3454400" cy="8128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8128000" y="5156200"/>
            <a:ext cx="50800" cy="8128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356600" y="5308600"/>
            <a:ext cx="30226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Spark SQL CLI</a:t>
            </a:r>
          </a:p>
        </p:txBody>
      </p:sp>
      <p:sp>
        <p:nvSpPr>
          <p:cNvPr id="67" name="TextBox 66"/>
          <p:cNvSpPr txBox="1"/>
          <p:nvPr/>
        </p:nvSpPr>
        <p:spPr>
          <a:xfrm>
            <a:off x="8356600" y="5628640"/>
            <a:ext cx="3022600" cy="245872"/>
          </a:xfrm>
          <a:prstGeom prst="rect">
            <a:avLst/>
          </a:prstGeom>
          <a:noFill/>
        </p:spPr>
        <p:txBody>
          <a:bodyPr wrap="none" lIns="0" rIns="0" tIns="0" bIns="0" anchor="t">
            <a:spAutoFit/>
          </a:bodyPr>
          <a:lstStyle/>
          <a:p>
            <a:pPr>
              <a:spcBef>
                <a:spcPts val="0"/>
              </a:spcBef>
              <a:spcAft>
                <a:spcPts val="0"/>
              </a:spcAft>
            </a:pPr>
            <a:r>
              <a:rPr sz="1200" b="0">
                <a:solidFill>
                  <a:srgbClr val="516978"/>
                </a:solidFill>
                <a:latin typeface="Arial"/>
              </a:rPr>
              <a:t>Read tables at published versions</a:t>
            </a:r>
          </a:p>
        </p:txBody>
      </p:sp>
      <p:cxnSp>
        <p:nvCxnSpPr>
          <p:cNvPr id="68" name="Connector 67"/>
          <p:cNvCxnSpPr/>
          <p:nvPr/>
        </p:nvCxnSpPr>
        <p:spPr>
          <a:xfrm>
            <a:off x="10248900" y="4432300"/>
            <a:ext cx="0" cy="723900"/>
          </a:xfrm>
          <a:prstGeom prst="line">
            <a:avLst/>
          </a:prstGeom>
          <a:ln w="22860">
            <a:solidFill>
              <a:srgbClr val="007F78"/>
            </a:solidFill>
          </a:ln>
        </p:spPr>
        <p:style>
          <a:lnRef idx="2">
            <a:schemeClr val="accent1"/>
          </a:lnRef>
          <a:fillRef idx="0">
            <a:schemeClr val="accent1"/>
          </a:fillRef>
          <a:effectRef idx="1">
            <a:schemeClr val="accent1"/>
          </a:effectRef>
          <a:fontRef idx="minor">
            <a:schemeClr val="tx1"/>
          </a:fontRef>
        </p:style>
      </p:cxnSp>
      <p:sp>
        <p:nvSpPr>
          <p:cNvPr id="69" name="Isosceles Triangle 68"/>
          <p:cNvSpPr/>
          <p:nvPr/>
        </p:nvSpPr>
        <p:spPr>
          <a:xfrm rot="10800000">
            <a:off x="10198100" y="5105400"/>
            <a:ext cx="101600" cy="101600"/>
          </a:xfrm>
          <a:prstGeom prst="triangle">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0" name="Connector 69"/>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2"/>
              </a:rPr>
              <a:t>Sources: docs/architecture.md | docker-compose.yaml</a:t>
            </a:r>
          </a:p>
        </p:txBody>
      </p:sp>
      <p:sp>
        <p:nvSpPr>
          <p:cNvPr id="72" name="TextBox 71"/>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03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DATA PROCESSING</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How data becomes useful</a:t>
            </a:r>
          </a:p>
        </p:txBody>
      </p:sp>
      <p:sp>
        <p:nvSpPr>
          <p:cNvPr id="5" name="Rounded Rectangle 4"/>
          <p:cNvSpPr/>
          <p:nvPr/>
        </p:nvSpPr>
        <p:spPr>
          <a:xfrm>
            <a:off x="609600" y="1524000"/>
            <a:ext cx="3454400" cy="26416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09600" y="1524000"/>
            <a:ext cx="50800" cy="26416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200" y="1714500"/>
            <a:ext cx="3022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1 · Keep the event</a:t>
            </a:r>
          </a:p>
        </p:txBody>
      </p:sp>
      <p:sp>
        <p:nvSpPr>
          <p:cNvPr id="8" name="TextBox 7"/>
          <p:cNvSpPr txBox="1"/>
          <p:nvPr/>
        </p:nvSpPr>
        <p:spPr>
          <a:xfrm>
            <a:off x="838200" y="2121408"/>
            <a:ext cx="3022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Bronze: original Kafka bytes</a:t>
            </a:r>
          </a:p>
        </p:txBody>
      </p:sp>
      <p:sp>
        <p:nvSpPr>
          <p:cNvPr id="9" name="TextBox 8"/>
          <p:cNvSpPr txBox="1"/>
          <p:nvPr/>
        </p:nvSpPr>
        <p:spPr>
          <a:xfrm>
            <a:off x="838200" y="2397760"/>
            <a:ext cx="3022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
            </a:r>
          </a:p>
        </p:txBody>
      </p:sp>
      <p:sp>
        <p:nvSpPr>
          <p:cNvPr id="10" name="TextBox 9"/>
          <p:cNvSpPr txBox="1"/>
          <p:nvPr/>
        </p:nvSpPr>
        <p:spPr>
          <a:xfrm>
            <a:off x="838200" y="2674112"/>
            <a:ext cx="3022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Silver: latest state per key</a:t>
            </a:r>
          </a:p>
        </p:txBody>
      </p:sp>
      <p:sp>
        <p:nvSpPr>
          <p:cNvPr id="11" name="TextBox 10"/>
          <p:cNvSpPr txBox="1"/>
          <p:nvPr/>
        </p:nvSpPr>
        <p:spPr>
          <a:xfrm>
            <a:off x="838200" y="2950464"/>
            <a:ext cx="3022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
            </a:r>
          </a:p>
        </p:txBody>
      </p:sp>
      <p:sp>
        <p:nvSpPr>
          <p:cNvPr id="12" name="TextBox 11"/>
          <p:cNvSpPr txBox="1"/>
          <p:nvPr/>
        </p:nvSpPr>
        <p:spPr>
          <a:xfrm>
            <a:off x="838200" y="3226816"/>
            <a:ext cx="3022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Ordered updates and deletes</a:t>
            </a:r>
          </a:p>
        </p:txBody>
      </p:sp>
      <p:sp>
        <p:nvSpPr>
          <p:cNvPr id="13" name="Rounded Rectangle 12"/>
          <p:cNvSpPr/>
          <p:nvPr/>
        </p:nvSpPr>
        <p:spPr>
          <a:xfrm>
            <a:off x="4368800" y="1524000"/>
            <a:ext cx="3454400" cy="26416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68800" y="1524000"/>
            <a:ext cx="50800" cy="26416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7400" y="1714500"/>
            <a:ext cx="3022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2 · Use stored history</a:t>
            </a:r>
          </a:p>
        </p:txBody>
      </p:sp>
      <p:sp>
        <p:nvSpPr>
          <p:cNvPr id="16" name="TextBox 15"/>
          <p:cNvSpPr txBox="1"/>
          <p:nvPr/>
        </p:nvSpPr>
        <p:spPr>
          <a:xfrm>
            <a:off x="4597400" y="2121408"/>
            <a:ext cx="3022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New item → stored order</a:t>
            </a:r>
          </a:p>
        </p:txBody>
      </p:sp>
      <p:sp>
        <p:nvSpPr>
          <p:cNvPr id="17" name="TextBox 16"/>
          <p:cNvSpPr txBox="1"/>
          <p:nvPr/>
        </p:nvSpPr>
        <p:spPr>
          <a:xfrm>
            <a:off x="4597400" y="2397760"/>
            <a:ext cx="3022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
            </a:r>
          </a:p>
        </p:txBody>
      </p:sp>
      <p:sp>
        <p:nvSpPr>
          <p:cNvPr id="18" name="TextBox 17"/>
          <p:cNvSpPr txBox="1"/>
          <p:nvPr/>
        </p:nvSpPr>
        <p:spPr>
          <a:xfrm>
            <a:off x="4597400" y="2674112"/>
            <a:ext cx="3022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Changed order → stored items</a:t>
            </a:r>
          </a:p>
        </p:txBody>
      </p:sp>
      <p:sp>
        <p:nvSpPr>
          <p:cNvPr id="19" name="TextBox 18"/>
          <p:cNvSpPr txBox="1"/>
          <p:nvPr/>
        </p:nvSpPr>
        <p:spPr>
          <a:xfrm>
            <a:off x="4597400" y="2950464"/>
            <a:ext cx="3022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
            </a:r>
          </a:p>
        </p:txBody>
      </p:sp>
      <p:sp>
        <p:nvSpPr>
          <p:cNvPr id="20" name="TextBox 19"/>
          <p:cNvSpPr txBox="1"/>
          <p:nvPr/>
        </p:nvSpPr>
        <p:spPr>
          <a:xfrm>
            <a:off x="4597400" y="3226816"/>
            <a:ext cx="3022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Earlier batches stay available</a:t>
            </a:r>
          </a:p>
        </p:txBody>
      </p:sp>
      <p:sp>
        <p:nvSpPr>
          <p:cNvPr id="21" name="Rounded Rectangle 20"/>
          <p:cNvSpPr/>
          <p:nvPr/>
        </p:nvSpPr>
        <p:spPr>
          <a:xfrm>
            <a:off x="8128000" y="1524000"/>
            <a:ext cx="3454400" cy="26416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28000" y="1524000"/>
            <a:ext cx="50800" cy="26416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56600" y="1714500"/>
            <a:ext cx="3022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3 · Build query tables</a:t>
            </a:r>
          </a:p>
        </p:txBody>
      </p:sp>
      <p:sp>
        <p:nvSpPr>
          <p:cNvPr id="24" name="TextBox 23"/>
          <p:cNvSpPr txBox="1"/>
          <p:nvPr/>
        </p:nvSpPr>
        <p:spPr>
          <a:xfrm>
            <a:off x="8356600" y="2121408"/>
            <a:ext cx="3022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One fact row per order</a:t>
            </a:r>
          </a:p>
        </p:txBody>
      </p:sp>
      <p:sp>
        <p:nvSpPr>
          <p:cNvPr id="25" name="TextBox 24"/>
          <p:cNvSpPr txBox="1"/>
          <p:nvPr/>
        </p:nvSpPr>
        <p:spPr>
          <a:xfrm>
            <a:off x="8356600" y="2397760"/>
            <a:ext cx="3022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One fact row per item</a:t>
            </a:r>
          </a:p>
        </p:txBody>
      </p:sp>
      <p:sp>
        <p:nvSpPr>
          <p:cNvPr id="26" name="TextBox 25"/>
          <p:cNvSpPr txBox="1"/>
          <p:nvPr/>
        </p:nvSpPr>
        <p:spPr>
          <a:xfrm>
            <a:off x="8356600" y="2674112"/>
            <a:ext cx="3022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
            </a:r>
          </a:p>
        </p:txBody>
      </p:sp>
      <p:sp>
        <p:nvSpPr>
          <p:cNvPr id="27" name="TextBox 26"/>
          <p:cNvSpPr txBox="1"/>
          <p:nvPr/>
        </p:nvSpPr>
        <p:spPr>
          <a:xfrm>
            <a:off x="8356600" y="2950464"/>
            <a:ext cx="3022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Customer, product and date</a:t>
            </a:r>
          </a:p>
        </p:txBody>
      </p:sp>
      <p:sp>
        <p:nvSpPr>
          <p:cNvPr id="28" name="TextBox 27"/>
          <p:cNvSpPr txBox="1"/>
          <p:nvPr/>
        </p:nvSpPr>
        <p:spPr>
          <a:xfrm>
            <a:off x="8356600" y="3226816"/>
            <a:ext cx="3022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dimensions</a:t>
            </a:r>
          </a:p>
        </p:txBody>
      </p:sp>
      <p:sp>
        <p:nvSpPr>
          <p:cNvPr id="29" name="Rounded Rectangle 28"/>
          <p:cNvSpPr/>
          <p:nvPr/>
        </p:nvSpPr>
        <p:spPr>
          <a:xfrm>
            <a:off x="609600" y="4483100"/>
            <a:ext cx="10972800" cy="1231900"/>
          </a:xfrm>
          <a:prstGeom prst="roundRect">
            <a:avLst>
              <a:gd name="adj" fmla="val 12000"/>
            </a:avLst>
          </a:prstGeom>
          <a:solidFill>
            <a:srgbClr val="DC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8200" y="4648200"/>
            <a:ext cx="10490200" cy="343408"/>
          </a:xfrm>
          <a:prstGeom prst="rect">
            <a:avLst/>
          </a:prstGeom>
          <a:noFill/>
        </p:spPr>
        <p:txBody>
          <a:bodyPr wrap="none" lIns="0" rIns="0" tIns="0" bIns="0" anchor="t">
            <a:spAutoFit/>
          </a:bodyPr>
          <a:lstStyle/>
          <a:p>
            <a:pPr>
              <a:spcBef>
                <a:spcPts val="0"/>
              </a:spcBef>
              <a:spcAft>
                <a:spcPts val="0"/>
              </a:spcAft>
            </a:pPr>
            <a:r>
              <a:rPr sz="1800" b="1">
                <a:solidFill>
                  <a:srgbClr val="007F78"/>
                </a:solidFill>
                <a:latin typeface="Arial"/>
              </a:rPr>
              <a:t>Consistent reads</a:t>
            </a:r>
          </a:p>
        </p:txBody>
      </p:sp>
      <p:sp>
        <p:nvSpPr>
          <p:cNvPr id="31" name="TextBox 30"/>
          <p:cNvSpPr txBox="1"/>
          <p:nvPr/>
        </p:nvSpPr>
        <p:spPr>
          <a:xfrm>
            <a:off x="838200" y="5067300"/>
            <a:ext cx="10490200" cy="343408"/>
          </a:xfrm>
          <a:prstGeom prst="rect">
            <a:avLst/>
          </a:prstGeom>
          <a:noFill/>
        </p:spPr>
        <p:txBody>
          <a:bodyPr wrap="none" lIns="0" rIns="0" tIns="0" bIns="0" anchor="t">
            <a:spAutoFit/>
          </a:bodyPr>
          <a:lstStyle/>
          <a:p>
            <a:pPr>
              <a:spcBef>
                <a:spcPts val="0"/>
              </a:spcBef>
              <a:spcAft>
                <a:spcPts val="0"/>
              </a:spcAft>
            </a:pPr>
            <a:r>
              <a:rPr sz="1800" b="0">
                <a:solidFill>
                  <a:srgbClr val="183342"/>
                </a:solidFill>
                <a:latin typeface="Arial"/>
              </a:rPr>
              <a:t>Readers see a completed publication. History = snapshot + stored current state.</a:t>
            </a:r>
          </a:p>
        </p:txBody>
      </p:sp>
      <p:cxnSp>
        <p:nvCxnSpPr>
          <p:cNvPr id="32" name="Connector 31"/>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2"/>
              </a:rPr>
              <a:t>Sources: app/gold.py | app/materialize.py</a:t>
            </a:r>
          </a:p>
        </p:txBody>
      </p:sp>
      <p:sp>
        <p:nvSpPr>
          <p:cNvPr id="34" name="TextBox 33"/>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04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SPARK SIZING</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The local Spark size and its limits</a:t>
            </a:r>
          </a:p>
        </p:txBody>
      </p:sp>
      <p:sp>
        <p:nvSpPr>
          <p:cNvPr id="5" name="Rounded Rectangle 4"/>
          <p:cNvSpPr/>
          <p:nvPr/>
        </p:nvSpPr>
        <p:spPr>
          <a:xfrm>
            <a:off x="609600" y="1511300"/>
            <a:ext cx="3454400" cy="1397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1638300"/>
            <a:ext cx="3073400" cy="554736"/>
          </a:xfrm>
          <a:prstGeom prst="rect">
            <a:avLst/>
          </a:prstGeom>
          <a:noFill/>
        </p:spPr>
        <p:txBody>
          <a:bodyPr wrap="none" lIns="0" rIns="0" tIns="0" bIns="0" anchor="t">
            <a:spAutoFit/>
          </a:bodyPr>
          <a:lstStyle/>
          <a:p>
            <a:pPr>
              <a:spcBef>
                <a:spcPts val="0"/>
              </a:spcBef>
              <a:spcAft>
                <a:spcPts val="0"/>
              </a:spcAft>
            </a:pPr>
            <a:r>
              <a:rPr sz="3100" b="1">
                <a:solidFill>
                  <a:srgbClr val="007F78"/>
                </a:solidFill>
                <a:latin typeface="Arial"/>
              </a:rPr>
              <a:t>2 slots</a:t>
            </a:r>
          </a:p>
        </p:txBody>
      </p:sp>
      <p:sp>
        <p:nvSpPr>
          <p:cNvPr id="7" name="TextBox 6"/>
          <p:cNvSpPr txBox="1"/>
          <p:nvPr/>
        </p:nvSpPr>
        <p:spPr>
          <a:xfrm>
            <a:off x="812800" y="2133600"/>
            <a:ext cx="30734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Shared by both streams</a:t>
            </a:r>
          </a:p>
        </p:txBody>
      </p:sp>
      <p:sp>
        <p:nvSpPr>
          <p:cNvPr id="8" name="TextBox 7"/>
          <p:cNvSpPr txBox="1"/>
          <p:nvPr/>
        </p:nvSpPr>
        <p:spPr>
          <a:xfrm>
            <a:off x="812800" y="2451100"/>
            <a:ext cx="3073400" cy="245872"/>
          </a:xfrm>
          <a:prstGeom prst="rect">
            <a:avLst/>
          </a:prstGeom>
          <a:noFill/>
        </p:spPr>
        <p:txBody>
          <a:bodyPr wrap="none" lIns="0" rIns="0" tIns="0" bIns="0" anchor="t">
            <a:spAutoFit/>
          </a:bodyPr>
          <a:lstStyle/>
          <a:p>
            <a:pPr>
              <a:spcBef>
                <a:spcPts val="0"/>
              </a:spcBef>
              <a:spcAft>
                <a:spcPts val="0"/>
              </a:spcAft>
            </a:pPr>
            <a:r>
              <a:rPr sz="1200" b="0">
                <a:solidFill>
                  <a:srgbClr val="516978"/>
                </a:solidFill>
                <a:latin typeface="Arial"/>
              </a:rPr>
              <a:t>local[2] • two-CPU quota</a:t>
            </a:r>
          </a:p>
        </p:txBody>
      </p:sp>
      <p:sp>
        <p:nvSpPr>
          <p:cNvPr id="9" name="Rounded Rectangle 8"/>
          <p:cNvSpPr/>
          <p:nvPr/>
        </p:nvSpPr>
        <p:spPr>
          <a:xfrm>
            <a:off x="4368800" y="1511300"/>
            <a:ext cx="3454400" cy="1397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638300"/>
            <a:ext cx="3073400" cy="554736"/>
          </a:xfrm>
          <a:prstGeom prst="rect">
            <a:avLst/>
          </a:prstGeom>
          <a:noFill/>
        </p:spPr>
        <p:txBody>
          <a:bodyPr wrap="none" lIns="0" rIns="0" tIns="0" bIns="0" anchor="t">
            <a:spAutoFit/>
          </a:bodyPr>
          <a:lstStyle/>
          <a:p>
            <a:pPr>
              <a:spcBef>
                <a:spcPts val="0"/>
              </a:spcBef>
              <a:spcAft>
                <a:spcPts val="0"/>
              </a:spcAft>
            </a:pPr>
            <a:r>
              <a:rPr sz="3100" b="1">
                <a:solidFill>
                  <a:srgbClr val="007F78"/>
                </a:solidFill>
                <a:latin typeface="Arial"/>
              </a:rPr>
              <a:t>2 GiB</a:t>
            </a:r>
          </a:p>
        </p:txBody>
      </p:sp>
      <p:sp>
        <p:nvSpPr>
          <p:cNvPr id="11" name="TextBox 10"/>
          <p:cNvSpPr txBox="1"/>
          <p:nvPr/>
        </p:nvSpPr>
        <p:spPr>
          <a:xfrm>
            <a:off x="4572000" y="2133600"/>
            <a:ext cx="30734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Spark heap</a:t>
            </a:r>
          </a:p>
        </p:txBody>
      </p:sp>
      <p:sp>
        <p:nvSpPr>
          <p:cNvPr id="12" name="TextBox 11"/>
          <p:cNvSpPr txBox="1"/>
          <p:nvPr/>
        </p:nvSpPr>
        <p:spPr>
          <a:xfrm>
            <a:off x="4572000" y="2451100"/>
            <a:ext cx="3073400" cy="245872"/>
          </a:xfrm>
          <a:prstGeom prst="rect">
            <a:avLst/>
          </a:prstGeom>
          <a:noFill/>
        </p:spPr>
        <p:txBody>
          <a:bodyPr wrap="none" lIns="0" rIns="0" tIns="0" bIns="0" anchor="t">
            <a:spAutoFit/>
          </a:bodyPr>
          <a:lstStyle/>
          <a:p>
            <a:pPr>
              <a:spcBef>
                <a:spcPts val="0"/>
              </a:spcBef>
              <a:spcAft>
                <a:spcPts val="0"/>
              </a:spcAft>
            </a:pPr>
            <a:r>
              <a:rPr sz="1200" b="0">
                <a:solidFill>
                  <a:srgbClr val="516978"/>
                </a:solidFill>
                <a:latin typeface="Arial"/>
              </a:rPr>
              <a:t>3 GiB container limit</a:t>
            </a:r>
          </a:p>
        </p:txBody>
      </p:sp>
      <p:sp>
        <p:nvSpPr>
          <p:cNvPr id="13" name="Rounded Rectangle 12"/>
          <p:cNvSpPr/>
          <p:nvPr/>
        </p:nvSpPr>
        <p:spPr>
          <a:xfrm>
            <a:off x="8128000" y="1511300"/>
            <a:ext cx="3454400" cy="1397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31200" y="1638300"/>
            <a:ext cx="3073400" cy="554736"/>
          </a:xfrm>
          <a:prstGeom prst="rect">
            <a:avLst/>
          </a:prstGeom>
          <a:noFill/>
        </p:spPr>
        <p:txBody>
          <a:bodyPr wrap="none" lIns="0" rIns="0" tIns="0" bIns="0" anchor="t">
            <a:spAutoFit/>
          </a:bodyPr>
          <a:lstStyle/>
          <a:p>
            <a:pPr>
              <a:spcBef>
                <a:spcPts val="0"/>
              </a:spcBef>
              <a:spcAft>
                <a:spcPts val="0"/>
              </a:spcAft>
            </a:pPr>
            <a:r>
              <a:rPr sz="3100" b="1">
                <a:solidFill>
                  <a:srgbClr val="007F78"/>
                </a:solidFill>
                <a:latin typeface="Arial"/>
              </a:rPr>
              <a:t>4</a:t>
            </a:r>
          </a:p>
        </p:txBody>
      </p:sp>
      <p:sp>
        <p:nvSpPr>
          <p:cNvPr id="15" name="TextBox 14"/>
          <p:cNvSpPr txBox="1"/>
          <p:nvPr/>
        </p:nvSpPr>
        <p:spPr>
          <a:xfrm>
            <a:off x="8331200" y="2133600"/>
            <a:ext cx="30734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Shuffle partitions</a:t>
            </a:r>
          </a:p>
        </p:txBody>
      </p:sp>
      <p:sp>
        <p:nvSpPr>
          <p:cNvPr id="16" name="TextBox 15"/>
          <p:cNvSpPr txBox="1"/>
          <p:nvPr/>
        </p:nvSpPr>
        <p:spPr>
          <a:xfrm>
            <a:off x="8331200" y="2451100"/>
            <a:ext cx="3073400" cy="245872"/>
          </a:xfrm>
          <a:prstGeom prst="rect">
            <a:avLst/>
          </a:prstGeom>
          <a:noFill/>
        </p:spPr>
        <p:txBody>
          <a:bodyPr wrap="none" lIns="0" rIns="0" tIns="0" bIns="0" anchor="t">
            <a:spAutoFit/>
          </a:bodyPr>
          <a:lstStyle/>
          <a:p>
            <a:pPr>
              <a:spcBef>
                <a:spcPts val="0"/>
              </a:spcBef>
              <a:spcAft>
                <a:spcPts val="0"/>
              </a:spcAft>
            </a:pPr>
            <a:r>
              <a:rPr sz="1200" b="0">
                <a:solidFill>
                  <a:srgbClr val="516978"/>
                </a:solidFill>
                <a:latin typeface="Arial"/>
              </a:rPr>
              <a:t>Initial setting, not a proven optimum</a:t>
            </a:r>
          </a:p>
        </p:txBody>
      </p:sp>
      <p:sp>
        <p:nvSpPr>
          <p:cNvPr id="17" name="Rectangle 16"/>
          <p:cNvSpPr/>
          <p:nvPr/>
        </p:nvSpPr>
        <p:spPr>
          <a:xfrm>
            <a:off x="609600" y="3213100"/>
            <a:ext cx="10972800" cy="457200"/>
          </a:xfrm>
          <a:prstGeom prst="rect">
            <a:avLst/>
          </a:prstGeom>
          <a:solidFill>
            <a:srgbClr val="122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6600" y="3314700"/>
            <a:ext cx="2730500" cy="278384"/>
          </a:xfrm>
          <a:prstGeom prst="rect">
            <a:avLst/>
          </a:prstGeom>
          <a:noFill/>
        </p:spPr>
        <p:txBody>
          <a:bodyPr wrap="none" lIns="0" rIns="0" tIns="0" bIns="0" anchor="t">
            <a:spAutoFit/>
          </a:bodyPr>
          <a:lstStyle/>
          <a:p>
            <a:pPr>
              <a:spcBef>
                <a:spcPts val="0"/>
              </a:spcBef>
              <a:spcAft>
                <a:spcPts val="0"/>
              </a:spcAft>
            </a:pPr>
            <a:r>
              <a:rPr sz="1400" b="1">
                <a:solidFill>
                  <a:srgbClr val="FFFFFF"/>
                </a:solidFill>
                <a:latin typeface="Arial"/>
              </a:rPr>
              <a:t>Setting</a:t>
            </a:r>
          </a:p>
        </p:txBody>
      </p:sp>
      <p:sp>
        <p:nvSpPr>
          <p:cNvPr id="19" name="TextBox 18"/>
          <p:cNvSpPr txBox="1"/>
          <p:nvPr/>
        </p:nvSpPr>
        <p:spPr>
          <a:xfrm>
            <a:off x="3721100" y="3314700"/>
            <a:ext cx="3429000" cy="278384"/>
          </a:xfrm>
          <a:prstGeom prst="rect">
            <a:avLst/>
          </a:prstGeom>
          <a:noFill/>
        </p:spPr>
        <p:txBody>
          <a:bodyPr wrap="none" lIns="0" rIns="0" tIns="0" bIns="0" anchor="t">
            <a:spAutoFit/>
          </a:bodyPr>
          <a:lstStyle/>
          <a:p>
            <a:pPr>
              <a:spcBef>
                <a:spcPts val="0"/>
              </a:spcBef>
              <a:spcAft>
                <a:spcPts val="0"/>
              </a:spcAft>
            </a:pPr>
            <a:r>
              <a:rPr sz="1400" b="1">
                <a:solidFill>
                  <a:srgbClr val="FFFFFF"/>
                </a:solidFill>
                <a:latin typeface="Arial"/>
              </a:rPr>
              <a:t>Local choice</a:t>
            </a:r>
          </a:p>
        </p:txBody>
      </p:sp>
      <p:sp>
        <p:nvSpPr>
          <p:cNvPr id="20" name="TextBox 19"/>
          <p:cNvSpPr txBox="1"/>
          <p:nvPr/>
        </p:nvSpPr>
        <p:spPr>
          <a:xfrm>
            <a:off x="7404100" y="3314700"/>
            <a:ext cx="4051300" cy="278384"/>
          </a:xfrm>
          <a:prstGeom prst="rect">
            <a:avLst/>
          </a:prstGeom>
          <a:noFill/>
        </p:spPr>
        <p:txBody>
          <a:bodyPr wrap="none" lIns="0" rIns="0" tIns="0" bIns="0" anchor="t">
            <a:spAutoFit/>
          </a:bodyPr>
          <a:lstStyle/>
          <a:p>
            <a:pPr>
              <a:spcBef>
                <a:spcPts val="0"/>
              </a:spcBef>
              <a:spcAft>
                <a:spcPts val="0"/>
              </a:spcAft>
            </a:pPr>
            <a:r>
              <a:rPr sz="1400" b="1">
                <a:solidFill>
                  <a:srgbClr val="FFFFFF"/>
                </a:solidFill>
                <a:latin typeface="Arial"/>
              </a:rPr>
              <a:t>Why it matters</a:t>
            </a:r>
          </a:p>
        </p:txBody>
      </p:sp>
      <p:sp>
        <p:nvSpPr>
          <p:cNvPr id="21" name="Rectangle 20"/>
          <p:cNvSpPr/>
          <p:nvPr/>
        </p:nvSpPr>
        <p:spPr>
          <a:xfrm>
            <a:off x="609600" y="3670300"/>
            <a:ext cx="10972800" cy="736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6600" y="3771900"/>
            <a:ext cx="27305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Streaming trigger</a:t>
            </a:r>
          </a:p>
        </p:txBody>
      </p:sp>
      <p:sp>
        <p:nvSpPr>
          <p:cNvPr id="23" name="TextBox 22"/>
          <p:cNvSpPr txBox="1"/>
          <p:nvPr/>
        </p:nvSpPr>
        <p:spPr>
          <a:xfrm>
            <a:off x="3721100" y="3771900"/>
            <a:ext cx="3429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Every 10 seconds</a:t>
            </a:r>
          </a:p>
        </p:txBody>
      </p:sp>
      <p:sp>
        <p:nvSpPr>
          <p:cNvPr id="24" name="TextBox 23"/>
          <p:cNvSpPr txBox="1"/>
          <p:nvPr/>
        </p:nvSpPr>
        <p:spPr>
          <a:xfrm>
            <a:off x="7404100" y="3771900"/>
            <a:ext cx="40513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Update frequency vs. repeated job cost</a:t>
            </a:r>
          </a:p>
        </p:txBody>
      </p:sp>
      <p:sp>
        <p:nvSpPr>
          <p:cNvPr id="25" name="Rectangle 24"/>
          <p:cNvSpPr/>
          <p:nvPr/>
        </p:nvSpPr>
        <p:spPr>
          <a:xfrm>
            <a:off x="609600" y="4406900"/>
            <a:ext cx="10972800" cy="736600"/>
          </a:xfrm>
          <a:prstGeom prst="rect">
            <a:avLst/>
          </a:prstGeom>
          <a:solidFill>
            <a:srgbClr val="EA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6600" y="4508500"/>
            <a:ext cx="27305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Kafka intake cap</a:t>
            </a:r>
          </a:p>
        </p:txBody>
      </p:sp>
      <p:sp>
        <p:nvSpPr>
          <p:cNvPr id="27" name="TextBox 26"/>
          <p:cNvSpPr txBox="1"/>
          <p:nvPr/>
        </p:nvSpPr>
        <p:spPr>
          <a:xfrm>
            <a:off x="3721100" y="4508500"/>
            <a:ext cx="3429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20,000 events per trigger</a:t>
            </a:r>
          </a:p>
        </p:txBody>
      </p:sp>
      <p:sp>
        <p:nvSpPr>
          <p:cNvPr id="28" name="TextBox 27"/>
          <p:cNvSpPr txBox="1"/>
          <p:nvPr/>
        </p:nvSpPr>
        <p:spPr>
          <a:xfrm>
            <a:off x="7404100" y="4508500"/>
            <a:ext cx="40513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Roughly 2,000 events/s at this cadence</a:t>
            </a:r>
          </a:p>
        </p:txBody>
      </p:sp>
      <p:sp>
        <p:nvSpPr>
          <p:cNvPr id="29" name="Rectangle 28"/>
          <p:cNvSpPr/>
          <p:nvPr/>
        </p:nvSpPr>
        <p:spPr>
          <a:xfrm>
            <a:off x="609600" y="5143500"/>
            <a:ext cx="10972800" cy="736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600" y="5245100"/>
            <a:ext cx="27305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Scale decisions</a:t>
            </a:r>
          </a:p>
        </p:txBody>
      </p:sp>
      <p:sp>
        <p:nvSpPr>
          <p:cNvPr id="31" name="TextBox 30"/>
          <p:cNvSpPr txBox="1"/>
          <p:nvPr/>
        </p:nvSpPr>
        <p:spPr>
          <a:xfrm>
            <a:off x="3721100" y="5245100"/>
            <a:ext cx="3429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Measure CPU, spill and lag</a:t>
            </a:r>
          </a:p>
        </p:txBody>
      </p:sp>
      <p:sp>
        <p:nvSpPr>
          <p:cNvPr id="32" name="TextBox 31"/>
          <p:cNvSpPr txBox="1"/>
          <p:nvPr/>
        </p:nvSpPr>
        <p:spPr>
          <a:xfrm>
            <a:off x="7404100" y="5245100"/>
            <a:ext cx="40513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Add capacity or reduce the expensive work</a:t>
            </a:r>
          </a:p>
        </p:txBody>
      </p:sp>
      <p:sp>
        <p:nvSpPr>
          <p:cNvPr id="33" name="TextBox 32"/>
          <p:cNvSpPr txBox="1"/>
          <p:nvPr/>
        </p:nvSpPr>
        <p:spPr>
          <a:xfrm>
            <a:off x="609600" y="5930900"/>
            <a:ext cx="10972800" cy="310896"/>
          </a:xfrm>
          <a:prstGeom prst="rect">
            <a:avLst/>
          </a:prstGeom>
          <a:noFill/>
        </p:spPr>
        <p:txBody>
          <a:bodyPr wrap="none" lIns="0" rIns="0" tIns="0" bIns="0" anchor="t">
            <a:spAutoFit/>
          </a:bodyPr>
          <a:lstStyle/>
          <a:p>
            <a:pPr>
              <a:spcBef>
                <a:spcPts val="0"/>
              </a:spcBef>
              <a:spcAft>
                <a:spcPts val="0"/>
              </a:spcAft>
            </a:pPr>
            <a:r>
              <a:rPr sz="1600" b="1">
                <a:solidFill>
                  <a:srgbClr val="007F78"/>
                </a:solidFill>
                <a:latin typeface="Arial"/>
              </a:rPr>
              <a:t>Local sizing was exercised. A production cluster size has not been validated.</a:t>
            </a:r>
          </a:p>
        </p:txBody>
      </p:sp>
      <p:cxnSp>
        <p:nvCxnSpPr>
          <p:cNvPr id="34" name="Connector 33"/>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2"/>
              </a:rPr>
              <a:t>Sources: docs/performance.md | docker-compose.yaml</a:t>
            </a:r>
          </a:p>
        </p:txBody>
      </p:sp>
      <p:sp>
        <p:nvSpPr>
          <p:cNvPr id="36" name="TextBox 35"/>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05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MEASUREMENT</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Which performance metrics were measured</a:t>
            </a:r>
          </a:p>
        </p:txBody>
      </p:sp>
      <p:sp>
        <p:nvSpPr>
          <p:cNvPr id="5" name="Rectangle 4"/>
          <p:cNvSpPr/>
          <p:nvPr/>
        </p:nvSpPr>
        <p:spPr>
          <a:xfrm>
            <a:off x="609600" y="1485900"/>
            <a:ext cx="10972800" cy="457200"/>
          </a:xfrm>
          <a:prstGeom prst="rect">
            <a:avLst/>
          </a:prstGeom>
          <a:solidFill>
            <a:srgbClr val="122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6600" y="1587500"/>
            <a:ext cx="2413000" cy="278384"/>
          </a:xfrm>
          <a:prstGeom prst="rect">
            <a:avLst/>
          </a:prstGeom>
          <a:noFill/>
        </p:spPr>
        <p:txBody>
          <a:bodyPr wrap="none" lIns="0" rIns="0" tIns="0" bIns="0" anchor="t">
            <a:spAutoFit/>
          </a:bodyPr>
          <a:lstStyle/>
          <a:p>
            <a:pPr>
              <a:spcBef>
                <a:spcPts val="0"/>
              </a:spcBef>
              <a:spcAft>
                <a:spcPts val="0"/>
              </a:spcAft>
            </a:pPr>
            <a:r>
              <a:rPr sz="1400" b="1">
                <a:solidFill>
                  <a:srgbClr val="FFFFFF"/>
                </a:solidFill>
                <a:latin typeface="Arial"/>
              </a:rPr>
              <a:t>Metric</a:t>
            </a:r>
          </a:p>
        </p:txBody>
      </p:sp>
      <p:sp>
        <p:nvSpPr>
          <p:cNvPr id="7" name="TextBox 6"/>
          <p:cNvSpPr txBox="1"/>
          <p:nvPr/>
        </p:nvSpPr>
        <p:spPr>
          <a:xfrm>
            <a:off x="3403600" y="1587500"/>
            <a:ext cx="4114800" cy="278384"/>
          </a:xfrm>
          <a:prstGeom prst="rect">
            <a:avLst/>
          </a:prstGeom>
          <a:noFill/>
        </p:spPr>
        <p:txBody>
          <a:bodyPr wrap="none" lIns="0" rIns="0" tIns="0" bIns="0" anchor="t">
            <a:spAutoFit/>
          </a:bodyPr>
          <a:lstStyle/>
          <a:p>
            <a:pPr>
              <a:spcBef>
                <a:spcPts val="0"/>
              </a:spcBef>
              <a:spcAft>
                <a:spcPts val="0"/>
              </a:spcAft>
            </a:pPr>
            <a:r>
              <a:rPr sz="1400" b="1">
                <a:solidFill>
                  <a:srgbClr val="FFFFFF"/>
                </a:solidFill>
                <a:latin typeface="Arial"/>
              </a:rPr>
              <a:t>Simple meaning</a:t>
            </a:r>
          </a:p>
        </p:txBody>
      </p:sp>
      <p:sp>
        <p:nvSpPr>
          <p:cNvPr id="8" name="TextBox 7"/>
          <p:cNvSpPr txBox="1"/>
          <p:nvPr/>
        </p:nvSpPr>
        <p:spPr>
          <a:xfrm>
            <a:off x="7772400" y="1587500"/>
            <a:ext cx="3683000" cy="278384"/>
          </a:xfrm>
          <a:prstGeom prst="rect">
            <a:avLst/>
          </a:prstGeom>
          <a:noFill/>
        </p:spPr>
        <p:txBody>
          <a:bodyPr wrap="none" lIns="0" rIns="0" tIns="0" bIns="0" anchor="t">
            <a:spAutoFit/>
          </a:bodyPr>
          <a:lstStyle/>
          <a:p>
            <a:pPr>
              <a:spcBef>
                <a:spcPts val="0"/>
              </a:spcBef>
              <a:spcAft>
                <a:spcPts val="0"/>
              </a:spcAft>
            </a:pPr>
            <a:r>
              <a:rPr sz="1400" b="1">
                <a:solidFill>
                  <a:srgbClr val="FFFFFF"/>
                </a:solidFill>
                <a:latin typeface="Arial"/>
              </a:rPr>
              <a:t>What it tells us</a:t>
            </a:r>
          </a:p>
        </p:txBody>
      </p:sp>
      <p:sp>
        <p:nvSpPr>
          <p:cNvPr id="9" name="Rectangle 8"/>
          <p:cNvSpPr/>
          <p:nvPr/>
        </p:nvSpPr>
        <p:spPr>
          <a:xfrm>
            <a:off x="609600" y="1943100"/>
            <a:ext cx="10972800" cy="673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6600" y="2044700"/>
            <a:ext cx="2413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Actual input rate</a:t>
            </a:r>
          </a:p>
        </p:txBody>
      </p:sp>
      <p:sp>
        <p:nvSpPr>
          <p:cNvPr id="11" name="TextBox 10"/>
          <p:cNvSpPr txBox="1"/>
          <p:nvPr/>
        </p:nvSpPr>
        <p:spPr>
          <a:xfrm>
            <a:off x="3403600" y="2044700"/>
            <a:ext cx="41148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Source events received per second</a:t>
            </a:r>
          </a:p>
        </p:txBody>
      </p:sp>
      <p:sp>
        <p:nvSpPr>
          <p:cNvPr id="12" name="TextBox 11"/>
          <p:cNvSpPr txBox="1"/>
          <p:nvPr/>
        </p:nvSpPr>
        <p:spPr>
          <a:xfrm>
            <a:off x="7772400" y="2044700"/>
            <a:ext cx="3683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How much load was really generated</a:t>
            </a:r>
          </a:p>
        </p:txBody>
      </p:sp>
      <p:sp>
        <p:nvSpPr>
          <p:cNvPr id="13" name="Rectangle 12"/>
          <p:cNvSpPr/>
          <p:nvPr/>
        </p:nvSpPr>
        <p:spPr>
          <a:xfrm>
            <a:off x="609600" y="2616200"/>
            <a:ext cx="10972800" cy="673100"/>
          </a:xfrm>
          <a:prstGeom prst="rect">
            <a:avLst/>
          </a:prstGeom>
          <a:solidFill>
            <a:srgbClr val="EA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6600" y="2717800"/>
            <a:ext cx="2413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Batch duration</a:t>
            </a:r>
          </a:p>
        </p:txBody>
      </p:sp>
      <p:sp>
        <p:nvSpPr>
          <p:cNvPr id="15" name="TextBox 14"/>
          <p:cNvSpPr txBox="1"/>
          <p:nvPr/>
        </p:nvSpPr>
        <p:spPr>
          <a:xfrm>
            <a:off x="3403600" y="2717800"/>
            <a:ext cx="41148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Time to process a group of events</a:t>
            </a:r>
          </a:p>
        </p:txBody>
      </p:sp>
      <p:sp>
        <p:nvSpPr>
          <p:cNvPr id="16" name="TextBox 15"/>
          <p:cNvSpPr txBox="1"/>
          <p:nvPr/>
        </p:nvSpPr>
        <p:spPr>
          <a:xfrm>
            <a:off x="7772400" y="2717800"/>
            <a:ext cx="3683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How much work each batch takes</a:t>
            </a:r>
          </a:p>
        </p:txBody>
      </p:sp>
      <p:sp>
        <p:nvSpPr>
          <p:cNvPr id="17" name="Rectangle 16"/>
          <p:cNvSpPr/>
          <p:nvPr/>
        </p:nvSpPr>
        <p:spPr>
          <a:xfrm>
            <a:off x="609600" y="3289300"/>
            <a:ext cx="10972800" cy="673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6600" y="3390900"/>
            <a:ext cx="2413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Freshness and backlog</a:t>
            </a:r>
          </a:p>
        </p:txBody>
      </p:sp>
      <p:sp>
        <p:nvSpPr>
          <p:cNvPr id="19" name="TextBox 18"/>
          <p:cNvSpPr txBox="1"/>
          <p:nvPr/>
        </p:nvSpPr>
        <p:spPr>
          <a:xfrm>
            <a:off x="3403600" y="3390900"/>
            <a:ext cx="41148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Time until publication; events waiting</a:t>
            </a:r>
          </a:p>
        </p:txBody>
      </p:sp>
      <p:sp>
        <p:nvSpPr>
          <p:cNvPr id="20" name="TextBox 19"/>
          <p:cNvSpPr txBox="1"/>
          <p:nvPr/>
        </p:nvSpPr>
        <p:spPr>
          <a:xfrm>
            <a:off x="7772400" y="3390900"/>
            <a:ext cx="3683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Whether processing keeps up</a:t>
            </a:r>
          </a:p>
        </p:txBody>
      </p:sp>
      <p:sp>
        <p:nvSpPr>
          <p:cNvPr id="21" name="Rectangle 20"/>
          <p:cNvSpPr/>
          <p:nvPr/>
        </p:nvSpPr>
        <p:spPr>
          <a:xfrm>
            <a:off x="609600" y="3962400"/>
            <a:ext cx="10972800" cy="673100"/>
          </a:xfrm>
          <a:prstGeom prst="rect">
            <a:avLst/>
          </a:prstGeom>
          <a:solidFill>
            <a:srgbClr val="EA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6600" y="4064000"/>
            <a:ext cx="2413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CPU, GC and spill</a:t>
            </a:r>
          </a:p>
        </p:txBody>
      </p:sp>
      <p:sp>
        <p:nvSpPr>
          <p:cNvPr id="23" name="TextBox 22"/>
          <p:cNvSpPr txBox="1"/>
          <p:nvPr/>
        </p:nvSpPr>
        <p:spPr>
          <a:xfrm>
            <a:off x="3403600" y="4064000"/>
            <a:ext cx="41148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Compute use, memory cleanup and disk spill</a:t>
            </a:r>
          </a:p>
        </p:txBody>
      </p:sp>
      <p:sp>
        <p:nvSpPr>
          <p:cNvPr id="24" name="TextBox 23"/>
          <p:cNvSpPr txBox="1"/>
          <p:nvPr/>
        </p:nvSpPr>
        <p:spPr>
          <a:xfrm>
            <a:off x="7772400" y="4064000"/>
            <a:ext cx="3683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Where resource pressure appears</a:t>
            </a:r>
          </a:p>
        </p:txBody>
      </p:sp>
      <p:sp>
        <p:nvSpPr>
          <p:cNvPr id="25" name="Rectangle 24"/>
          <p:cNvSpPr/>
          <p:nvPr/>
        </p:nvSpPr>
        <p:spPr>
          <a:xfrm>
            <a:off x="609600" y="4635500"/>
            <a:ext cx="10972800" cy="673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6600" y="4737100"/>
            <a:ext cx="2413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Failures and counts</a:t>
            </a:r>
          </a:p>
        </p:txBody>
      </p:sp>
      <p:sp>
        <p:nvSpPr>
          <p:cNvPr id="27" name="TextBox 26"/>
          <p:cNvSpPr txBox="1"/>
          <p:nvPr/>
        </p:nvSpPr>
        <p:spPr>
          <a:xfrm>
            <a:off x="3403600" y="4737100"/>
            <a:ext cx="41148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Failed tasks and source/Gold agreement</a:t>
            </a:r>
          </a:p>
        </p:txBody>
      </p:sp>
      <p:sp>
        <p:nvSpPr>
          <p:cNvPr id="28" name="TextBox 27"/>
          <p:cNvSpPr txBox="1"/>
          <p:nvPr/>
        </p:nvSpPr>
        <p:spPr>
          <a:xfrm>
            <a:off x="7772400" y="4737100"/>
            <a:ext cx="3683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Whether results remain correct</a:t>
            </a:r>
          </a:p>
        </p:txBody>
      </p:sp>
      <p:sp>
        <p:nvSpPr>
          <p:cNvPr id="29" name="TextBox 28"/>
          <p:cNvSpPr txBox="1"/>
          <p:nvPr/>
        </p:nvSpPr>
        <p:spPr>
          <a:xfrm>
            <a:off x="609600" y="5854700"/>
            <a:ext cx="10972800" cy="294640"/>
          </a:xfrm>
          <a:prstGeom prst="rect">
            <a:avLst/>
          </a:prstGeom>
          <a:noFill/>
        </p:spPr>
        <p:txBody>
          <a:bodyPr wrap="none" lIns="0" rIns="0" tIns="0" bIns="0" anchor="t">
            <a:spAutoFit/>
          </a:bodyPr>
          <a:lstStyle/>
          <a:p>
            <a:pPr>
              <a:spcBef>
                <a:spcPts val="0"/>
              </a:spcBef>
              <a:spcAft>
                <a:spcPts val="0"/>
              </a:spcAft>
            </a:pPr>
            <a:r>
              <a:rPr sz="1500" b="1">
                <a:solidFill>
                  <a:srgbClr val="007F78"/>
                </a:solidFill>
                <a:latin typeface="Arial"/>
              </a:rPr>
              <a:t>Separate tests: bulk load, short CDC steps, broker recovery and query concurrency.</a:t>
            </a:r>
          </a:p>
        </p:txBody>
      </p:sp>
      <p:cxnSp>
        <p:nvCxnSpPr>
          <p:cNvPr id="30" name="Connector 29"/>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2"/>
              </a:rPr>
              <a:t>Sources: docs/performance-stress.md | docs/evidence/stress/streaming-levels.json</a:t>
            </a:r>
          </a:p>
        </p:txBody>
      </p:sp>
      <p:sp>
        <p:nvSpPr>
          <p:cNvPr id="32" name="TextBox 31"/>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06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PERFORMANCE RESULTS</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Large loads: Gold takes most of the time</a:t>
            </a:r>
          </a:p>
        </p:txBody>
      </p:sp>
      <p:pic>
        <p:nvPicPr>
          <p:cNvPr id="5" name="Picture 4" descr="materialization.png"/>
          <p:cNvPicPr>
            <a:picLocks noChangeAspect="1"/>
          </p:cNvPicPr>
          <p:nvPr/>
        </p:nvPicPr>
        <p:blipFill>
          <a:blip r:embed="rId2"/>
          <a:stretch>
            <a:fillRect/>
          </a:stretch>
        </p:blipFill>
        <p:spPr>
          <a:xfrm>
            <a:off x="609600" y="1498600"/>
            <a:ext cx="7556500" cy="3987800"/>
          </a:xfrm>
          <a:prstGeom prst="rect">
            <a:avLst/>
          </a:prstGeom>
        </p:spPr>
      </p:pic>
      <p:sp>
        <p:nvSpPr>
          <p:cNvPr id="6" name="Rounded Rectangle 5"/>
          <p:cNvSpPr/>
          <p:nvPr/>
        </p:nvSpPr>
        <p:spPr>
          <a:xfrm>
            <a:off x="8445500" y="1511300"/>
            <a:ext cx="3136900" cy="1397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48700" y="1638300"/>
            <a:ext cx="2755900" cy="554736"/>
          </a:xfrm>
          <a:prstGeom prst="rect">
            <a:avLst/>
          </a:prstGeom>
          <a:noFill/>
        </p:spPr>
        <p:txBody>
          <a:bodyPr wrap="none" lIns="0" rIns="0" tIns="0" bIns="0" anchor="t">
            <a:spAutoFit/>
          </a:bodyPr>
          <a:lstStyle/>
          <a:p>
            <a:pPr>
              <a:spcBef>
                <a:spcPts val="0"/>
              </a:spcBef>
              <a:spcAft>
                <a:spcPts val="0"/>
              </a:spcAft>
            </a:pPr>
            <a:r>
              <a:rPr sz="3100" b="1">
                <a:solidFill>
                  <a:srgbClr val="007F78"/>
                </a:solidFill>
                <a:latin typeface="Arial"/>
              </a:rPr>
              <a:t>370.5s</a:t>
            </a:r>
          </a:p>
        </p:txBody>
      </p:sp>
      <p:sp>
        <p:nvSpPr>
          <p:cNvPr id="8" name="TextBox 7"/>
          <p:cNvSpPr txBox="1"/>
          <p:nvPr/>
        </p:nvSpPr>
        <p:spPr>
          <a:xfrm>
            <a:off x="8648700" y="2133600"/>
            <a:ext cx="27559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6 million input events</a:t>
            </a:r>
          </a:p>
        </p:txBody>
      </p:sp>
      <p:sp>
        <p:nvSpPr>
          <p:cNvPr id="9" name="TextBox 8"/>
          <p:cNvSpPr txBox="1"/>
          <p:nvPr/>
        </p:nvSpPr>
        <p:spPr>
          <a:xfrm>
            <a:off x="8648700" y="2451100"/>
            <a:ext cx="2755900" cy="245872"/>
          </a:xfrm>
          <a:prstGeom prst="rect">
            <a:avLst/>
          </a:prstGeom>
          <a:noFill/>
        </p:spPr>
        <p:txBody>
          <a:bodyPr wrap="none" lIns="0" rIns="0" tIns="0" bIns="0" anchor="t">
            <a:spAutoFit/>
          </a:bodyPr>
          <a:lstStyle/>
          <a:p>
            <a:pPr>
              <a:spcBef>
                <a:spcPts val="0"/>
              </a:spcBef>
              <a:spcAft>
                <a:spcPts val="0"/>
              </a:spcAft>
            </a:pPr>
            <a:r>
              <a:rPr sz="1200" b="0">
                <a:solidFill>
                  <a:srgbClr val="516978"/>
                </a:solidFill>
                <a:latin typeface="Arial"/>
              </a:rPr>
              <a:t>Initial processing time</a:t>
            </a:r>
          </a:p>
        </p:txBody>
      </p:sp>
      <p:sp>
        <p:nvSpPr>
          <p:cNvPr id="10" name="Rounded Rectangle 9"/>
          <p:cNvSpPr/>
          <p:nvPr/>
        </p:nvSpPr>
        <p:spPr>
          <a:xfrm>
            <a:off x="8445500" y="3136900"/>
            <a:ext cx="3136900" cy="1397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48700" y="3263900"/>
            <a:ext cx="2755900" cy="554736"/>
          </a:xfrm>
          <a:prstGeom prst="rect">
            <a:avLst/>
          </a:prstGeom>
          <a:noFill/>
        </p:spPr>
        <p:txBody>
          <a:bodyPr wrap="none" lIns="0" rIns="0" tIns="0" bIns="0" anchor="t">
            <a:spAutoFit/>
          </a:bodyPr>
          <a:lstStyle/>
          <a:p>
            <a:pPr>
              <a:spcBef>
                <a:spcPts val="0"/>
              </a:spcBef>
              <a:spcAft>
                <a:spcPts val="0"/>
              </a:spcAft>
            </a:pPr>
            <a:r>
              <a:rPr sz="3100" b="1">
                <a:solidFill>
                  <a:srgbClr val="007F78"/>
                </a:solidFill>
                <a:latin typeface="Arial"/>
              </a:rPr>
              <a:t>63%</a:t>
            </a:r>
          </a:p>
        </p:txBody>
      </p:sp>
      <p:sp>
        <p:nvSpPr>
          <p:cNvPr id="12" name="TextBox 11"/>
          <p:cNvSpPr txBox="1"/>
          <p:nvPr/>
        </p:nvSpPr>
        <p:spPr>
          <a:xfrm>
            <a:off x="8648700" y="3759200"/>
            <a:ext cx="27559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Time spent in Gold</a:t>
            </a:r>
          </a:p>
        </p:txBody>
      </p:sp>
      <p:sp>
        <p:nvSpPr>
          <p:cNvPr id="13" name="TextBox 12"/>
          <p:cNvSpPr txBox="1"/>
          <p:nvPr/>
        </p:nvSpPr>
        <p:spPr>
          <a:xfrm>
            <a:off x="8648700" y="4076700"/>
            <a:ext cx="2755900" cy="245872"/>
          </a:xfrm>
          <a:prstGeom prst="rect">
            <a:avLst/>
          </a:prstGeom>
          <a:noFill/>
        </p:spPr>
        <p:txBody>
          <a:bodyPr wrap="none" lIns="0" rIns="0" tIns="0" bIns="0" anchor="t">
            <a:spAutoFit/>
          </a:bodyPr>
          <a:lstStyle/>
          <a:p>
            <a:pPr>
              <a:spcBef>
                <a:spcPts val="0"/>
              </a:spcBef>
              <a:spcAft>
                <a:spcPts val="0"/>
              </a:spcAft>
            </a:pPr>
            <a:r>
              <a:rPr sz="1200" b="0">
                <a:solidFill>
                  <a:srgbClr val="516978"/>
                </a:solidFill>
                <a:latin typeface="Arial"/>
              </a:rPr>
              <a:t>232.5s of 370.5s</a:t>
            </a:r>
          </a:p>
        </p:txBody>
      </p:sp>
      <p:sp>
        <p:nvSpPr>
          <p:cNvPr id="14" name="TextBox 13"/>
          <p:cNvSpPr txBox="1"/>
          <p:nvPr/>
        </p:nvSpPr>
        <p:spPr>
          <a:xfrm>
            <a:off x="8445500" y="4851400"/>
            <a:ext cx="3136900" cy="327152"/>
          </a:xfrm>
          <a:prstGeom prst="rect">
            <a:avLst/>
          </a:prstGeom>
          <a:noFill/>
        </p:spPr>
        <p:txBody>
          <a:bodyPr wrap="none" lIns="0" rIns="0" tIns="0" bIns="0" anchor="t">
            <a:spAutoFit/>
          </a:bodyPr>
          <a:lstStyle/>
          <a:p>
            <a:pPr>
              <a:spcBef>
                <a:spcPts val="0"/>
              </a:spcBef>
              <a:spcAft>
                <a:spcPts val="0"/>
              </a:spcAft>
            </a:pPr>
            <a:r>
              <a:rPr sz="1700" b="1">
                <a:solidFill>
                  <a:srgbClr val="AD4D3D"/>
                </a:solidFill>
                <a:latin typeface="Arial"/>
              </a:rPr>
              <a:t>846 MB disk spill</a:t>
            </a:r>
          </a:p>
        </p:txBody>
      </p:sp>
      <p:sp>
        <p:nvSpPr>
          <p:cNvPr id="15" name="TextBox 14"/>
          <p:cNvSpPr txBox="1"/>
          <p:nvPr/>
        </p:nvSpPr>
        <p:spPr>
          <a:xfrm>
            <a:off x="8445500" y="5127752"/>
            <a:ext cx="3136900" cy="327152"/>
          </a:xfrm>
          <a:prstGeom prst="rect">
            <a:avLst/>
          </a:prstGeom>
          <a:noFill/>
        </p:spPr>
        <p:txBody>
          <a:bodyPr wrap="none" lIns="0" rIns="0" tIns="0" bIns="0" anchor="t">
            <a:spAutoFit/>
          </a:bodyPr>
          <a:lstStyle/>
          <a:p>
            <a:pPr>
              <a:spcBef>
                <a:spcPts val="0"/>
              </a:spcBef>
              <a:spcAft>
                <a:spcPts val="0"/>
              </a:spcAft>
            </a:pPr>
            <a:r>
              <a:rPr sz="1700" b="1">
                <a:solidFill>
                  <a:srgbClr val="AD4D3D"/>
                </a:solidFill>
                <a:latin typeface="Arial"/>
              </a:rPr>
              <a:t>Memory pressure near cap</a:t>
            </a:r>
          </a:p>
        </p:txBody>
      </p:sp>
      <p:sp>
        <p:nvSpPr>
          <p:cNvPr id="16" name="TextBox 15"/>
          <p:cNvSpPr txBox="1"/>
          <p:nvPr/>
        </p:nvSpPr>
        <p:spPr>
          <a:xfrm>
            <a:off x="8445500" y="5404104"/>
            <a:ext cx="3136900" cy="327152"/>
          </a:xfrm>
          <a:prstGeom prst="rect">
            <a:avLst/>
          </a:prstGeom>
          <a:noFill/>
        </p:spPr>
        <p:txBody>
          <a:bodyPr wrap="none" lIns="0" rIns="0" tIns="0" bIns="0" anchor="t">
            <a:spAutoFit/>
          </a:bodyPr>
          <a:lstStyle/>
          <a:p>
            <a:pPr>
              <a:spcBef>
                <a:spcPts val="0"/>
              </a:spcBef>
              <a:spcAft>
                <a:spcPts val="0"/>
              </a:spcAft>
            </a:pPr>
            <a:r>
              <a:rPr sz="1700" b="1">
                <a:solidFill>
                  <a:srgbClr val="AD4D3D"/>
                </a:solidFill>
                <a:latin typeface="Arial"/>
              </a:rPr>
              <a:t>0 failed task attempts</a:t>
            </a:r>
          </a:p>
        </p:txBody>
      </p:sp>
      <p:sp>
        <p:nvSpPr>
          <p:cNvPr id="17" name="TextBox 16"/>
          <p:cNvSpPr txBox="1"/>
          <p:nvPr/>
        </p:nvSpPr>
        <p:spPr>
          <a:xfrm>
            <a:off x="609600" y="5854700"/>
            <a:ext cx="10972800" cy="294640"/>
          </a:xfrm>
          <a:prstGeom prst="rect">
            <a:avLst/>
          </a:prstGeom>
          <a:noFill/>
        </p:spPr>
        <p:txBody>
          <a:bodyPr wrap="none" lIns="0" rIns="0" tIns="0" bIns="0" anchor="t">
            <a:spAutoFit/>
          </a:bodyPr>
          <a:lstStyle/>
          <a:p>
            <a:pPr>
              <a:spcBef>
                <a:spcPts val="0"/>
              </a:spcBef>
              <a:spcAft>
                <a:spcPts val="0"/>
              </a:spcAft>
            </a:pPr>
            <a:r>
              <a:rPr sz="1500" b="1">
                <a:solidFill>
                  <a:srgbClr val="007F78"/>
                </a:solidFill>
                <a:latin typeface="Arial"/>
              </a:rPr>
              <a:t>Largest run: 482.8s task CPU • 51.3s task GC. Next focus: Gold work and target-table scans.</a:t>
            </a:r>
          </a:p>
        </p:txBody>
      </p:sp>
      <p:cxnSp>
        <p:nvCxnSpPr>
          <p:cNvPr id="18" name="Connector 17"/>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3"/>
              </a:rPr>
              <a:t>Sources: docs/evidence/stress/materialization.json | docs/evidence/stress/scale-1m-spark-metrics.json</a:t>
            </a:r>
          </a:p>
        </p:txBody>
      </p:sp>
      <p:sp>
        <p:nvSpPr>
          <p:cNvPr id="20" name="TextBox 19"/>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07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PERFORMANCE RESULTS</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Streaming: more input means more delay</a:t>
            </a:r>
          </a:p>
        </p:txBody>
      </p:sp>
      <p:pic>
        <p:nvPicPr>
          <p:cNvPr id="5" name="Picture 4" descr="freshness.png"/>
          <p:cNvPicPr>
            <a:picLocks noChangeAspect="1"/>
          </p:cNvPicPr>
          <p:nvPr/>
        </p:nvPicPr>
        <p:blipFill>
          <a:blip r:embed="rId2"/>
          <a:stretch>
            <a:fillRect/>
          </a:stretch>
        </p:blipFill>
        <p:spPr>
          <a:xfrm>
            <a:off x="609600" y="1485900"/>
            <a:ext cx="7556500" cy="3987800"/>
          </a:xfrm>
          <a:prstGeom prst="rect">
            <a:avLst/>
          </a:prstGeom>
        </p:spPr>
      </p:pic>
      <p:sp>
        <p:nvSpPr>
          <p:cNvPr id="6" name="Rounded Rectangle 5"/>
          <p:cNvSpPr/>
          <p:nvPr/>
        </p:nvSpPr>
        <p:spPr>
          <a:xfrm>
            <a:off x="8445500" y="1511300"/>
            <a:ext cx="3136900" cy="18161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445500" y="1511300"/>
            <a:ext cx="50800" cy="1816100"/>
          </a:xfrm>
          <a:prstGeom prst="rect">
            <a:avLst/>
          </a:prstGeom>
          <a:solidFill>
            <a:srgbClr val="D49C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74100" y="1701800"/>
            <a:ext cx="27051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Delay grows with load</a:t>
            </a:r>
          </a:p>
        </p:txBody>
      </p:sp>
      <p:sp>
        <p:nvSpPr>
          <p:cNvPr id="9" name="TextBox 8"/>
          <p:cNvSpPr txBox="1"/>
          <p:nvPr/>
        </p:nvSpPr>
        <p:spPr>
          <a:xfrm>
            <a:off x="8674100" y="2108708"/>
            <a:ext cx="27051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Above ~2,000 events/s,</a:t>
            </a:r>
          </a:p>
        </p:txBody>
      </p:sp>
      <p:sp>
        <p:nvSpPr>
          <p:cNvPr id="10" name="TextBox 9"/>
          <p:cNvSpPr txBox="1"/>
          <p:nvPr/>
        </p:nvSpPr>
        <p:spPr>
          <a:xfrm>
            <a:off x="8674100" y="2368804"/>
            <a:ext cx="27051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waiting events increased.</a:t>
            </a:r>
          </a:p>
        </p:txBody>
      </p:sp>
      <p:sp>
        <p:nvSpPr>
          <p:cNvPr id="11" name="TextBox 10"/>
          <p:cNvSpPr txBox="1"/>
          <p:nvPr/>
        </p:nvSpPr>
        <p:spPr>
          <a:xfrm>
            <a:off x="8674100" y="2628900"/>
            <a:ext cx="27051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Highest batch p95: 112.5s.</a:t>
            </a:r>
          </a:p>
        </p:txBody>
      </p:sp>
      <p:sp>
        <p:nvSpPr>
          <p:cNvPr id="12" name="Rounded Rectangle 11"/>
          <p:cNvSpPr/>
          <p:nvPr/>
        </p:nvSpPr>
        <p:spPr>
          <a:xfrm>
            <a:off x="8445500" y="3594100"/>
            <a:ext cx="3136900" cy="18161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445500" y="3594100"/>
            <a:ext cx="50800" cy="18161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74100" y="3784600"/>
            <a:ext cx="27051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The pipeline caught up</a:t>
            </a:r>
          </a:p>
        </p:txBody>
      </p:sp>
      <p:sp>
        <p:nvSpPr>
          <p:cNvPr id="15" name="TextBox 14"/>
          <p:cNvSpPr txBox="1"/>
          <p:nvPr/>
        </p:nvSpPr>
        <p:spPr>
          <a:xfrm>
            <a:off x="8674100" y="4191508"/>
            <a:ext cx="27051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All four steps drained after</a:t>
            </a:r>
          </a:p>
        </p:txBody>
      </p:sp>
      <p:sp>
        <p:nvSpPr>
          <p:cNvPr id="16" name="TextBox 15"/>
          <p:cNvSpPr txBox="1"/>
          <p:nvPr/>
        </p:nvSpPr>
        <p:spPr>
          <a:xfrm>
            <a:off x="8674100" y="4451604"/>
            <a:ext cx="27051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input stopped.</a:t>
            </a:r>
          </a:p>
        </p:txBody>
      </p:sp>
      <p:sp>
        <p:nvSpPr>
          <p:cNvPr id="17" name="TextBox 16"/>
          <p:cNvSpPr txBox="1"/>
          <p:nvPr/>
        </p:nvSpPr>
        <p:spPr>
          <a:xfrm>
            <a:off x="8674100" y="4711700"/>
            <a:ext cx="27051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Highest steps: ~66s / ~70s.</a:t>
            </a:r>
          </a:p>
        </p:txBody>
      </p:sp>
      <p:sp>
        <p:nvSpPr>
          <p:cNvPr id="18" name="TextBox 17"/>
          <p:cNvSpPr txBox="1"/>
          <p:nvPr/>
        </p:nvSpPr>
        <p:spPr>
          <a:xfrm>
            <a:off x="609600" y="5740400"/>
            <a:ext cx="10972800" cy="278384"/>
          </a:xfrm>
          <a:prstGeom prst="rect">
            <a:avLst/>
          </a:prstGeom>
          <a:noFill/>
        </p:spPr>
        <p:txBody>
          <a:bodyPr wrap="none" lIns="0" rIns="0" tIns="0" bIns="0" anchor="t">
            <a:spAutoFit/>
          </a:bodyPr>
          <a:lstStyle/>
          <a:p>
            <a:pPr>
              <a:spcBef>
                <a:spcPts val="0"/>
              </a:spcBef>
              <a:spcAft>
                <a:spcPts val="0"/>
              </a:spcAft>
            </a:pPr>
            <a:r>
              <a:rPr sz="1400" b="0">
                <a:solidFill>
                  <a:srgbClr val="516978"/>
                </a:solidFill>
                <a:latin typeface="Arial"/>
              </a:rPr>
              <a:t>p95 covers 95% of a batch's events, not all events globally. Steps ~2 min; 6k/s was not reached.</a:t>
            </a:r>
          </a:p>
        </p:txBody>
      </p:sp>
      <p:cxnSp>
        <p:nvCxnSpPr>
          <p:cNvPr id="19" name="Connector 18"/>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3"/>
              </a:rPr>
              <a:t>Sources: docs/evidence/stress/streaming-levels.json | docs/evidence/stress/streaming-batches.json</a:t>
            </a:r>
          </a:p>
        </p:txBody>
      </p:sp>
      <p:sp>
        <p:nvSpPr>
          <p:cNvPr id="21" name="TextBox 20"/>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08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VALIDATION RESULTS</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Correctness and recovery were checked</a:t>
            </a:r>
          </a:p>
        </p:txBody>
      </p:sp>
      <p:sp>
        <p:nvSpPr>
          <p:cNvPr id="5" name="Rounded Rectangle 4"/>
          <p:cNvSpPr/>
          <p:nvPr/>
        </p:nvSpPr>
        <p:spPr>
          <a:xfrm>
            <a:off x="609600" y="1498600"/>
            <a:ext cx="3454400" cy="1397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1625600"/>
            <a:ext cx="3073400" cy="554736"/>
          </a:xfrm>
          <a:prstGeom prst="rect">
            <a:avLst/>
          </a:prstGeom>
          <a:noFill/>
        </p:spPr>
        <p:txBody>
          <a:bodyPr wrap="none" lIns="0" rIns="0" tIns="0" bIns="0" anchor="t">
            <a:spAutoFit/>
          </a:bodyPr>
          <a:lstStyle/>
          <a:p>
            <a:pPr>
              <a:spcBef>
                <a:spcPts val="0"/>
              </a:spcBef>
              <a:spcAft>
                <a:spcPts val="0"/>
              </a:spcAft>
            </a:pPr>
            <a:r>
              <a:rPr sz="3100" b="1">
                <a:solidFill>
                  <a:srgbClr val="007F78"/>
                </a:solidFill>
                <a:latin typeface="Arial"/>
              </a:rPr>
              <a:t>774,001</a:t>
            </a:r>
          </a:p>
        </p:txBody>
      </p:sp>
      <p:sp>
        <p:nvSpPr>
          <p:cNvPr id="7" name="TextBox 6"/>
          <p:cNvSpPr txBox="1"/>
          <p:nvPr/>
        </p:nvSpPr>
        <p:spPr>
          <a:xfrm>
            <a:off x="812800" y="2120900"/>
            <a:ext cx="30734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Raw events accounted for</a:t>
            </a:r>
          </a:p>
        </p:txBody>
      </p:sp>
      <p:sp>
        <p:nvSpPr>
          <p:cNvPr id="8" name="TextBox 7"/>
          <p:cNvSpPr txBox="1"/>
          <p:nvPr/>
        </p:nvSpPr>
        <p:spPr>
          <a:xfrm>
            <a:off x="812800" y="2438400"/>
            <a:ext cx="3073400" cy="245872"/>
          </a:xfrm>
          <a:prstGeom prst="rect">
            <a:avLst/>
          </a:prstGeom>
          <a:noFill/>
        </p:spPr>
        <p:txBody>
          <a:bodyPr wrap="none" lIns="0" rIns="0" tIns="0" bIns="0" anchor="t">
            <a:spAutoFit/>
          </a:bodyPr>
          <a:lstStyle/>
          <a:p>
            <a:pPr>
              <a:spcBef>
                <a:spcPts val="0"/>
              </a:spcBef>
              <a:spcAft>
                <a:spcPts val="0"/>
              </a:spcAft>
            </a:pPr>
            <a:r>
              <a:rPr sz="1200" b="0">
                <a:solidFill>
                  <a:srgbClr val="516978"/>
                </a:solidFill>
                <a:latin typeface="Arial"/>
              </a:rPr>
              <a:t>Kafka = Bronze = published input</a:t>
            </a:r>
          </a:p>
        </p:txBody>
      </p:sp>
      <p:sp>
        <p:nvSpPr>
          <p:cNvPr id="9" name="Rounded Rectangle 8"/>
          <p:cNvSpPr/>
          <p:nvPr/>
        </p:nvSpPr>
        <p:spPr>
          <a:xfrm>
            <a:off x="4368800" y="1498600"/>
            <a:ext cx="3454400" cy="1397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625600"/>
            <a:ext cx="3073400" cy="554736"/>
          </a:xfrm>
          <a:prstGeom prst="rect">
            <a:avLst/>
          </a:prstGeom>
          <a:noFill/>
        </p:spPr>
        <p:txBody>
          <a:bodyPr wrap="none" lIns="0" rIns="0" tIns="0" bIns="0" anchor="t">
            <a:spAutoFit/>
          </a:bodyPr>
          <a:lstStyle/>
          <a:p>
            <a:pPr>
              <a:spcBef>
                <a:spcPts val="0"/>
              </a:spcBef>
              <a:spcAft>
                <a:spcPts val="0"/>
              </a:spcAft>
            </a:pPr>
            <a:r>
              <a:rPr sz="3100" b="1">
                <a:solidFill>
                  <a:srgbClr val="007F78"/>
                </a:solidFill>
                <a:latin typeface="Arial"/>
              </a:rPr>
              <a:t>3 / 3</a:t>
            </a:r>
          </a:p>
        </p:txBody>
      </p:sp>
      <p:sp>
        <p:nvSpPr>
          <p:cNvPr id="11" name="TextBox 10"/>
          <p:cNvSpPr txBox="1"/>
          <p:nvPr/>
        </p:nvSpPr>
        <p:spPr>
          <a:xfrm>
            <a:off x="4572000" y="2120900"/>
            <a:ext cx="30734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Source comparisons passed</a:t>
            </a:r>
          </a:p>
        </p:txBody>
      </p:sp>
      <p:sp>
        <p:nvSpPr>
          <p:cNvPr id="12" name="TextBox 11"/>
          <p:cNvSpPr txBox="1"/>
          <p:nvPr/>
        </p:nvSpPr>
        <p:spPr>
          <a:xfrm>
            <a:off x="4572000" y="2438400"/>
            <a:ext cx="3073400" cy="245872"/>
          </a:xfrm>
          <a:prstGeom prst="rect">
            <a:avLst/>
          </a:prstGeom>
          <a:noFill/>
        </p:spPr>
        <p:txBody>
          <a:bodyPr wrap="none" lIns="0" rIns="0" tIns="0" bIns="0" anchor="t">
            <a:spAutoFit/>
          </a:bodyPr>
          <a:lstStyle/>
          <a:p>
            <a:pPr>
              <a:spcBef>
                <a:spcPts val="0"/>
              </a:spcBef>
              <a:spcAft>
                <a:spcPts val="0"/>
              </a:spcAft>
            </a:pPr>
            <a:r>
              <a:rPr sz="1200" b="0">
                <a:solidFill>
                  <a:srgbClr val="516978"/>
                </a:solidFill>
                <a:latin typeface="Arial"/>
              </a:rPr>
              <a:t>All four business metrics</a:t>
            </a:r>
          </a:p>
        </p:txBody>
      </p:sp>
      <p:sp>
        <p:nvSpPr>
          <p:cNvPr id="13" name="Rounded Rectangle 12"/>
          <p:cNvSpPr/>
          <p:nvPr/>
        </p:nvSpPr>
        <p:spPr>
          <a:xfrm>
            <a:off x="8128000" y="1498600"/>
            <a:ext cx="3454400" cy="1397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31200" y="1625600"/>
            <a:ext cx="3073400" cy="554736"/>
          </a:xfrm>
          <a:prstGeom prst="rect">
            <a:avLst/>
          </a:prstGeom>
          <a:noFill/>
        </p:spPr>
        <p:txBody>
          <a:bodyPr wrap="none" lIns="0" rIns="0" tIns="0" bIns="0" anchor="t">
            <a:spAutoFit/>
          </a:bodyPr>
          <a:lstStyle/>
          <a:p>
            <a:pPr>
              <a:spcBef>
                <a:spcPts val="0"/>
              </a:spcBef>
              <a:spcAft>
                <a:spcPts val="0"/>
              </a:spcAft>
            </a:pPr>
            <a:r>
              <a:rPr sz="3100" b="1">
                <a:solidFill>
                  <a:srgbClr val="007F78"/>
                </a:solidFill>
                <a:latin typeface="Arial"/>
              </a:rPr>
              <a:t>53.5s</a:t>
            </a:r>
          </a:p>
        </p:txBody>
      </p:sp>
      <p:sp>
        <p:nvSpPr>
          <p:cNvPr id="15" name="TextBox 14"/>
          <p:cNvSpPr txBox="1"/>
          <p:nvPr/>
        </p:nvSpPr>
        <p:spPr>
          <a:xfrm>
            <a:off x="8331200" y="2120900"/>
            <a:ext cx="30734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Observed recovery interval</a:t>
            </a:r>
          </a:p>
        </p:txBody>
      </p:sp>
      <p:sp>
        <p:nvSpPr>
          <p:cNvPr id="16" name="TextBox 15"/>
          <p:cNvSpPr txBox="1"/>
          <p:nvPr/>
        </p:nvSpPr>
        <p:spPr>
          <a:xfrm>
            <a:off x="8331200" y="2438400"/>
            <a:ext cx="3073400" cy="245872"/>
          </a:xfrm>
          <a:prstGeom prst="rect">
            <a:avLst/>
          </a:prstGeom>
          <a:noFill/>
        </p:spPr>
        <p:txBody>
          <a:bodyPr wrap="none" lIns="0" rIns="0" tIns="0" bIns="0" anchor="t">
            <a:spAutoFit/>
          </a:bodyPr>
          <a:lstStyle/>
          <a:p>
            <a:pPr>
              <a:spcBef>
                <a:spcPts val="0"/>
              </a:spcBef>
              <a:spcAft>
                <a:spcPts val="0"/>
              </a:spcAft>
            </a:pPr>
            <a:r>
              <a:rPr sz="1200" b="0">
                <a:solidFill>
                  <a:srgbClr val="516978"/>
                </a:solidFill>
                <a:latin typeface="Arial"/>
              </a:rPr>
              <a:t>Stop → restart → catch-up → poll</a:t>
            </a:r>
          </a:p>
        </p:txBody>
      </p:sp>
      <p:sp>
        <p:nvSpPr>
          <p:cNvPr id="17" name="Rounded Rectangle 16"/>
          <p:cNvSpPr/>
          <p:nvPr/>
        </p:nvSpPr>
        <p:spPr>
          <a:xfrm>
            <a:off x="609600" y="3352800"/>
            <a:ext cx="5308600" cy="21082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09600" y="3352800"/>
            <a:ext cx="50800" cy="21082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8200" y="3543300"/>
            <a:ext cx="48768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Updates and deletes</a:t>
            </a:r>
          </a:p>
        </p:txBody>
      </p:sp>
      <p:sp>
        <p:nvSpPr>
          <p:cNvPr id="20" name="TextBox 19"/>
          <p:cNvSpPr txBox="1"/>
          <p:nvPr/>
        </p:nvSpPr>
        <p:spPr>
          <a:xfrm>
            <a:off x="838200" y="3950208"/>
            <a:ext cx="4876800" cy="343408"/>
          </a:xfrm>
          <a:prstGeom prst="rect">
            <a:avLst/>
          </a:prstGeom>
          <a:noFill/>
        </p:spPr>
        <p:txBody>
          <a:bodyPr wrap="none" lIns="0" rIns="0" tIns="0" bIns="0" anchor="t">
            <a:spAutoFit/>
          </a:bodyPr>
          <a:lstStyle/>
          <a:p>
            <a:pPr>
              <a:spcBef>
                <a:spcPts val="0"/>
              </a:spcBef>
              <a:spcAft>
                <a:spcPts val="0"/>
              </a:spcAft>
            </a:pPr>
            <a:r>
              <a:rPr sz="1800" b="0">
                <a:solidFill>
                  <a:srgbClr val="516978"/>
                </a:solidFill>
                <a:latin typeface="Arial"/>
              </a:rPr>
              <a:t>12,375 order updates</a:t>
            </a:r>
          </a:p>
        </p:txBody>
      </p:sp>
      <p:sp>
        <p:nvSpPr>
          <p:cNvPr id="21" name="TextBox 20"/>
          <p:cNvSpPr txBox="1"/>
          <p:nvPr/>
        </p:nvSpPr>
        <p:spPr>
          <a:xfrm>
            <a:off x="838200" y="4242816"/>
            <a:ext cx="4876800" cy="343408"/>
          </a:xfrm>
          <a:prstGeom prst="rect">
            <a:avLst/>
          </a:prstGeom>
          <a:noFill/>
        </p:spPr>
        <p:txBody>
          <a:bodyPr wrap="none" lIns="0" rIns="0" tIns="0" bIns="0" anchor="t">
            <a:spAutoFit/>
          </a:bodyPr>
          <a:lstStyle/>
          <a:p>
            <a:pPr>
              <a:spcBef>
                <a:spcPts val="0"/>
              </a:spcBef>
              <a:spcAft>
                <a:spcPts val="0"/>
              </a:spcAft>
            </a:pPr>
            <a:r>
              <a:rPr sz="1800" b="0">
                <a:solidFill>
                  <a:srgbClr val="516978"/>
                </a:solidFill>
                <a:latin typeface="Arial"/>
              </a:rPr>
              <a:t>6,378 item deletes</a:t>
            </a:r>
          </a:p>
        </p:txBody>
      </p:sp>
      <p:sp>
        <p:nvSpPr>
          <p:cNvPr id="22" name="TextBox 21"/>
          <p:cNvSpPr txBox="1"/>
          <p:nvPr/>
        </p:nvSpPr>
        <p:spPr>
          <a:xfrm>
            <a:off x="838200" y="4535424"/>
            <a:ext cx="4876800" cy="343408"/>
          </a:xfrm>
          <a:prstGeom prst="rect">
            <a:avLst/>
          </a:prstGeom>
          <a:noFill/>
        </p:spPr>
        <p:txBody>
          <a:bodyPr wrap="none" lIns="0" rIns="0" tIns="0" bIns="0" anchor="t">
            <a:spAutoFit/>
          </a:bodyPr>
          <a:lstStyle/>
          <a:p>
            <a:pPr>
              <a:spcBef>
                <a:spcPts val="0"/>
              </a:spcBef>
              <a:spcAft>
                <a:spcPts val="0"/>
              </a:spcAft>
            </a:pPr>
            <a:r>
              <a:rPr sz="1800" b="0">
                <a:solidFill>
                  <a:srgbClr val="516978"/>
                </a:solidFill>
                <a:latin typeface="Arial"/>
              </a:rPr>
              <a:t>Source and Gold results matched.</a:t>
            </a:r>
          </a:p>
        </p:txBody>
      </p:sp>
      <p:sp>
        <p:nvSpPr>
          <p:cNvPr id="23" name="Rounded Rectangle 22"/>
          <p:cNvSpPr/>
          <p:nvPr/>
        </p:nvSpPr>
        <p:spPr>
          <a:xfrm>
            <a:off x="6223000" y="3352800"/>
            <a:ext cx="5359400" cy="21082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23000" y="3352800"/>
            <a:ext cx="50800" cy="21082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600" y="3543300"/>
            <a:ext cx="4927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Temporary Kafka outage</a:t>
            </a:r>
          </a:p>
        </p:txBody>
      </p:sp>
      <p:sp>
        <p:nvSpPr>
          <p:cNvPr id="26" name="TextBox 25"/>
          <p:cNvSpPr txBox="1"/>
          <p:nvPr/>
        </p:nvSpPr>
        <p:spPr>
          <a:xfrm>
            <a:off x="6451600" y="3950208"/>
            <a:ext cx="4927600" cy="343408"/>
          </a:xfrm>
          <a:prstGeom prst="rect">
            <a:avLst/>
          </a:prstGeom>
          <a:noFill/>
        </p:spPr>
        <p:txBody>
          <a:bodyPr wrap="none" lIns="0" rIns="0" tIns="0" bIns="0" anchor="t">
            <a:spAutoFit/>
          </a:bodyPr>
          <a:lstStyle/>
          <a:p>
            <a:pPr>
              <a:spcBef>
                <a:spcPts val="0"/>
              </a:spcBef>
              <a:spcAft>
                <a:spcPts val="0"/>
              </a:spcAft>
            </a:pPr>
            <a:r>
              <a:rPr sz="1800" b="0">
                <a:solidFill>
                  <a:srgbClr val="516978"/>
                </a:solidFill>
                <a:latin typeface="Arial"/>
              </a:rPr>
              <a:t>6,000 events written while offline</a:t>
            </a:r>
          </a:p>
        </p:txBody>
      </p:sp>
      <p:sp>
        <p:nvSpPr>
          <p:cNvPr id="27" name="TextBox 26"/>
          <p:cNvSpPr txBox="1"/>
          <p:nvPr/>
        </p:nvSpPr>
        <p:spPr>
          <a:xfrm>
            <a:off x="6451600" y="4242816"/>
            <a:ext cx="4927600" cy="343408"/>
          </a:xfrm>
          <a:prstGeom prst="rect">
            <a:avLst/>
          </a:prstGeom>
          <a:noFill/>
        </p:spPr>
        <p:txBody>
          <a:bodyPr wrap="none" lIns="0" rIns="0" tIns="0" bIns="0" anchor="t">
            <a:spAutoFit/>
          </a:bodyPr>
          <a:lstStyle/>
          <a:p>
            <a:pPr>
              <a:spcBef>
                <a:spcPts val="0"/>
              </a:spcBef>
              <a:spcAft>
                <a:spcPts val="0"/>
              </a:spcAft>
            </a:pPr>
            <a:r>
              <a:rPr sz="1800" b="0">
                <a:solidFill>
                  <a:srgbClr val="516978"/>
                </a:solidFill>
                <a:latin typeface="Arial"/>
              </a:rPr>
              <a:t>Broker restarted; events recovered</a:t>
            </a:r>
          </a:p>
        </p:txBody>
      </p:sp>
      <p:sp>
        <p:nvSpPr>
          <p:cNvPr id="28" name="TextBox 27"/>
          <p:cNvSpPr txBox="1"/>
          <p:nvPr/>
        </p:nvSpPr>
        <p:spPr>
          <a:xfrm>
            <a:off x="6451600" y="4535424"/>
            <a:ext cx="4927600" cy="343408"/>
          </a:xfrm>
          <a:prstGeom prst="rect">
            <a:avLst/>
          </a:prstGeom>
          <a:noFill/>
        </p:spPr>
        <p:txBody>
          <a:bodyPr wrap="none" lIns="0" rIns="0" tIns="0" bIns="0" anchor="t">
            <a:spAutoFit/>
          </a:bodyPr>
          <a:lstStyle/>
          <a:p>
            <a:pPr>
              <a:spcBef>
                <a:spcPts val="0"/>
              </a:spcBef>
              <a:spcAft>
                <a:spcPts val="0"/>
              </a:spcAft>
            </a:pPr>
            <a:r>
              <a:rPr sz="1800" b="0">
                <a:solidFill>
                  <a:srgbClr val="516978"/>
                </a:solidFill>
                <a:latin typeface="Arial"/>
              </a:rPr>
              <a:t>Spark restart was not needed.</a:t>
            </a:r>
          </a:p>
        </p:txBody>
      </p:sp>
      <p:sp>
        <p:nvSpPr>
          <p:cNvPr id="29" name="TextBox 28"/>
          <p:cNvSpPr txBox="1"/>
          <p:nvPr/>
        </p:nvSpPr>
        <p:spPr>
          <a:xfrm>
            <a:off x="609600" y="5816600"/>
            <a:ext cx="10972800" cy="294640"/>
          </a:xfrm>
          <a:prstGeom prst="rect">
            <a:avLst/>
          </a:prstGeom>
          <a:noFill/>
        </p:spPr>
        <p:txBody>
          <a:bodyPr wrap="none" lIns="0" rIns="0" tIns="0" bIns="0" anchor="t">
            <a:spAutoFit/>
          </a:bodyPr>
          <a:lstStyle/>
          <a:p>
            <a:pPr>
              <a:spcBef>
                <a:spcPts val="0"/>
              </a:spcBef>
              <a:spcAft>
                <a:spcPts val="0"/>
              </a:spcAft>
            </a:pPr>
            <a:r>
              <a:rPr sz="1500" b="1">
                <a:solidFill>
                  <a:srgbClr val="007F78"/>
                </a:solidFill>
                <a:latin typeface="Arial"/>
              </a:rPr>
              <a:t>Recovery used retained volumes and checkpoints. One broker is not a highly available setup.</a:t>
            </a:r>
          </a:p>
        </p:txBody>
      </p:sp>
      <p:cxnSp>
        <p:nvCxnSpPr>
          <p:cNvPr id="30" name="Connector 29"/>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2"/>
              </a:rPr>
              <a:t>Sources: docs/evidence/stress/final-integrity.json | docs/evidence/stress/broker-outage.jsonl</a:t>
            </a:r>
          </a:p>
        </p:txBody>
      </p:sp>
      <p:sp>
        <p:nvSpPr>
          <p:cNvPr id="32" name="TextBox 31"/>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09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HANDOVER</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Delivery summary and next step</a:t>
            </a:r>
          </a:p>
        </p:txBody>
      </p:sp>
      <p:sp>
        <p:nvSpPr>
          <p:cNvPr id="5" name="Rounded Rectangle 4"/>
          <p:cNvSpPr/>
          <p:nvPr/>
        </p:nvSpPr>
        <p:spPr>
          <a:xfrm>
            <a:off x="609600" y="1498600"/>
            <a:ext cx="3454400" cy="22098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09600" y="1498600"/>
            <a:ext cx="50800" cy="22098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200" y="1689100"/>
            <a:ext cx="3022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Delivered</a:t>
            </a:r>
          </a:p>
        </p:txBody>
      </p:sp>
      <p:sp>
        <p:nvSpPr>
          <p:cNvPr id="8" name="TextBox 7"/>
          <p:cNvSpPr txBox="1"/>
          <p:nvPr/>
        </p:nvSpPr>
        <p:spPr>
          <a:xfrm>
            <a:off x="838200" y="2096008"/>
            <a:ext cx="3022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Streaming pipeline</a:t>
            </a:r>
          </a:p>
        </p:txBody>
      </p:sp>
      <p:sp>
        <p:nvSpPr>
          <p:cNvPr id="9" name="TextBox 8"/>
          <p:cNvSpPr txBox="1"/>
          <p:nvPr/>
        </p:nvSpPr>
        <p:spPr>
          <a:xfrm>
            <a:off x="838200" y="2372360"/>
            <a:ext cx="3022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Delta dimensional tables</a:t>
            </a:r>
          </a:p>
        </p:txBody>
      </p:sp>
      <p:sp>
        <p:nvSpPr>
          <p:cNvPr id="10" name="TextBox 9"/>
          <p:cNvSpPr txBox="1"/>
          <p:nvPr/>
        </p:nvSpPr>
        <p:spPr>
          <a:xfrm>
            <a:off x="838200" y="2648712"/>
            <a:ext cx="3022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CLI + code + tests + evidence</a:t>
            </a:r>
          </a:p>
        </p:txBody>
      </p:sp>
      <p:sp>
        <p:nvSpPr>
          <p:cNvPr id="11" name="Rounded Rectangle 10"/>
          <p:cNvSpPr/>
          <p:nvPr/>
        </p:nvSpPr>
        <p:spPr>
          <a:xfrm>
            <a:off x="4368800" y="1498600"/>
            <a:ext cx="3454400" cy="22098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68800" y="1498600"/>
            <a:ext cx="50800" cy="22098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7400" y="1689100"/>
            <a:ext cx="3022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Measured</a:t>
            </a:r>
          </a:p>
        </p:txBody>
      </p:sp>
      <p:sp>
        <p:nvSpPr>
          <p:cNvPr id="14" name="TextBox 13"/>
          <p:cNvSpPr txBox="1"/>
          <p:nvPr/>
        </p:nvSpPr>
        <p:spPr>
          <a:xfrm>
            <a:off x="4597400" y="2096008"/>
            <a:ext cx="3022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Large loads completed</a:t>
            </a:r>
          </a:p>
        </p:txBody>
      </p:sp>
      <p:sp>
        <p:nvSpPr>
          <p:cNvPr id="15" name="TextBox 14"/>
          <p:cNvSpPr txBox="1"/>
          <p:nvPr/>
        </p:nvSpPr>
        <p:spPr>
          <a:xfrm>
            <a:off x="4597400" y="2372360"/>
            <a:ext cx="3022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Gold is the main cost</a:t>
            </a:r>
          </a:p>
        </p:txBody>
      </p:sp>
      <p:sp>
        <p:nvSpPr>
          <p:cNvPr id="16" name="TextBox 15"/>
          <p:cNvSpPr txBox="1"/>
          <p:nvPr/>
        </p:nvSpPr>
        <p:spPr>
          <a:xfrm>
            <a:off x="4597400" y="2648712"/>
            <a:ext cx="3022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Freshness worsens under load</a:t>
            </a:r>
          </a:p>
        </p:txBody>
      </p:sp>
      <p:sp>
        <p:nvSpPr>
          <p:cNvPr id="17" name="Rounded Rectangle 16"/>
          <p:cNvSpPr/>
          <p:nvPr/>
        </p:nvSpPr>
        <p:spPr>
          <a:xfrm>
            <a:off x="8128000" y="1498600"/>
            <a:ext cx="3454400" cy="22098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28000" y="1498600"/>
            <a:ext cx="50800" cy="22098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56600" y="1689100"/>
            <a:ext cx="3022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Next</a:t>
            </a:r>
          </a:p>
        </p:txBody>
      </p:sp>
      <p:sp>
        <p:nvSpPr>
          <p:cNvPr id="20" name="TextBox 19"/>
          <p:cNvSpPr txBox="1"/>
          <p:nvPr/>
        </p:nvSpPr>
        <p:spPr>
          <a:xfrm>
            <a:off x="8356600" y="2096008"/>
            <a:ext cx="3022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Reduce Gold work</a:t>
            </a:r>
          </a:p>
        </p:txBody>
      </p:sp>
      <p:sp>
        <p:nvSpPr>
          <p:cNvPr id="21" name="TextBox 20"/>
          <p:cNvSpPr txBox="1"/>
          <p:nvPr/>
        </p:nvSpPr>
        <p:spPr>
          <a:xfrm>
            <a:off x="8356600" y="2372360"/>
            <a:ext cx="3022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Test real workload and targets</a:t>
            </a:r>
          </a:p>
        </p:txBody>
      </p:sp>
      <p:sp>
        <p:nvSpPr>
          <p:cNvPr id="22" name="TextBox 21"/>
          <p:cNvSpPr txBox="1"/>
          <p:nvPr/>
        </p:nvSpPr>
        <p:spPr>
          <a:xfrm>
            <a:off x="8356600" y="2648712"/>
            <a:ext cx="3022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Then size production resources</a:t>
            </a:r>
          </a:p>
        </p:txBody>
      </p:sp>
      <p:sp>
        <p:nvSpPr>
          <p:cNvPr id="23" name="Rounded Rectangle 22"/>
          <p:cNvSpPr/>
          <p:nvPr/>
        </p:nvSpPr>
        <p:spPr>
          <a:xfrm>
            <a:off x="609600" y="4038600"/>
            <a:ext cx="10972800" cy="889000"/>
          </a:xfrm>
          <a:prstGeom prst="roundRect">
            <a:avLst>
              <a:gd name="adj" fmla="val 12000"/>
            </a:avLst>
          </a:prstGeom>
          <a:solidFill>
            <a:srgbClr val="122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3600" y="4318000"/>
            <a:ext cx="10464800" cy="359664"/>
          </a:xfrm>
          <a:prstGeom prst="rect">
            <a:avLst/>
          </a:prstGeom>
          <a:noFill/>
        </p:spPr>
        <p:txBody>
          <a:bodyPr wrap="none" lIns="0" rIns="0" tIns="0" bIns="0" anchor="t">
            <a:spAutoFit/>
          </a:bodyPr>
          <a:lstStyle/>
          <a:p>
            <a:pPr>
              <a:spcBef>
                <a:spcPts val="0"/>
              </a:spcBef>
              <a:spcAft>
                <a:spcPts val="0"/>
              </a:spcAft>
            </a:pPr>
            <a:r>
              <a:rPr sz="1900" b="0">
                <a:solidFill>
                  <a:srgbClr val="6DE0C6"/>
                </a:solidFill>
                <a:latin typeface="Arial"/>
              </a:rPr>
              <a:t>docker compose run --rm --no-deps query metrics all</a:t>
            </a:r>
          </a:p>
        </p:txBody>
      </p:sp>
      <p:sp>
        <p:nvSpPr>
          <p:cNvPr id="25" name="TextBox 24"/>
          <p:cNvSpPr txBox="1"/>
          <p:nvPr/>
        </p:nvSpPr>
        <p:spPr>
          <a:xfrm>
            <a:off x="609600" y="5283200"/>
            <a:ext cx="10972800" cy="359664"/>
          </a:xfrm>
          <a:prstGeom prst="rect">
            <a:avLst/>
          </a:prstGeom>
          <a:noFill/>
        </p:spPr>
        <p:txBody>
          <a:bodyPr wrap="none" lIns="0" rIns="0" tIns="0" bIns="0" anchor="t">
            <a:spAutoFit/>
          </a:bodyPr>
          <a:lstStyle/>
          <a:p>
            <a:pPr>
              <a:spcBef>
                <a:spcPts val="0"/>
              </a:spcBef>
              <a:spcAft>
                <a:spcPts val="0"/>
              </a:spcAft>
            </a:pPr>
            <a:r>
              <a:rPr sz="1900" b="1">
                <a:solidFill>
                  <a:srgbClr val="183342"/>
                </a:solidFill>
                <a:latin typeface="Arial"/>
              </a:rPr>
              <a:t>Code, run instructions and evidence</a:t>
            </a:r>
          </a:p>
        </p:txBody>
      </p:sp>
      <p:sp>
        <p:nvSpPr>
          <p:cNvPr id="26" name="TextBox 25"/>
          <p:cNvSpPr txBox="1"/>
          <p:nvPr/>
        </p:nvSpPr>
        <p:spPr>
          <a:xfrm>
            <a:off x="609600" y="5740400"/>
            <a:ext cx="10972800" cy="359664"/>
          </a:xfrm>
          <a:prstGeom prst="rect">
            <a:avLst/>
          </a:prstGeom>
          <a:noFill/>
        </p:spPr>
        <p:txBody>
          <a:bodyPr wrap="none" lIns="0" rIns="0" tIns="0" bIns="0" anchor="t">
            <a:spAutoFit/>
          </a:bodyPr>
          <a:lstStyle/>
          <a:p>
            <a:pPr>
              <a:spcBef>
                <a:spcPts val="0"/>
              </a:spcBef>
              <a:spcAft>
                <a:spcPts val="0"/>
              </a:spcAft>
            </a:pPr>
            <a:r>
              <a:rPr sz="1900" b="1">
                <a:solidFill>
                  <a:srgbClr val="007F78"/>
                </a:solidFill>
                <a:latin typeface="Arial"/>
                <a:hlinkClick r:id="rId2"/>
              </a:rPr>
              <a:t>github.com/fabdutra/deel-data-engineering-task</a:t>
            </a:r>
          </a:p>
        </p:txBody>
      </p:sp>
      <p:cxnSp>
        <p:nvCxnSpPr>
          <p:cNvPr id="27" name="Connector 26"/>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3"/>
              </a:rPr>
              <a:t>Sources: README.md | docs/presentation/README.md</a:t>
            </a:r>
          </a:p>
        </p:txBody>
      </p:sp>
      <p:sp>
        <p:nvSpPr>
          <p:cNvPr id="29" name="TextBox 28"/>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ACME Delivery: streaming operational analytics</dc:title>
  <dc:subject>Deel Senior Data Engineer assessment</dc:subject>
  <dc:creator>Fabricio Dutra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
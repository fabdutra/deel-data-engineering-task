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operational problem: ACME needs trustworthy order visibility as demand grows. I built and tested the complete source-to-query path. I will explain the consistency contract first, then the measured performance constraints. The main narrative is approximately 18–20 minutes; the appendix supports technical questions. No business ROI or production SLA is claimed.</a:t>
            </a:r>
          </a:p>
          <a:p/>
          <a:p>
            <a:r>
              <a:t>Evidence: README.md, docs/assessment-deliverables.md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Tie each output to an operational decision. Order counts must not be multiplied by joining to item rows. Pending items expose line count and total units because the wording can otherwise be ambiguous. The output is an operational current-state view, not a claimed business-impact measurement.</a:t>
            </a:r>
          </a:p>
          <a:p/>
          <a:p>
            <a:r>
              <a:t>Evidence: sql/open-orders.sql, sql/pending-items.sql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interpretation before showing results. History is the initial snapshot plus persisted state from earlier batches, not SCD2 or every prior order status. The source fixture is synthetic and continuously updated. The PDF asks for low latency without a numeric SLA; 30 seconds is my experimental reference. Production arrival rates and query-concurrency targets were not supplied.</a:t>
            </a:r>
          </a:p>
          <a:p/>
          <a:p>
            <a:r>
              <a:t>Evidence: docs/assessment-deliverables.md, docs/architecture.md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pg_cron changes PostgreSQL; Debezium snapshots and then tails WAL; Kafka carries four entity topics. Spark has two streams and two persistent checkpoints: Kafka to raw Parquet, then Bronze to foreachBatch. Silver stores ordered current state. Gold joins that historical state and writes facts/dimensions. Only a completed manifest is exposed through the separate Spark SQL CLI. Invalid events block publication and go to quarantine. Both streams share two local slots and one materializer owns the mutable tables. Secrets come from the ignored environment/provider; connector initialization is one-off.</a:t>
            </a:r>
          </a:p>
          <a:p/>
          <a:p>
            <a:r>
              <a:t>Evidence: docs/architecture.md, docker-compose.yaml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order fact is one row per order and is the source for order-count questions. The item fact is one row per item and carries the current parent status, date and customer for filtering. Dimensions are SCD1 with stable source identifiers, not a surrogate-key service. Dates have an unknown key of zero. Parent changes refresh historical children. Customers/products missing from dimensions do not drop operational order facts.</a:t>
            </a:r>
          </a:p>
          <a:p/>
          <a:p>
            <a:r>
              <a:t>Evidence: app/gold.py, docs/architecture.md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Bronze retains the exact Kafka key/value bytes and coordinates, including tombstones. The second stream validates before mutating current-state tables, selects the latest event by LSN/offset and conditionally merges Silver. Gold recomputes affected entities by joining the stored state. Only after all writes succeed is a single Delta manifest published. Most transformations use PySpark DataFrames and Delta merge; serving queries are Spark SQL. The pipeline does not collect business datasets to the driver.</a:t>
            </a:r>
          </a:p>
          <a:p/>
          <a:p>
            <a:r>
              <a:t>Evidence: app/materialize.py, app/storage.py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illustrative sequence to explain the integration test pattern, not as a captured source record. First an order enters by snapshot. Later a new item arrives with no order event in that batch; its parent status/customer/date come from Silver. Later the order completes with no new item events; stored items are refreshed from the parent change. This is why a watermark-based stream-stream window join would be the wrong contract for long-lived operational orders.</a:t>
            </a:r>
          </a:p>
          <a:p/>
          <a:p>
            <a:r>
              <a:t>Evidence: app/gold.py, docs/evidence/historical-join-tests.log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choices as tradeoffs. Parquet Bronze is append-only raw event preservation; Delta is reserved for mutable current state and dimensional tables. Native checkpoints/metadata must remain intact. The publication manifest provides consistent supported reads but not global source transaction buffering. CLI is an allowed assessment serving option, with a documented cold-start/concurrency cost. Avoid presenting the local plaintext network or a single Kafka broker as production security or availability.</a:t>
            </a:r>
          </a:p>
          <a:p/>
          <a:p>
            <a:r>
              <a:t>Evidence: docs/architecture.md, README.md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local[2] is two task slots sharing one driver JVM, not two executors. Heap is 2 GiB and the container cap is 3 GiB. Four shuffle partitions are a measured starting configuration, not an optimum from an exhaustive A/B study. Both streams compete for these slots. Variables include actual event rate/bytes, historical target size, mutation mix, parent fanout, file layout and desired recovery/freshness. Production must separately size executors and driver on shared durable storage.</a:t>
            </a:r>
          </a:p>
          <a:p/>
          <a:p>
            <a:r>
              <a:t>Evidence: docs/performance.md, docker-compose.yaml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 evidence types. Real Spark/Delta integration tests cover ordering, duplicate events, deletes, late parents, invalid events and crash/replay. PostgreSQL is an independent oracle for all four business metrics. Bulk materialization is measured independently from Kafka/Bronze and full CDC load. Physical checks compare Kafka coordinates and published input counts. There is one execution per stress scenario and approximately two-minute arrival steps, not a statistically certified soak. Captured result files are actual outputs, not fabricated screenshots.</a:t>
            </a:r>
          </a:p>
          <a:p/>
          <a:p>
            <a:r>
              <a:t>Evidence: tests/test_pipeline.py, docs/evidence/README.md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initial materialization grows from 40.6 to 139.2 to 370.5 seconds across roughly 0.6, 3 and 6 million events. Timings exclude Spark initialization, separate Bronze writing and later verification. Gold takes 232.5 seconds, approximately 63% of the largest initial load. Task disk spill is 846 MB across the complete largest application, not just this plotted initial phase. The cgroup probe reaches approximately its cap without OOM. Do not reuse bulk events/s as a streaming capacity promise.</a:t>
            </a:r>
          </a:p>
          <a:p/>
          <a:p>
            <a:r>
              <a:t>Evidence: docs/evidence/stress/materialization.json, docs/evidence/stress/scale-1m-spark-metrics.json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x-axis uses measured arrival rates: 235, 954, 2356 and 2587 events/s. The nominal 6000 events/s target was not achieved. Each age p95 is computed within a batch from source timestamps, excluding snapshot. The plotted median/maximum of batch p95 values is not a global event p95. Above about 2000 events/s, the original intake cap contributes growing lag. Even the smallest stage has a batch p95 above the chosen 30-second reference. Backlogs drain after load stops, but that is different from preserving freshness while arrivals continue.</a:t>
            </a:r>
          </a:p>
          <a:p/>
          <a:p>
            <a:r>
              <a:t>Evidence: docs/evidence/stress/streaming-levels.json, docs/evidence/stress/streaming-batches.json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independent comparisons of all four business metrics passed: after load, after 12375 parent updates and 6378 item deletes, and after broker recovery. Final Kafka offsets, raw Bronze rows/unique coordinates and successfully published raw input counts all agree at 774001. These are event coordinates, not unique business entities. The broker was stopped, 6000 source events committed, and the supervisor restarted Kafka. 53.5 seconds includes stop/wait/start/process/poll; Spark did not need a restart. This proves temporary outage recovery with retained volumes, not HA or disk-loss recovery.</a:t>
            </a:r>
          </a:p>
          <a:p/>
          <a:p>
            <a:r>
              <a:t>Evidence: docs/evidence/stress/final-integrity.json, docs/evidence/stress/broker-outage.jsonl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Separate implemented behavior from proposed production changes. First measure retained-target scans and Gold merge/layout costs, including the expensive date-dimension work. Then compare memory, task sizes and partitions under a defined freshness objective. Decouple ingestion/materialization resources when competition is the constraint. Production needs object/shared storage and replicated Kafka with security/monitoring. A single parent updating a million children took 14.1 seconds, illustrating why offsets alone do not size work. No claimed fixed executor count follows from this local run.</a:t>
            </a:r>
          </a:p>
          <a:p/>
          <a:p>
            <a:r>
              <a:t>Evidence: docs/performance-stress.md, docs/performance.md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the core narrative with a clear handover. The repository contains application code, SQL, Docker, tests, measured evidence, documentation and the source for this presentation. The standard source creates and mutates data automatically. During a demo, wait for the published-batch log before querying and point out the manifest timestamp. Distinguish data freshness from a fresh JVM cold start. The optional technical appendix follows. Do not run benchmarks alongside the demo on the small VM.</a:t>
            </a:r>
          </a:p>
          <a:p/>
          <a:p>
            <a:r>
              <a:t>Evidence: README.md, docs/evidence/README.md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Silver orders every entity by primary key plus PostgreSQL LSN and Kafka offset. The per-key partition-ordering assumption must be preserved during topic changes. Deletes use logical markers that retain ordering so stale updates cannot resurrect data. Kafka null-value tombstones are preserved in Bronze and do not delete a second time. Customer/product dimensions are SCD1; facts exclude logical deletions in supported queries. Date members are merged by date key and retained. Missing parents are retained in Silver and repaired when the parent arrives.</a:t>
            </a:r>
          </a:p>
          <a:p/>
          <a:p>
            <a:r>
              <a:t>Evidence: app/cdc.py, app/storage.py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Delta transaction is per table. The manifest is the cross-table read contract: capture it once and use versionAsOf for each Gold table. If a batch fails after Silver or some Gold writes, the old manifest remains readable and replay converges from authoritative Silver. After publication, readers can see the new complete versions. Quarantine blocks the batch until parser/validation is corrected; a later source correction does not skip an invalid retained event. Kafka failOnDataLoss is true and source transactions may be split across topic batches.</a:t>
            </a:r>
          </a:p>
          <a:p/>
          <a:p>
            <a:r>
              <a:t>Evidence: app/materialize.py, app/metrics.py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Ingestion uses a separate two-partition synthetic topic and no Gold work. With the same checkpoint/resources, a 250000-record, 500-byte burst drains in 127.8 seconds at 20000 offsets and 20.9 seconds at 200000 offsets. Payloads are synthetic and do not guarantee realistic compression, so this is not broker disk saturation. Query concurrency tests use fresh separate JVMs, a quiet source and a live pipeline; each executes four metrics plus two checks. They show cold-start/contention cost, not peak interactive throughput under maximum writes.</a:t>
            </a:r>
          </a:p>
          <a:p/>
          <a:p>
            <a:r>
              <a:t>Evidence: docs/evidence/stress/bronze-load-levels.jsonl, docs/evidence/stress/query-concurrency.jsonl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as summed task measurements across each complete application. CPU/run time can exceed wall time, and task GC accounting can overlap. Memory spill is an estimated deserialized volume, not extra physical RAM. The table mixes stages, so its global task p95 is not proof of skew. The streaming run had 11487 task attempts with no failures and no task spill; that does not contradict the large offline fixture spilling because its admitted working set is very different. The cgroup sample records 673 memory-limit events and no OOM.</a:t>
            </a:r>
          </a:p>
          <a:p/>
          <a:p>
            <a:r>
              <a:t>Evidence: docs/evidence/stress/scale-1m-spark-metrics.json, docs/evidence/stress/online-spark-metrics.json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values are selected from the retained actual query JSON, not a screenshot or a simulated live UI. The publication is batch 39 with pinned Gold versions. Show one row from each of the four metrics; the complete result remains linked. This synthetic load deliberately concentrates new orders on customer 1 and product 1, so the top-customer/product distribution is not representative production demand. All four metrics were compared independently with PostgreSQL.</a:t>
            </a:r>
          </a:p>
          <a:p/>
          <a:p>
            <a:r>
              <a:t>Evidence: docs/evidence/stress/query-output.json, docs/evidence/stress/reconciliation.jsonl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ready to explain the gaps without overclaiming. This is a complete assessment implementation, not production certification. Historical semantics, atomicity and single-writer constraints are deliberate. Arrival-rate steps are short and pauses affect actual rates; the nominal 6000 target was not attained. Batch age quantiles are not event-global p95. Snapshot replay emitted the initial 185 records twice; raw coordinates and business reconciliation still matched. A minimum heap, optimum partitions or independently saturated source/broker capacity were not established.</a:t>
            </a:r>
          </a:p>
          <a:p/>
          <a:p>
            <a:r>
              <a:t>Evidence: docs/performance-stress.md, docs/assessment-deliverables.md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Finish technical discussion by pointing to the reviewer index in README. All underlying implementation and retained evidence are in the private repository. This presentation has a reproducible source generator, pinned dependencies, exported outline/English speaker notes and a SHA-256 manifest of inputs/outputs. The private Portuguese study guide is intentionally not part of the submission. Rebuilding the deck uses existing evidence and does not start Docker or rerun the historical performance campaign.</a:t>
            </a:r>
          </a:p>
          <a:p/>
          <a:p>
            <a:r>
              <a:t>Evidence: docs/assessment-deliverables.md, docs/evidence/README.md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fabdutra/deel-data-engineering-task/blob/main/README.md"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fabdutra/deel-data-engineering-task/blob/main/sql/open-orders.sql"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fabdutra/deel-data-engineering-task/blob/main/docs/assessment-deliverables.md"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fabdutra/deel-data-engineering-task/blob/main/docs/architecture.md"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fabdutra/deel-data-engineering-task/blob/main/app/gold.py"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fabdutra/deel-data-engineering-task/blob/main/app/materialize.py"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fabdutra/deel-data-engineering-task/blob/main/app/gold.py"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fabdutra/deel-data-engineering-task/blob/main/docs/architecture.md"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fabdutra/deel-data-engineering-task/blob/main/docs/performance.md" TargetMode="Externa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fabdutra/deel-data-engineering-task/blob/main/tests/test_pipeline.py" TargetMode="Externa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github.com/fabdutra/deel-data-engineering-task/blob/main/docs/evidence/stress/materialization.json"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github.com/fabdutra/deel-data-engineering-task/blob/main/docs/evidence/stress/streaming-levels.json"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fabdutra/deel-data-engineering-task/blob/main/docs/evidence/stress/final-integrity.json" TargetMode="Externa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fabdutra/deel-data-engineering-task/blob/main/docs/performance-stress.md" TargetMode="Externa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fabdutra/deel-data-engineering-task" TargetMode="External"/><Relationship Id="rId3" Type="http://schemas.openxmlformats.org/officeDocument/2006/relationships/hyperlink" Target="https://github.com/fabdutra/deel-data-engineering-task/blob/main/README.md"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fabdutra/deel-data-engineering-task/blob/main/app/cdc.py" TargetMode="Externa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fabdutra/deel-data-engineering-task/blob/main/app/materialize.py" TargetMode="Externa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fabdutra/deel-data-engineering-task/blob/main/docs/evidence/stress/bronze-load-levels.jsonl" TargetMode="Externa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fabdutra/deel-data-engineering-task/blob/main/docs/evidence/stress/scale-1m-spark-metrics.json" TargetMode="Externa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fabdutra/deel-data-engineering-task/blob/main/docs/evidence/stress/query-output.json" TargetMode="Externa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fabdutra/deel-data-engineering-task/blob/main/docs/performance-stress.md" TargetMode="Externa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fabdutra/deel-data-engineering-task/blob/main/README.md" TargetMode="External"/><Relationship Id="rId3" Type="http://schemas.openxmlformats.org/officeDocument/2006/relationships/hyperlink" Target="https://github.com/fabdutra/deel-data-engineering-task/blob/main/docker-compose.yaml" TargetMode="External"/><Relationship Id="rId4" Type="http://schemas.openxmlformats.org/officeDocument/2006/relationships/hyperlink" Target="https://github.com/fabdutra/deel-data-engineering-task/blob/main/docs/architecture.md" TargetMode="External"/><Relationship Id="rId5" Type="http://schemas.openxmlformats.org/officeDocument/2006/relationships/hyperlink" Target="https://github.com/fabdutra/deel-data-engineering-task/blob/main/docs/performance-stress.md" TargetMode="External"/><Relationship Id="rId6" Type="http://schemas.openxmlformats.org/officeDocument/2006/relationships/hyperlink" Target="https://github.com/fabdutra/deel-data-engineering-task/blob/main/scripts/stress/README.md" TargetMode="External"/><Relationship Id="rId7" Type="http://schemas.openxmlformats.org/officeDocument/2006/relationships/hyperlink" Target="https://github.com/fabdutra/deel-data-engineering-task/blob/main/scripts/presentation/build.py" TargetMode="External"/><Relationship Id="rId8" Type="http://schemas.openxmlformats.org/officeDocument/2006/relationships/hyperlink" Target="https://github.com/fabdutra/deel-data-engineering-task" TargetMode="External"/><Relationship Id="rId9" Type="http://schemas.openxmlformats.org/officeDocument/2006/relationships/hyperlink" Target="https://github.com/fabdutra/deel-data-engineering-task/blob/main/docs/assessment-deliverables.md" TargetMode="External"/><Relationship Id="rId10" Type="http://schemas.openxmlformats.org/officeDocument/2006/relationships/notesSlide" Target="../notesSlides/notesSlide2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122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571500"/>
            <a:ext cx="10668000" cy="245872"/>
          </a:xfrm>
          <a:prstGeom prst="rect">
            <a:avLst/>
          </a:prstGeom>
          <a:noFill/>
        </p:spPr>
        <p:txBody>
          <a:bodyPr wrap="none" lIns="0" rIns="0" tIns="0" bIns="0" anchor="t">
            <a:spAutoFit/>
          </a:bodyPr>
          <a:lstStyle/>
          <a:p>
            <a:pPr>
              <a:spcBef>
                <a:spcPts val="0"/>
              </a:spcBef>
              <a:spcAft>
                <a:spcPts val="0"/>
              </a:spcAft>
            </a:pPr>
            <a:r>
              <a:rPr sz="1200" b="1">
                <a:solidFill>
                  <a:srgbClr val="6DE0C6"/>
                </a:solidFill>
                <a:latin typeface="Arial"/>
              </a:rPr>
              <a:t>DEEL / SENIOR DATA ENGINEER ASSESSMENT</a:t>
            </a:r>
          </a:p>
        </p:txBody>
      </p:sp>
      <p:sp>
        <p:nvSpPr>
          <p:cNvPr id="4" name="TextBox 3"/>
          <p:cNvSpPr txBox="1"/>
          <p:nvPr/>
        </p:nvSpPr>
        <p:spPr>
          <a:xfrm>
            <a:off x="609600" y="1625600"/>
            <a:ext cx="10922000" cy="698500"/>
          </a:xfrm>
          <a:prstGeom prst="rect">
            <a:avLst/>
          </a:prstGeom>
          <a:noFill/>
        </p:spPr>
        <p:txBody>
          <a:bodyPr wrap="none" lIns="0" rIns="0" tIns="0" bIns="0" anchor="t">
            <a:spAutoFit/>
          </a:bodyPr>
          <a:lstStyle/>
          <a:p>
            <a:pPr>
              <a:spcBef>
                <a:spcPts val="0"/>
              </a:spcBef>
              <a:spcAft>
                <a:spcPts val="0"/>
              </a:spcAft>
            </a:pPr>
            <a:r>
              <a:rPr sz="4300" b="1">
                <a:solidFill>
                  <a:srgbClr val="FFFFFF"/>
                </a:solidFill>
                <a:latin typeface="Arial"/>
              </a:rPr>
              <a:t>From operational CDC</a:t>
            </a:r>
          </a:p>
        </p:txBody>
      </p:sp>
      <p:sp>
        <p:nvSpPr>
          <p:cNvPr id="5" name="TextBox 4"/>
          <p:cNvSpPr txBox="1"/>
          <p:nvPr/>
        </p:nvSpPr>
        <p:spPr>
          <a:xfrm>
            <a:off x="609600" y="2273300"/>
            <a:ext cx="10922000" cy="698500"/>
          </a:xfrm>
          <a:prstGeom prst="rect">
            <a:avLst/>
          </a:prstGeom>
          <a:noFill/>
        </p:spPr>
        <p:txBody>
          <a:bodyPr wrap="none" lIns="0" rIns="0" tIns="0" bIns="0" anchor="t">
            <a:spAutoFit/>
          </a:bodyPr>
          <a:lstStyle/>
          <a:p>
            <a:pPr>
              <a:spcBef>
                <a:spcPts val="0"/>
              </a:spcBef>
              <a:spcAft>
                <a:spcPts val="0"/>
              </a:spcAft>
            </a:pPr>
            <a:r>
              <a:rPr sz="4300" b="1">
                <a:solidFill>
                  <a:srgbClr val="FFFFFF"/>
                </a:solidFill>
                <a:latin typeface="Arial"/>
              </a:rPr>
              <a:t>to trusted analytics</a:t>
            </a:r>
          </a:p>
        </p:txBody>
      </p:sp>
      <p:sp>
        <p:nvSpPr>
          <p:cNvPr id="6" name="TextBox 5"/>
          <p:cNvSpPr txBox="1"/>
          <p:nvPr/>
        </p:nvSpPr>
        <p:spPr>
          <a:xfrm>
            <a:off x="635000" y="3289300"/>
            <a:ext cx="10477500" cy="424688"/>
          </a:xfrm>
          <a:prstGeom prst="rect">
            <a:avLst/>
          </a:prstGeom>
          <a:noFill/>
        </p:spPr>
        <p:txBody>
          <a:bodyPr wrap="none" lIns="0" rIns="0" tIns="0" bIns="0" anchor="t">
            <a:spAutoFit/>
          </a:bodyPr>
          <a:lstStyle/>
          <a:p>
            <a:pPr>
              <a:spcBef>
                <a:spcPts val="0"/>
              </a:spcBef>
              <a:spcAft>
                <a:spcPts val="0"/>
              </a:spcAft>
            </a:pPr>
            <a:r>
              <a:rPr sz="2300" b="0">
                <a:solidFill>
                  <a:srgbClr val="D2E4EC"/>
                </a:solidFill>
                <a:latin typeface="Arial"/>
              </a:rPr>
              <a:t>A measured Spark Structured Streaming platform</a:t>
            </a:r>
          </a:p>
        </p:txBody>
      </p:sp>
      <p:sp>
        <p:nvSpPr>
          <p:cNvPr id="7" name="TextBox 6"/>
          <p:cNvSpPr txBox="1"/>
          <p:nvPr/>
        </p:nvSpPr>
        <p:spPr>
          <a:xfrm>
            <a:off x="635000" y="3663188"/>
            <a:ext cx="10477500" cy="424688"/>
          </a:xfrm>
          <a:prstGeom prst="rect">
            <a:avLst/>
          </a:prstGeom>
          <a:noFill/>
        </p:spPr>
        <p:txBody>
          <a:bodyPr wrap="none" lIns="0" rIns="0" tIns="0" bIns="0" anchor="t">
            <a:spAutoFit/>
          </a:bodyPr>
          <a:lstStyle/>
          <a:p>
            <a:pPr>
              <a:spcBef>
                <a:spcPts val="0"/>
              </a:spcBef>
              <a:spcAft>
                <a:spcPts val="0"/>
              </a:spcAft>
            </a:pPr>
            <a:r>
              <a:rPr sz="2300" b="0">
                <a:solidFill>
                  <a:srgbClr val="D2E4EC"/>
                </a:solidFill>
                <a:latin typeface="Arial"/>
              </a:rPr>
              <a:t>for ACME Delivery Services</a:t>
            </a:r>
          </a:p>
        </p:txBody>
      </p:sp>
      <p:sp>
        <p:nvSpPr>
          <p:cNvPr id="8" name="TextBox 7"/>
          <p:cNvSpPr txBox="1"/>
          <p:nvPr/>
        </p:nvSpPr>
        <p:spPr>
          <a:xfrm>
            <a:off x="635000" y="4584700"/>
            <a:ext cx="10414000" cy="375920"/>
          </a:xfrm>
          <a:prstGeom prst="rect">
            <a:avLst/>
          </a:prstGeom>
          <a:noFill/>
        </p:spPr>
        <p:txBody>
          <a:bodyPr wrap="none" lIns="0" rIns="0" tIns="0" bIns="0" anchor="t">
            <a:spAutoFit/>
          </a:bodyPr>
          <a:lstStyle/>
          <a:p>
            <a:pPr>
              <a:spcBef>
                <a:spcPts val="0"/>
              </a:spcBef>
              <a:spcAft>
                <a:spcPts val="0"/>
              </a:spcAft>
            </a:pPr>
            <a:r>
              <a:rPr sz="2000" b="1">
                <a:solidFill>
                  <a:srgbClr val="FFFFFF"/>
                </a:solidFill>
                <a:latin typeface="Arial"/>
              </a:rPr>
              <a:t>Fabricio Dutra</a:t>
            </a:r>
          </a:p>
        </p:txBody>
      </p:sp>
      <p:sp>
        <p:nvSpPr>
          <p:cNvPr id="9" name="TextBox 8"/>
          <p:cNvSpPr txBox="1"/>
          <p:nvPr/>
        </p:nvSpPr>
        <p:spPr>
          <a:xfrm>
            <a:off x="635000" y="4991100"/>
            <a:ext cx="10414000" cy="294640"/>
          </a:xfrm>
          <a:prstGeom prst="rect">
            <a:avLst/>
          </a:prstGeom>
          <a:noFill/>
        </p:spPr>
        <p:txBody>
          <a:bodyPr wrap="none" lIns="0" rIns="0" tIns="0" bIns="0" anchor="t">
            <a:spAutoFit/>
          </a:bodyPr>
          <a:lstStyle/>
          <a:p>
            <a:pPr>
              <a:spcBef>
                <a:spcPts val="0"/>
              </a:spcBef>
              <a:spcAft>
                <a:spcPts val="0"/>
              </a:spcAft>
            </a:pPr>
            <a:r>
              <a:rPr sz="1500" b="0">
                <a:solidFill>
                  <a:srgbClr val="B2CAD5"/>
                </a:solidFill>
                <a:latin typeface="Arial"/>
              </a:rPr>
              <a:t>Architecture • methodology • sizing • evidence</a:t>
            </a:r>
          </a:p>
        </p:txBody>
      </p:sp>
      <p:sp>
        <p:nvSpPr>
          <p:cNvPr id="10" name="TextBox 9"/>
          <p:cNvSpPr txBox="1"/>
          <p:nvPr/>
        </p:nvSpPr>
        <p:spPr>
          <a:xfrm>
            <a:off x="635000" y="5702300"/>
            <a:ext cx="10414000" cy="310896"/>
          </a:xfrm>
          <a:prstGeom prst="rect">
            <a:avLst/>
          </a:prstGeom>
          <a:noFill/>
        </p:spPr>
        <p:txBody>
          <a:bodyPr wrap="none" lIns="0" rIns="0" tIns="0" bIns="0" anchor="t">
            <a:spAutoFit/>
          </a:bodyPr>
          <a:lstStyle/>
          <a:p>
            <a:pPr>
              <a:spcBef>
                <a:spcPts val="0"/>
              </a:spcBef>
              <a:spcAft>
                <a:spcPts val="0"/>
              </a:spcAft>
            </a:pPr>
            <a:r>
              <a:rPr sz="1600" b="1">
                <a:solidFill>
                  <a:srgbClr val="6DE0C6"/>
                </a:solidFill>
                <a:latin typeface="Arial"/>
              </a:rPr>
              <a:t>Implemented end to end. Tested for correctness, load and recovery.</a:t>
            </a:r>
          </a:p>
        </p:txBody>
      </p:sp>
      <p:cxnSp>
        <p:nvCxnSpPr>
          <p:cNvPr id="11" name="Connector 10"/>
          <p:cNvCxnSpPr/>
          <p:nvPr/>
        </p:nvCxnSpPr>
        <p:spPr>
          <a:xfrm>
            <a:off x="609600" y="6324600"/>
            <a:ext cx="10972800" cy="0"/>
          </a:xfrm>
          <a:prstGeom prst="line">
            <a:avLst/>
          </a:prstGeom>
          <a:ln w="8890">
            <a:solidFill>
              <a:srgbClr val="375361"/>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09600" y="6451600"/>
            <a:ext cx="10058400" cy="198729"/>
          </a:xfrm>
          <a:prstGeom prst="rect">
            <a:avLst/>
          </a:prstGeom>
          <a:noFill/>
        </p:spPr>
        <p:txBody>
          <a:bodyPr wrap="none" lIns="0" rIns="0" tIns="0" bIns="0" anchor="t">
            <a:spAutoFit/>
          </a:bodyPr>
          <a:lstStyle/>
          <a:p>
            <a:pPr>
              <a:spcBef>
                <a:spcPts val="0"/>
              </a:spcBef>
              <a:spcAft>
                <a:spcPts val="0"/>
              </a:spcAft>
            </a:pPr>
            <a:r>
              <a:rPr sz="910" b="0">
                <a:solidFill>
                  <a:srgbClr val="B2CAD5"/>
                </a:solidFill>
                <a:latin typeface="Arial"/>
                <a:hlinkClick r:id="rId2"/>
              </a:rPr>
              <a:t>Sources: README.md | docs/assessment-deliverables.md</a:t>
            </a:r>
          </a:p>
        </p:txBody>
      </p:sp>
      <p:sp>
        <p:nvSpPr>
          <p:cNvPr id="13" name="TextBox 12"/>
          <p:cNvSpPr txBox="1"/>
          <p:nvPr/>
        </p:nvSpPr>
        <p:spPr>
          <a:xfrm>
            <a:off x="10985500" y="6451600"/>
            <a:ext cx="609600" cy="213360"/>
          </a:xfrm>
          <a:prstGeom prst="rect">
            <a:avLst/>
          </a:prstGeom>
          <a:noFill/>
        </p:spPr>
        <p:txBody>
          <a:bodyPr wrap="none" lIns="0" rIns="0" tIns="0" bIns="0" anchor="t">
            <a:spAutoFit/>
          </a:bodyPr>
          <a:lstStyle/>
          <a:p>
            <a:pPr>
              <a:spcBef>
                <a:spcPts val="0"/>
              </a:spcBef>
              <a:spcAft>
                <a:spcPts val="0"/>
              </a:spcAft>
            </a:pPr>
            <a:r>
              <a:rPr sz="1000" b="1">
                <a:solidFill>
                  <a:srgbClr val="B2CAD5"/>
                </a:solidFill>
                <a:latin typeface="Arial"/>
              </a:rPr>
              <a:t>01 /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42900"/>
            <a:ext cx="10972800" cy="213360"/>
          </a:xfrm>
          <a:prstGeom prst="rect">
            <a:avLst/>
          </a:prstGeom>
          <a:noFill/>
        </p:spPr>
        <p:txBody>
          <a:bodyPr wrap="none" lIns="0" rIns="0" tIns="0" bIns="0" anchor="t">
            <a:spAutoFit/>
          </a:bodyPr>
          <a:lstStyle/>
          <a:p>
            <a:pPr>
              <a:spcBef>
                <a:spcPts val="0"/>
              </a:spcBef>
              <a:spcAft>
                <a:spcPts val="0"/>
              </a:spcAft>
            </a:pPr>
            <a:r>
              <a:rPr sz="1000" b="1">
                <a:solidFill>
                  <a:srgbClr val="007F78"/>
                </a:solidFill>
                <a:latin typeface="Arial"/>
              </a:rPr>
              <a:t>BUSINESS OUTCOME</a:t>
            </a:r>
          </a:p>
        </p:txBody>
      </p:sp>
      <p:sp>
        <p:nvSpPr>
          <p:cNvPr id="4" name="TextBox 3"/>
          <p:cNvSpPr txBox="1"/>
          <p:nvPr/>
        </p:nvSpPr>
        <p:spPr>
          <a:xfrm>
            <a:off x="609600" y="673100"/>
            <a:ext cx="10972800" cy="505968"/>
          </a:xfrm>
          <a:prstGeom prst="rect">
            <a:avLst/>
          </a:prstGeom>
          <a:noFill/>
        </p:spPr>
        <p:txBody>
          <a:bodyPr wrap="none" lIns="0" rIns="0" tIns="0" bIns="0" anchor="t">
            <a:spAutoFit/>
          </a:bodyPr>
          <a:lstStyle/>
          <a:p>
            <a:pPr>
              <a:spcBef>
                <a:spcPts val="0"/>
              </a:spcBef>
              <a:spcAft>
                <a:spcPts val="0"/>
              </a:spcAft>
            </a:pPr>
            <a:r>
              <a:rPr sz="2800" b="1">
                <a:solidFill>
                  <a:srgbClr val="122B3B"/>
                </a:solidFill>
                <a:latin typeface="Arial"/>
              </a:rPr>
              <a:t>Four questions drive the platform</a:t>
            </a:r>
          </a:p>
        </p:txBody>
      </p:sp>
      <p:sp>
        <p:nvSpPr>
          <p:cNvPr id="5" name="Rounded Rectangle 4"/>
          <p:cNvSpPr/>
          <p:nvPr/>
        </p:nvSpPr>
        <p:spPr>
          <a:xfrm>
            <a:off x="609600" y="1473200"/>
            <a:ext cx="5308600" cy="17145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1473200"/>
            <a:ext cx="50800" cy="17145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1663700"/>
            <a:ext cx="48768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01 Open orders</a:t>
            </a:r>
          </a:p>
        </p:txBody>
      </p:sp>
      <p:sp>
        <p:nvSpPr>
          <p:cNvPr id="8" name="TextBox 7"/>
          <p:cNvSpPr txBox="1"/>
          <p:nvPr/>
        </p:nvSpPr>
        <p:spPr>
          <a:xfrm>
            <a:off x="838200" y="2070608"/>
            <a:ext cx="48768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By delivery date and status</a:t>
            </a:r>
          </a:p>
        </p:txBody>
      </p:sp>
      <p:sp>
        <p:nvSpPr>
          <p:cNvPr id="9" name="TextBox 8"/>
          <p:cNvSpPr txBox="1"/>
          <p:nvPr/>
        </p:nvSpPr>
        <p:spPr>
          <a:xfrm>
            <a:off x="838200" y="2330704"/>
            <a:ext cx="48768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Support workload planning.</a:t>
            </a:r>
          </a:p>
        </p:txBody>
      </p:sp>
      <p:sp>
        <p:nvSpPr>
          <p:cNvPr id="10" name="Rounded Rectangle 9"/>
          <p:cNvSpPr/>
          <p:nvPr/>
        </p:nvSpPr>
        <p:spPr>
          <a:xfrm>
            <a:off x="6223000" y="1473200"/>
            <a:ext cx="5359400" cy="17145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23000" y="1473200"/>
            <a:ext cx="50800" cy="17145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51600" y="1663700"/>
            <a:ext cx="49276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02 Top delivery dates</a:t>
            </a:r>
          </a:p>
        </p:txBody>
      </p:sp>
      <p:sp>
        <p:nvSpPr>
          <p:cNvPr id="13" name="TextBox 12"/>
          <p:cNvSpPr txBox="1"/>
          <p:nvPr/>
        </p:nvSpPr>
        <p:spPr>
          <a:xfrm>
            <a:off x="6451600" y="2070608"/>
            <a:ext cx="49276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The three dates with most open orders</a:t>
            </a:r>
          </a:p>
        </p:txBody>
      </p:sp>
      <p:sp>
        <p:nvSpPr>
          <p:cNvPr id="14" name="TextBox 13"/>
          <p:cNvSpPr txBox="1"/>
          <p:nvPr/>
        </p:nvSpPr>
        <p:spPr>
          <a:xfrm>
            <a:off x="6451600" y="2330704"/>
            <a:ext cx="49276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Identify delivery-day concentration.</a:t>
            </a:r>
          </a:p>
        </p:txBody>
      </p:sp>
      <p:sp>
        <p:nvSpPr>
          <p:cNvPr id="15" name="Rounded Rectangle 14"/>
          <p:cNvSpPr/>
          <p:nvPr/>
        </p:nvSpPr>
        <p:spPr>
          <a:xfrm>
            <a:off x="609600" y="3441700"/>
            <a:ext cx="5308600" cy="17145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9600" y="3441700"/>
            <a:ext cx="50800" cy="17145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8200" y="3632200"/>
            <a:ext cx="48768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03 Pending items</a:t>
            </a:r>
          </a:p>
        </p:txBody>
      </p:sp>
      <p:sp>
        <p:nvSpPr>
          <p:cNvPr id="18" name="TextBox 17"/>
          <p:cNvSpPr txBox="1"/>
          <p:nvPr/>
        </p:nvSpPr>
        <p:spPr>
          <a:xfrm>
            <a:off x="838200" y="4039108"/>
            <a:ext cx="48768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By product: item lines and total units</a:t>
            </a:r>
          </a:p>
        </p:txBody>
      </p:sp>
      <p:sp>
        <p:nvSpPr>
          <p:cNvPr id="19" name="TextBox 18"/>
          <p:cNvSpPr txBox="1"/>
          <p:nvPr/>
        </p:nvSpPr>
        <p:spPr>
          <a:xfrm>
            <a:off x="838200" y="4299204"/>
            <a:ext cx="48768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Support picking and storage priorities.</a:t>
            </a:r>
          </a:p>
        </p:txBody>
      </p:sp>
      <p:sp>
        <p:nvSpPr>
          <p:cNvPr id="20" name="Rounded Rectangle 19"/>
          <p:cNvSpPr/>
          <p:nvPr/>
        </p:nvSpPr>
        <p:spPr>
          <a:xfrm>
            <a:off x="6223000" y="3441700"/>
            <a:ext cx="5359400" cy="17145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23000" y="3441700"/>
            <a:ext cx="50800" cy="17145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51600" y="3632200"/>
            <a:ext cx="49276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04 Top customers</a:t>
            </a:r>
          </a:p>
        </p:txBody>
      </p:sp>
      <p:sp>
        <p:nvSpPr>
          <p:cNvPr id="23" name="TextBox 22"/>
          <p:cNvSpPr txBox="1"/>
          <p:nvPr/>
        </p:nvSpPr>
        <p:spPr>
          <a:xfrm>
            <a:off x="6451600" y="4039108"/>
            <a:ext cx="49276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The three customers with most pending orders</a:t>
            </a:r>
          </a:p>
        </p:txBody>
      </p:sp>
      <p:sp>
        <p:nvSpPr>
          <p:cNvPr id="24" name="TextBox 23"/>
          <p:cNvSpPr txBox="1"/>
          <p:nvPr/>
        </p:nvSpPr>
        <p:spPr>
          <a:xfrm>
            <a:off x="6451600" y="4299204"/>
            <a:ext cx="49276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Prioritize operational follow-up.</a:t>
            </a:r>
          </a:p>
        </p:txBody>
      </p:sp>
      <p:sp>
        <p:nvSpPr>
          <p:cNvPr id="25" name="TextBox 24"/>
          <p:cNvSpPr txBox="1"/>
          <p:nvPr/>
        </p:nvSpPr>
        <p:spPr>
          <a:xfrm>
            <a:off x="609600" y="5562600"/>
            <a:ext cx="109728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Definition: PENDING, PROCESSING and REPROCESSING are open; COMPLETED is excluded.</a:t>
            </a:r>
          </a:p>
        </p:txBody>
      </p:sp>
      <p:cxnSp>
        <p:nvCxnSpPr>
          <p:cNvPr id="26" name="Connector 25"/>
          <p:cNvCxnSpPr/>
          <p:nvPr/>
        </p:nvCxnSpPr>
        <p:spPr>
          <a:xfrm>
            <a:off x="609600" y="6324600"/>
            <a:ext cx="10972800" cy="0"/>
          </a:xfrm>
          <a:prstGeom prst="line">
            <a:avLst/>
          </a:prstGeom>
          <a:ln w="8890">
            <a:solidFill>
              <a:srgbClr val="E5EBEF"/>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09600" y="6451600"/>
            <a:ext cx="10058400" cy="198729"/>
          </a:xfrm>
          <a:prstGeom prst="rect">
            <a:avLst/>
          </a:prstGeom>
          <a:noFill/>
        </p:spPr>
        <p:txBody>
          <a:bodyPr wrap="none" lIns="0" rIns="0" tIns="0" bIns="0" anchor="t">
            <a:spAutoFit/>
          </a:bodyPr>
          <a:lstStyle/>
          <a:p>
            <a:pPr>
              <a:spcBef>
                <a:spcPts val="0"/>
              </a:spcBef>
              <a:spcAft>
                <a:spcPts val="0"/>
              </a:spcAft>
            </a:pPr>
            <a:r>
              <a:rPr sz="910" b="0">
                <a:solidFill>
                  <a:srgbClr val="516978"/>
                </a:solidFill>
                <a:latin typeface="Arial"/>
                <a:hlinkClick r:id="rId2"/>
              </a:rPr>
              <a:t>Sources: sql/open-orders.sql | sql/pending-items.sql</a:t>
            </a:r>
          </a:p>
        </p:txBody>
      </p:sp>
      <p:sp>
        <p:nvSpPr>
          <p:cNvPr id="28" name="TextBox 27"/>
          <p:cNvSpPr txBox="1"/>
          <p:nvPr/>
        </p:nvSpPr>
        <p:spPr>
          <a:xfrm>
            <a:off x="10985500" y="6451600"/>
            <a:ext cx="609600" cy="213360"/>
          </a:xfrm>
          <a:prstGeom prst="rect">
            <a:avLst/>
          </a:prstGeom>
          <a:noFill/>
        </p:spPr>
        <p:txBody>
          <a:bodyPr wrap="none" lIns="0" rIns="0" tIns="0" bIns="0" anchor="t">
            <a:spAutoFit/>
          </a:bodyPr>
          <a:lstStyle/>
          <a:p>
            <a:pPr>
              <a:spcBef>
                <a:spcPts val="0"/>
              </a:spcBef>
              <a:spcAft>
                <a:spcPts val="0"/>
              </a:spcAft>
            </a:pPr>
            <a:r>
              <a:rPr sz="1000" b="1">
                <a:solidFill>
                  <a:srgbClr val="516978"/>
                </a:solidFill>
                <a:latin typeface="Arial"/>
              </a:rPr>
              <a:t>02 / 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42900"/>
            <a:ext cx="10972800" cy="213360"/>
          </a:xfrm>
          <a:prstGeom prst="rect">
            <a:avLst/>
          </a:prstGeom>
          <a:noFill/>
        </p:spPr>
        <p:txBody>
          <a:bodyPr wrap="none" lIns="0" rIns="0" tIns="0" bIns="0" anchor="t">
            <a:spAutoFit/>
          </a:bodyPr>
          <a:lstStyle/>
          <a:p>
            <a:pPr>
              <a:spcBef>
                <a:spcPts val="0"/>
              </a:spcBef>
              <a:spcAft>
                <a:spcPts val="0"/>
              </a:spcAft>
            </a:pPr>
            <a:r>
              <a:rPr sz="1000" b="1">
                <a:solidFill>
                  <a:srgbClr val="007F78"/>
                </a:solidFill>
                <a:latin typeface="Arial"/>
              </a:rPr>
              <a:t>METHODOLOGY</a:t>
            </a:r>
          </a:p>
        </p:txBody>
      </p:sp>
      <p:sp>
        <p:nvSpPr>
          <p:cNvPr id="4" name="TextBox 3"/>
          <p:cNvSpPr txBox="1"/>
          <p:nvPr/>
        </p:nvSpPr>
        <p:spPr>
          <a:xfrm>
            <a:off x="609600" y="673100"/>
            <a:ext cx="10972800" cy="505968"/>
          </a:xfrm>
          <a:prstGeom prst="rect">
            <a:avLst/>
          </a:prstGeom>
          <a:noFill/>
        </p:spPr>
        <p:txBody>
          <a:bodyPr wrap="none" lIns="0" rIns="0" tIns="0" bIns="0" anchor="t">
            <a:spAutoFit/>
          </a:bodyPr>
          <a:lstStyle/>
          <a:p>
            <a:pPr>
              <a:spcBef>
                <a:spcPts val="0"/>
              </a:spcBef>
              <a:spcAft>
                <a:spcPts val="0"/>
              </a:spcAft>
            </a:pPr>
            <a:r>
              <a:rPr sz="2800" b="1">
                <a:solidFill>
                  <a:srgbClr val="122B3B"/>
                </a:solidFill>
                <a:latin typeface="Arial"/>
              </a:rPr>
              <a:t>Make the assumptions explicit</a:t>
            </a:r>
          </a:p>
        </p:txBody>
      </p:sp>
      <p:sp>
        <p:nvSpPr>
          <p:cNvPr id="5" name="Rounded Rectangle 4"/>
          <p:cNvSpPr/>
          <p:nvPr/>
        </p:nvSpPr>
        <p:spPr>
          <a:xfrm>
            <a:off x="609600" y="1473200"/>
            <a:ext cx="3454400" cy="2413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1473200"/>
            <a:ext cx="50800" cy="24130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1663700"/>
            <a:ext cx="30226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Historical contract</a:t>
            </a:r>
          </a:p>
        </p:txBody>
      </p:sp>
      <p:sp>
        <p:nvSpPr>
          <p:cNvPr id="8" name="TextBox 7"/>
          <p:cNvSpPr txBox="1"/>
          <p:nvPr/>
        </p:nvSpPr>
        <p:spPr>
          <a:xfrm>
            <a:off x="838200" y="2070608"/>
            <a:ext cx="30226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Initial snapshot + current state</a:t>
            </a:r>
          </a:p>
        </p:txBody>
      </p:sp>
      <p:sp>
        <p:nvSpPr>
          <p:cNvPr id="9" name="TextBox 8"/>
          <p:cNvSpPr txBox="1"/>
          <p:nvPr/>
        </p:nvSpPr>
        <p:spPr>
          <a:xfrm>
            <a:off x="838200" y="2330704"/>
            <a:ext cx="30226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accumulated from earlier CDC</a:t>
            </a:r>
          </a:p>
        </p:txBody>
      </p:sp>
      <p:sp>
        <p:nvSpPr>
          <p:cNvPr id="10" name="TextBox 9"/>
          <p:cNvSpPr txBox="1"/>
          <p:nvPr/>
        </p:nvSpPr>
        <p:spPr>
          <a:xfrm>
            <a:off x="838200" y="2590800"/>
            <a:ext cx="30226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batches.</a:t>
            </a:r>
          </a:p>
        </p:txBody>
      </p:sp>
      <p:sp>
        <p:nvSpPr>
          <p:cNvPr id="11" name="TextBox 10"/>
          <p:cNvSpPr txBox="1"/>
          <p:nvPr/>
        </p:nvSpPr>
        <p:spPr>
          <a:xfrm>
            <a:off x="838200" y="2850896"/>
            <a:ext cx="30226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No pre-snapshot reconstruction.</a:t>
            </a:r>
          </a:p>
        </p:txBody>
      </p:sp>
      <p:sp>
        <p:nvSpPr>
          <p:cNvPr id="12" name="Rounded Rectangle 11"/>
          <p:cNvSpPr/>
          <p:nvPr/>
        </p:nvSpPr>
        <p:spPr>
          <a:xfrm>
            <a:off x="4368800" y="1473200"/>
            <a:ext cx="3454400" cy="2413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368800" y="1473200"/>
            <a:ext cx="50800" cy="24130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7400" y="1663700"/>
            <a:ext cx="30226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Freshness contract</a:t>
            </a:r>
          </a:p>
        </p:txBody>
      </p:sp>
      <p:sp>
        <p:nvSpPr>
          <p:cNvPr id="15" name="TextBox 14"/>
          <p:cNvSpPr txBox="1"/>
          <p:nvPr/>
        </p:nvSpPr>
        <p:spPr>
          <a:xfrm>
            <a:off x="4597400" y="2070608"/>
            <a:ext cx="30226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Continuous microbatches.</a:t>
            </a:r>
          </a:p>
        </p:txBody>
      </p:sp>
      <p:sp>
        <p:nvSpPr>
          <p:cNvPr id="16" name="TextBox 15"/>
          <p:cNvSpPr txBox="1"/>
          <p:nvPr/>
        </p:nvSpPr>
        <p:spPr>
          <a:xfrm>
            <a:off x="4597400" y="2330704"/>
            <a:ext cx="30226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30s is a test reference, not a</a:t>
            </a:r>
          </a:p>
        </p:txBody>
      </p:sp>
      <p:sp>
        <p:nvSpPr>
          <p:cNvPr id="17" name="TextBox 16"/>
          <p:cNvSpPr txBox="1"/>
          <p:nvPr/>
        </p:nvSpPr>
        <p:spPr>
          <a:xfrm>
            <a:off x="4597400" y="2590800"/>
            <a:ext cx="30226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requirement supplied by Deel.</a:t>
            </a:r>
          </a:p>
        </p:txBody>
      </p:sp>
      <p:sp>
        <p:nvSpPr>
          <p:cNvPr id="18" name="Rounded Rectangle 17"/>
          <p:cNvSpPr/>
          <p:nvPr/>
        </p:nvSpPr>
        <p:spPr>
          <a:xfrm>
            <a:off x="8128000" y="1473200"/>
            <a:ext cx="3454400" cy="2413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28000" y="1473200"/>
            <a:ext cx="50800" cy="24130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56600" y="1663700"/>
            <a:ext cx="30226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Deployment scope</a:t>
            </a:r>
          </a:p>
        </p:txBody>
      </p:sp>
      <p:sp>
        <p:nvSpPr>
          <p:cNvPr id="21" name="TextBox 20"/>
          <p:cNvSpPr txBox="1"/>
          <p:nvPr/>
        </p:nvSpPr>
        <p:spPr>
          <a:xfrm>
            <a:off x="8356600" y="2070608"/>
            <a:ext cx="30226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Reproducible local Docker stack.</a:t>
            </a:r>
          </a:p>
        </p:txBody>
      </p:sp>
      <p:sp>
        <p:nvSpPr>
          <p:cNvPr id="22" name="TextBox 21"/>
          <p:cNvSpPr txBox="1"/>
          <p:nvPr/>
        </p:nvSpPr>
        <p:spPr>
          <a:xfrm>
            <a:off x="8356600" y="2330704"/>
            <a:ext cx="30226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Production sizing remains a</a:t>
            </a:r>
          </a:p>
        </p:txBody>
      </p:sp>
      <p:sp>
        <p:nvSpPr>
          <p:cNvPr id="23" name="TextBox 22"/>
          <p:cNvSpPr txBox="1"/>
          <p:nvPr/>
        </p:nvSpPr>
        <p:spPr>
          <a:xfrm>
            <a:off x="8356600" y="2590800"/>
            <a:ext cx="30226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measurement-driven strategy.</a:t>
            </a:r>
          </a:p>
        </p:txBody>
      </p:sp>
      <p:sp>
        <p:nvSpPr>
          <p:cNvPr id="24" name="Rounded Rectangle 23"/>
          <p:cNvSpPr/>
          <p:nvPr/>
        </p:nvSpPr>
        <p:spPr>
          <a:xfrm>
            <a:off x="609600" y="4229100"/>
            <a:ext cx="10972800" cy="1473200"/>
          </a:xfrm>
          <a:prstGeom prst="roundRect">
            <a:avLst>
              <a:gd name="adj" fmla="val 12000"/>
            </a:avLst>
          </a:prstGeom>
          <a:solidFill>
            <a:srgbClr val="DC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8200" y="4419600"/>
            <a:ext cx="10490200" cy="327152"/>
          </a:xfrm>
          <a:prstGeom prst="rect">
            <a:avLst/>
          </a:prstGeom>
          <a:noFill/>
        </p:spPr>
        <p:txBody>
          <a:bodyPr wrap="none" lIns="0" rIns="0" tIns="0" bIns="0" anchor="t">
            <a:spAutoFit/>
          </a:bodyPr>
          <a:lstStyle/>
          <a:p>
            <a:pPr>
              <a:spcBef>
                <a:spcPts val="0"/>
              </a:spcBef>
              <a:spcAft>
                <a:spcPts val="0"/>
              </a:spcAft>
            </a:pPr>
            <a:r>
              <a:rPr sz="1700" b="1">
                <a:solidFill>
                  <a:srgbClr val="007F78"/>
                </a:solidFill>
                <a:latin typeface="Arial"/>
              </a:rPr>
              <a:t>Measured separately</a:t>
            </a:r>
          </a:p>
        </p:txBody>
      </p:sp>
      <p:sp>
        <p:nvSpPr>
          <p:cNvPr id="26" name="TextBox 25"/>
          <p:cNvSpPr txBox="1"/>
          <p:nvPr/>
        </p:nvSpPr>
        <p:spPr>
          <a:xfrm>
            <a:off x="838200" y="4813300"/>
            <a:ext cx="10490200" cy="359664"/>
          </a:xfrm>
          <a:prstGeom prst="rect">
            <a:avLst/>
          </a:prstGeom>
          <a:noFill/>
        </p:spPr>
        <p:txBody>
          <a:bodyPr wrap="none" lIns="0" rIns="0" tIns="0" bIns="0" anchor="t">
            <a:spAutoFit/>
          </a:bodyPr>
          <a:lstStyle/>
          <a:p>
            <a:pPr>
              <a:spcBef>
                <a:spcPts val="0"/>
              </a:spcBef>
              <a:spcAft>
                <a:spcPts val="0"/>
              </a:spcAft>
            </a:pPr>
            <a:r>
              <a:rPr sz="1900" b="0">
                <a:solidFill>
                  <a:srgbClr val="183342"/>
                </a:solidFill>
                <a:latin typeface="Arial"/>
              </a:rPr>
              <a:t>Correctness, bulk materialization, CDC arrival rate, publication age, recovery and query cold start.</a:t>
            </a:r>
          </a:p>
        </p:txBody>
      </p:sp>
      <p:cxnSp>
        <p:nvCxnSpPr>
          <p:cNvPr id="27" name="Connector 26"/>
          <p:cNvCxnSpPr/>
          <p:nvPr/>
        </p:nvCxnSpPr>
        <p:spPr>
          <a:xfrm>
            <a:off x="609600" y="6324600"/>
            <a:ext cx="10972800" cy="0"/>
          </a:xfrm>
          <a:prstGeom prst="line">
            <a:avLst/>
          </a:prstGeom>
          <a:ln w="8890">
            <a:solidFill>
              <a:srgbClr val="E5EBEF"/>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09600" y="6451600"/>
            <a:ext cx="10058400" cy="198729"/>
          </a:xfrm>
          <a:prstGeom prst="rect">
            <a:avLst/>
          </a:prstGeom>
          <a:noFill/>
        </p:spPr>
        <p:txBody>
          <a:bodyPr wrap="none" lIns="0" rIns="0" tIns="0" bIns="0" anchor="t">
            <a:spAutoFit/>
          </a:bodyPr>
          <a:lstStyle/>
          <a:p>
            <a:pPr>
              <a:spcBef>
                <a:spcPts val="0"/>
              </a:spcBef>
              <a:spcAft>
                <a:spcPts val="0"/>
              </a:spcAft>
            </a:pPr>
            <a:r>
              <a:rPr sz="910" b="0">
                <a:solidFill>
                  <a:srgbClr val="516978"/>
                </a:solidFill>
                <a:latin typeface="Arial"/>
                <a:hlinkClick r:id="rId2"/>
              </a:rPr>
              <a:t>Sources: docs/assessment-deliverables.md | docs/architecture.md</a:t>
            </a:r>
          </a:p>
        </p:txBody>
      </p:sp>
      <p:sp>
        <p:nvSpPr>
          <p:cNvPr id="29" name="TextBox 28"/>
          <p:cNvSpPr txBox="1"/>
          <p:nvPr/>
        </p:nvSpPr>
        <p:spPr>
          <a:xfrm>
            <a:off x="10985500" y="6451600"/>
            <a:ext cx="609600" cy="213360"/>
          </a:xfrm>
          <a:prstGeom prst="rect">
            <a:avLst/>
          </a:prstGeom>
          <a:noFill/>
        </p:spPr>
        <p:txBody>
          <a:bodyPr wrap="none" lIns="0" rIns="0" tIns="0" bIns="0" anchor="t">
            <a:spAutoFit/>
          </a:bodyPr>
          <a:lstStyle/>
          <a:p>
            <a:pPr>
              <a:spcBef>
                <a:spcPts val="0"/>
              </a:spcBef>
              <a:spcAft>
                <a:spcPts val="0"/>
              </a:spcAft>
            </a:pPr>
            <a:r>
              <a:rPr sz="1000" b="1">
                <a:solidFill>
                  <a:srgbClr val="516978"/>
                </a:solidFill>
                <a:latin typeface="Arial"/>
              </a:rPr>
              <a:t>03 / 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42900"/>
            <a:ext cx="10972800" cy="213360"/>
          </a:xfrm>
          <a:prstGeom prst="rect">
            <a:avLst/>
          </a:prstGeom>
          <a:noFill/>
        </p:spPr>
        <p:txBody>
          <a:bodyPr wrap="none" lIns="0" rIns="0" tIns="0" bIns="0" anchor="t">
            <a:spAutoFit/>
          </a:bodyPr>
          <a:lstStyle/>
          <a:p>
            <a:pPr>
              <a:spcBef>
                <a:spcPts val="0"/>
              </a:spcBef>
              <a:spcAft>
                <a:spcPts val="0"/>
              </a:spcAft>
            </a:pPr>
            <a:r>
              <a:rPr sz="1000" b="1">
                <a:solidFill>
                  <a:srgbClr val="007F78"/>
                </a:solidFill>
                <a:latin typeface="Arial"/>
              </a:rPr>
              <a:t>ARCHITECTURE</a:t>
            </a:r>
          </a:p>
        </p:txBody>
      </p:sp>
      <p:sp>
        <p:nvSpPr>
          <p:cNvPr id="4" name="TextBox 3"/>
          <p:cNvSpPr txBox="1"/>
          <p:nvPr/>
        </p:nvSpPr>
        <p:spPr>
          <a:xfrm>
            <a:off x="609600" y="673100"/>
            <a:ext cx="10972800" cy="505968"/>
          </a:xfrm>
          <a:prstGeom prst="rect">
            <a:avLst/>
          </a:prstGeom>
          <a:noFill/>
        </p:spPr>
        <p:txBody>
          <a:bodyPr wrap="none" lIns="0" rIns="0" tIns="0" bIns="0" anchor="t">
            <a:spAutoFit/>
          </a:bodyPr>
          <a:lstStyle/>
          <a:p>
            <a:pPr>
              <a:spcBef>
                <a:spcPts val="0"/>
              </a:spcBef>
              <a:spcAft>
                <a:spcPts val="0"/>
              </a:spcAft>
            </a:pPr>
            <a:r>
              <a:rPr sz="2800" b="1">
                <a:solidFill>
                  <a:srgbClr val="122B3B"/>
                </a:solidFill>
                <a:latin typeface="Arial"/>
              </a:rPr>
              <a:t>One complete source-to-query path</a:t>
            </a:r>
          </a:p>
        </p:txBody>
      </p:sp>
      <p:sp>
        <p:nvSpPr>
          <p:cNvPr id="5" name="Rounded Rectangle 4"/>
          <p:cNvSpPr/>
          <p:nvPr/>
        </p:nvSpPr>
        <p:spPr>
          <a:xfrm>
            <a:off x="609600" y="1460500"/>
            <a:ext cx="2590800" cy="8255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1460500"/>
            <a:ext cx="50800" cy="8255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1612900"/>
            <a:ext cx="2159000" cy="294640"/>
          </a:xfrm>
          <a:prstGeom prst="rect">
            <a:avLst/>
          </a:prstGeom>
          <a:noFill/>
        </p:spPr>
        <p:txBody>
          <a:bodyPr wrap="none" lIns="0" rIns="0" tIns="0" bIns="0" anchor="t">
            <a:spAutoFit/>
          </a:bodyPr>
          <a:lstStyle/>
          <a:p>
            <a:pPr>
              <a:spcBef>
                <a:spcPts val="0"/>
              </a:spcBef>
              <a:spcAft>
                <a:spcPts val="0"/>
              </a:spcAft>
            </a:pPr>
            <a:r>
              <a:rPr sz="1500" b="1">
                <a:solidFill>
                  <a:srgbClr val="183342"/>
                </a:solidFill>
                <a:latin typeface="Arial"/>
              </a:rPr>
              <a:t>PostgreSQL + pg_cron</a:t>
            </a:r>
          </a:p>
        </p:txBody>
      </p:sp>
      <p:sp>
        <p:nvSpPr>
          <p:cNvPr id="8" name="TextBox 7"/>
          <p:cNvSpPr txBox="1"/>
          <p:nvPr/>
        </p:nvSpPr>
        <p:spPr>
          <a:xfrm>
            <a:off x="838200" y="1932939"/>
            <a:ext cx="2159000" cy="245872"/>
          </a:xfrm>
          <a:prstGeom prst="rect">
            <a:avLst/>
          </a:prstGeom>
          <a:noFill/>
        </p:spPr>
        <p:txBody>
          <a:bodyPr wrap="none" lIns="0" rIns="0" tIns="0" bIns="0" anchor="t">
            <a:spAutoFit/>
          </a:bodyPr>
          <a:lstStyle/>
          <a:p>
            <a:pPr>
              <a:spcBef>
                <a:spcPts val="0"/>
              </a:spcBef>
              <a:spcAft>
                <a:spcPts val="0"/>
              </a:spcAft>
            </a:pPr>
            <a:r>
              <a:rPr sz="1200" b="0">
                <a:solidFill>
                  <a:srgbClr val="516978"/>
                </a:solidFill>
                <a:latin typeface="Arial"/>
              </a:rPr>
              <a:t>Source + automatic mutations</a:t>
            </a:r>
          </a:p>
        </p:txBody>
      </p:sp>
      <p:sp>
        <p:nvSpPr>
          <p:cNvPr id="9" name="Rounded Rectangle 8"/>
          <p:cNvSpPr/>
          <p:nvPr/>
        </p:nvSpPr>
        <p:spPr>
          <a:xfrm>
            <a:off x="3581400" y="1460500"/>
            <a:ext cx="2590800" cy="8255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581400" y="1460500"/>
            <a:ext cx="50800" cy="8255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810000" y="1612900"/>
            <a:ext cx="2159000" cy="294640"/>
          </a:xfrm>
          <a:prstGeom prst="rect">
            <a:avLst/>
          </a:prstGeom>
          <a:noFill/>
        </p:spPr>
        <p:txBody>
          <a:bodyPr wrap="none" lIns="0" rIns="0" tIns="0" bIns="0" anchor="t">
            <a:spAutoFit/>
          </a:bodyPr>
          <a:lstStyle/>
          <a:p>
            <a:pPr>
              <a:spcBef>
                <a:spcPts val="0"/>
              </a:spcBef>
              <a:spcAft>
                <a:spcPts val="0"/>
              </a:spcAft>
            </a:pPr>
            <a:r>
              <a:rPr sz="1500" b="1">
                <a:solidFill>
                  <a:srgbClr val="183342"/>
                </a:solidFill>
                <a:latin typeface="Arial"/>
              </a:rPr>
              <a:t>Debezium / Connect</a:t>
            </a:r>
          </a:p>
        </p:txBody>
      </p:sp>
      <p:sp>
        <p:nvSpPr>
          <p:cNvPr id="12" name="TextBox 11"/>
          <p:cNvSpPr txBox="1"/>
          <p:nvPr/>
        </p:nvSpPr>
        <p:spPr>
          <a:xfrm>
            <a:off x="3810000" y="1932939"/>
            <a:ext cx="2159000" cy="245872"/>
          </a:xfrm>
          <a:prstGeom prst="rect">
            <a:avLst/>
          </a:prstGeom>
          <a:noFill/>
        </p:spPr>
        <p:txBody>
          <a:bodyPr wrap="none" lIns="0" rIns="0" tIns="0" bIns="0" anchor="t">
            <a:spAutoFit/>
          </a:bodyPr>
          <a:lstStyle/>
          <a:p>
            <a:pPr>
              <a:spcBef>
                <a:spcPts val="0"/>
              </a:spcBef>
              <a:spcAft>
                <a:spcPts val="0"/>
              </a:spcAft>
            </a:pPr>
            <a:r>
              <a:rPr sz="1200" b="0">
                <a:solidFill>
                  <a:srgbClr val="516978"/>
                </a:solidFill>
                <a:latin typeface="Arial"/>
              </a:rPr>
              <a:t>Snapshot → WAL CDC</a:t>
            </a:r>
          </a:p>
        </p:txBody>
      </p:sp>
      <p:sp>
        <p:nvSpPr>
          <p:cNvPr id="13" name="Rounded Rectangle 12"/>
          <p:cNvSpPr/>
          <p:nvPr/>
        </p:nvSpPr>
        <p:spPr>
          <a:xfrm>
            <a:off x="6553200" y="1460500"/>
            <a:ext cx="2590800" cy="8255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53200" y="1460500"/>
            <a:ext cx="50800" cy="8255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781800" y="1612900"/>
            <a:ext cx="2159000" cy="294640"/>
          </a:xfrm>
          <a:prstGeom prst="rect">
            <a:avLst/>
          </a:prstGeom>
          <a:noFill/>
        </p:spPr>
        <p:txBody>
          <a:bodyPr wrap="none" lIns="0" rIns="0" tIns="0" bIns="0" anchor="t">
            <a:spAutoFit/>
          </a:bodyPr>
          <a:lstStyle/>
          <a:p>
            <a:pPr>
              <a:spcBef>
                <a:spcPts val="0"/>
              </a:spcBef>
              <a:spcAft>
                <a:spcPts val="0"/>
              </a:spcAft>
            </a:pPr>
            <a:r>
              <a:rPr sz="1500" b="1">
                <a:solidFill>
                  <a:srgbClr val="183342"/>
                </a:solidFill>
                <a:latin typeface="Arial"/>
              </a:rPr>
              <a:t>Kafka KRaft</a:t>
            </a:r>
          </a:p>
        </p:txBody>
      </p:sp>
      <p:sp>
        <p:nvSpPr>
          <p:cNvPr id="16" name="TextBox 15"/>
          <p:cNvSpPr txBox="1"/>
          <p:nvPr/>
        </p:nvSpPr>
        <p:spPr>
          <a:xfrm>
            <a:off x="6781800" y="1932939"/>
            <a:ext cx="2159000" cy="245872"/>
          </a:xfrm>
          <a:prstGeom prst="rect">
            <a:avLst/>
          </a:prstGeom>
          <a:noFill/>
        </p:spPr>
        <p:txBody>
          <a:bodyPr wrap="none" lIns="0" rIns="0" tIns="0" bIns="0" anchor="t">
            <a:spAutoFit/>
          </a:bodyPr>
          <a:lstStyle/>
          <a:p>
            <a:pPr>
              <a:spcBef>
                <a:spcPts val="0"/>
              </a:spcBef>
              <a:spcAft>
                <a:spcPts val="0"/>
              </a:spcAft>
            </a:pPr>
            <a:r>
              <a:rPr sz="1200" b="0">
                <a:solidFill>
                  <a:srgbClr val="516978"/>
                </a:solidFill>
                <a:latin typeface="Arial"/>
              </a:rPr>
              <a:t>Four entity topics</a:t>
            </a:r>
          </a:p>
        </p:txBody>
      </p:sp>
      <p:cxnSp>
        <p:nvCxnSpPr>
          <p:cNvPr id="17" name="Connector 16"/>
          <p:cNvCxnSpPr/>
          <p:nvPr/>
        </p:nvCxnSpPr>
        <p:spPr>
          <a:xfrm>
            <a:off x="3200400" y="1854200"/>
            <a:ext cx="381000" cy="0"/>
          </a:xfrm>
          <a:prstGeom prst="line">
            <a:avLst/>
          </a:prstGeom>
          <a:ln w="22860">
            <a:solidFill>
              <a:srgbClr val="007F78"/>
            </a:solidFill>
          </a:ln>
        </p:spPr>
        <p:style>
          <a:lnRef idx="2">
            <a:schemeClr val="accent1"/>
          </a:lnRef>
          <a:fillRef idx="0">
            <a:schemeClr val="accent1"/>
          </a:fillRef>
          <a:effectRef idx="1">
            <a:schemeClr val="accent1"/>
          </a:effectRef>
          <a:fontRef idx="minor">
            <a:schemeClr val="tx1"/>
          </a:fontRef>
        </p:style>
      </p:cxnSp>
      <p:sp>
        <p:nvSpPr>
          <p:cNvPr id="18" name="Isosceles Triangle 17"/>
          <p:cNvSpPr/>
          <p:nvPr/>
        </p:nvSpPr>
        <p:spPr>
          <a:xfrm rot="5400000">
            <a:off x="3530600" y="1803400"/>
            <a:ext cx="101600" cy="101600"/>
          </a:xfrm>
          <a:prstGeom prst="triangl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9" name="Connector 18"/>
          <p:cNvCxnSpPr/>
          <p:nvPr/>
        </p:nvCxnSpPr>
        <p:spPr>
          <a:xfrm>
            <a:off x="6172200" y="1854200"/>
            <a:ext cx="381000" cy="0"/>
          </a:xfrm>
          <a:prstGeom prst="line">
            <a:avLst/>
          </a:prstGeom>
          <a:ln w="22860">
            <a:solidFill>
              <a:srgbClr val="007F78"/>
            </a:solidFill>
          </a:ln>
        </p:spPr>
        <p:style>
          <a:lnRef idx="2">
            <a:schemeClr val="accent1"/>
          </a:lnRef>
          <a:fillRef idx="0">
            <a:schemeClr val="accent1"/>
          </a:fillRef>
          <a:effectRef idx="1">
            <a:schemeClr val="accent1"/>
          </a:effectRef>
          <a:fontRef idx="minor">
            <a:schemeClr val="tx1"/>
          </a:fontRef>
        </p:style>
      </p:cxnSp>
      <p:sp>
        <p:nvSpPr>
          <p:cNvPr id="20" name="Isosceles Triangle 19"/>
          <p:cNvSpPr/>
          <p:nvPr/>
        </p:nvSpPr>
        <p:spPr>
          <a:xfrm rot="5400000">
            <a:off x="6502400" y="1803400"/>
            <a:ext cx="101600" cy="101600"/>
          </a:xfrm>
          <a:prstGeom prst="triangl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525000" y="1511300"/>
            <a:ext cx="2032000" cy="262128"/>
          </a:xfrm>
          <a:prstGeom prst="rect">
            <a:avLst/>
          </a:prstGeom>
          <a:noFill/>
        </p:spPr>
        <p:txBody>
          <a:bodyPr wrap="none" lIns="0" rIns="0" tIns="0" bIns="0" anchor="t">
            <a:spAutoFit/>
          </a:bodyPr>
          <a:lstStyle/>
          <a:p>
            <a:pPr>
              <a:spcBef>
                <a:spcPts val="0"/>
              </a:spcBef>
              <a:spcAft>
                <a:spcPts val="0"/>
              </a:spcAft>
            </a:pPr>
            <a:r>
              <a:rPr sz="1300" b="0">
                <a:solidFill>
                  <a:srgbClr val="516978"/>
                </a:solidFill>
                <a:latin typeface="Arial"/>
              </a:rPr>
              <a:t>Environment provider</a:t>
            </a:r>
          </a:p>
        </p:txBody>
      </p:sp>
      <p:sp>
        <p:nvSpPr>
          <p:cNvPr id="22" name="TextBox 21"/>
          <p:cNvSpPr txBox="1"/>
          <p:nvPr/>
        </p:nvSpPr>
        <p:spPr>
          <a:xfrm>
            <a:off x="9525000" y="1722627"/>
            <a:ext cx="2032000" cy="262128"/>
          </a:xfrm>
          <a:prstGeom prst="rect">
            <a:avLst/>
          </a:prstGeom>
          <a:noFill/>
        </p:spPr>
        <p:txBody>
          <a:bodyPr wrap="none" lIns="0" rIns="0" tIns="0" bIns="0" anchor="t">
            <a:spAutoFit/>
          </a:bodyPr>
          <a:lstStyle/>
          <a:p>
            <a:pPr>
              <a:spcBef>
                <a:spcPts val="0"/>
              </a:spcBef>
              <a:spcAft>
                <a:spcPts val="0"/>
              </a:spcAft>
            </a:pPr>
            <a:r>
              <a:rPr sz="1300" b="0">
                <a:solidFill>
                  <a:srgbClr val="516978"/>
                </a:solidFill>
                <a:latin typeface="Arial"/>
              </a:rPr>
              <a:t>+ connector init</a:t>
            </a:r>
          </a:p>
        </p:txBody>
      </p:sp>
      <p:sp>
        <p:nvSpPr>
          <p:cNvPr id="23" name="Rounded Rectangle 22"/>
          <p:cNvSpPr/>
          <p:nvPr/>
        </p:nvSpPr>
        <p:spPr>
          <a:xfrm>
            <a:off x="609600" y="2654300"/>
            <a:ext cx="10972800" cy="2184400"/>
          </a:xfrm>
          <a:prstGeom prst="roundRect">
            <a:avLst>
              <a:gd name="adj" fmla="val 12000"/>
            </a:avLst>
          </a:prstGeom>
          <a:solidFill>
            <a:srgbClr val="E6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12800" y="2768600"/>
            <a:ext cx="10414000" cy="245872"/>
          </a:xfrm>
          <a:prstGeom prst="rect">
            <a:avLst/>
          </a:prstGeom>
          <a:noFill/>
        </p:spPr>
        <p:txBody>
          <a:bodyPr wrap="none" lIns="0" rIns="0" tIns="0" bIns="0" anchor="t">
            <a:spAutoFit/>
          </a:bodyPr>
          <a:lstStyle/>
          <a:p>
            <a:pPr>
              <a:spcBef>
                <a:spcPts val="0"/>
              </a:spcBef>
              <a:spcAft>
                <a:spcPts val="0"/>
              </a:spcAft>
            </a:pPr>
            <a:r>
              <a:rPr sz="1200" b="1">
                <a:solidFill>
                  <a:srgbClr val="007F78"/>
                </a:solidFill>
                <a:latin typeface="Arial"/>
              </a:rPr>
              <a:t>SPARK APPLICATION / 2 shared local slots / single materializer</a:t>
            </a:r>
          </a:p>
        </p:txBody>
      </p:sp>
      <p:sp>
        <p:nvSpPr>
          <p:cNvPr id="25" name="Rounded Rectangle 24"/>
          <p:cNvSpPr/>
          <p:nvPr/>
        </p:nvSpPr>
        <p:spPr>
          <a:xfrm>
            <a:off x="812800" y="3175000"/>
            <a:ext cx="2260600" cy="12573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12800" y="3175000"/>
            <a:ext cx="50800" cy="12573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1400" y="3365500"/>
            <a:ext cx="18288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1 · Bronze</a:t>
            </a:r>
          </a:p>
        </p:txBody>
      </p:sp>
      <p:sp>
        <p:nvSpPr>
          <p:cNvPr id="28" name="TextBox 27"/>
          <p:cNvSpPr txBox="1"/>
          <p:nvPr/>
        </p:nvSpPr>
        <p:spPr>
          <a:xfrm>
            <a:off x="1041400" y="3772408"/>
            <a:ext cx="1828800" cy="262128"/>
          </a:xfrm>
          <a:prstGeom prst="rect">
            <a:avLst/>
          </a:prstGeom>
          <a:noFill/>
        </p:spPr>
        <p:txBody>
          <a:bodyPr wrap="none" lIns="0" rIns="0" tIns="0" bIns="0" anchor="t">
            <a:spAutoFit/>
          </a:bodyPr>
          <a:lstStyle/>
          <a:p>
            <a:pPr>
              <a:spcBef>
                <a:spcPts val="0"/>
              </a:spcBef>
              <a:spcAft>
                <a:spcPts val="0"/>
              </a:spcAft>
            </a:pPr>
            <a:r>
              <a:rPr sz="1300" b="0">
                <a:solidFill>
                  <a:srgbClr val="516978"/>
                </a:solidFill>
                <a:latin typeface="Arial"/>
              </a:rPr>
              <a:t>Native Parquet sink</a:t>
            </a:r>
          </a:p>
        </p:txBody>
      </p:sp>
      <p:sp>
        <p:nvSpPr>
          <p:cNvPr id="29" name="TextBox 28"/>
          <p:cNvSpPr txBox="1"/>
          <p:nvPr/>
        </p:nvSpPr>
        <p:spPr>
          <a:xfrm>
            <a:off x="1041400" y="3983736"/>
            <a:ext cx="1828800" cy="262128"/>
          </a:xfrm>
          <a:prstGeom prst="rect">
            <a:avLst/>
          </a:prstGeom>
          <a:noFill/>
        </p:spPr>
        <p:txBody>
          <a:bodyPr wrap="none" lIns="0" rIns="0" tIns="0" bIns="0" anchor="t">
            <a:spAutoFit/>
          </a:bodyPr>
          <a:lstStyle/>
          <a:p>
            <a:pPr>
              <a:spcBef>
                <a:spcPts val="0"/>
              </a:spcBef>
              <a:spcAft>
                <a:spcPts val="0"/>
              </a:spcAft>
            </a:pPr>
            <a:r>
              <a:rPr sz="1300" b="0">
                <a:solidFill>
                  <a:srgbClr val="516978"/>
                </a:solidFill>
                <a:latin typeface="Arial"/>
              </a:rPr>
              <a:t>Original key/value bytes</a:t>
            </a:r>
          </a:p>
        </p:txBody>
      </p:sp>
      <p:sp>
        <p:nvSpPr>
          <p:cNvPr id="30" name="Rounded Rectangle 29"/>
          <p:cNvSpPr/>
          <p:nvPr/>
        </p:nvSpPr>
        <p:spPr>
          <a:xfrm>
            <a:off x="3581400" y="3175000"/>
            <a:ext cx="2260600" cy="12573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581400" y="3175000"/>
            <a:ext cx="50800" cy="12573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810000" y="3365500"/>
            <a:ext cx="18288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2 · Silver</a:t>
            </a:r>
          </a:p>
        </p:txBody>
      </p:sp>
      <p:sp>
        <p:nvSpPr>
          <p:cNvPr id="33" name="TextBox 32"/>
          <p:cNvSpPr txBox="1"/>
          <p:nvPr/>
        </p:nvSpPr>
        <p:spPr>
          <a:xfrm>
            <a:off x="3810000" y="3772408"/>
            <a:ext cx="1828800" cy="262128"/>
          </a:xfrm>
          <a:prstGeom prst="rect">
            <a:avLst/>
          </a:prstGeom>
          <a:noFill/>
        </p:spPr>
        <p:txBody>
          <a:bodyPr wrap="none" lIns="0" rIns="0" tIns="0" bIns="0" anchor="t">
            <a:spAutoFit/>
          </a:bodyPr>
          <a:lstStyle/>
          <a:p>
            <a:pPr>
              <a:spcBef>
                <a:spcPts val="0"/>
              </a:spcBef>
              <a:spcAft>
                <a:spcPts val="0"/>
              </a:spcAft>
            </a:pPr>
            <a:r>
              <a:rPr sz="1300" b="0">
                <a:solidFill>
                  <a:srgbClr val="516978"/>
                </a:solidFill>
                <a:latin typeface="Arial"/>
              </a:rPr>
              <a:t>foreachBatch + Delta</a:t>
            </a:r>
          </a:p>
        </p:txBody>
      </p:sp>
      <p:sp>
        <p:nvSpPr>
          <p:cNvPr id="34" name="TextBox 33"/>
          <p:cNvSpPr txBox="1"/>
          <p:nvPr/>
        </p:nvSpPr>
        <p:spPr>
          <a:xfrm>
            <a:off x="3810000" y="3983736"/>
            <a:ext cx="1828800" cy="262128"/>
          </a:xfrm>
          <a:prstGeom prst="rect">
            <a:avLst/>
          </a:prstGeom>
          <a:noFill/>
        </p:spPr>
        <p:txBody>
          <a:bodyPr wrap="none" lIns="0" rIns="0" tIns="0" bIns="0" anchor="t">
            <a:spAutoFit/>
          </a:bodyPr>
          <a:lstStyle/>
          <a:p>
            <a:pPr>
              <a:spcBef>
                <a:spcPts val="0"/>
              </a:spcBef>
              <a:spcAft>
                <a:spcPts val="0"/>
              </a:spcAft>
            </a:pPr>
            <a:r>
              <a:rPr sz="1300" b="0">
                <a:solidFill>
                  <a:srgbClr val="516978"/>
                </a:solidFill>
                <a:latin typeface="Arial"/>
              </a:rPr>
              <a:t>Accumulated current</a:t>
            </a:r>
          </a:p>
        </p:txBody>
      </p:sp>
      <p:sp>
        <p:nvSpPr>
          <p:cNvPr id="35" name="TextBox 34"/>
          <p:cNvSpPr txBox="1"/>
          <p:nvPr/>
        </p:nvSpPr>
        <p:spPr>
          <a:xfrm>
            <a:off x="3810000" y="4195064"/>
            <a:ext cx="1828800" cy="262128"/>
          </a:xfrm>
          <a:prstGeom prst="rect">
            <a:avLst/>
          </a:prstGeom>
          <a:noFill/>
        </p:spPr>
        <p:txBody>
          <a:bodyPr wrap="none" lIns="0" rIns="0" tIns="0" bIns="0" anchor="t">
            <a:spAutoFit/>
          </a:bodyPr>
          <a:lstStyle/>
          <a:p>
            <a:pPr>
              <a:spcBef>
                <a:spcPts val="0"/>
              </a:spcBef>
              <a:spcAft>
                <a:spcPts val="0"/>
              </a:spcAft>
            </a:pPr>
            <a:r>
              <a:rPr sz="1300" b="0">
                <a:solidFill>
                  <a:srgbClr val="516978"/>
                </a:solidFill>
                <a:latin typeface="Arial"/>
              </a:rPr>
              <a:t>state</a:t>
            </a:r>
          </a:p>
        </p:txBody>
      </p:sp>
      <p:sp>
        <p:nvSpPr>
          <p:cNvPr id="36" name="Rounded Rectangle 35"/>
          <p:cNvSpPr/>
          <p:nvPr/>
        </p:nvSpPr>
        <p:spPr>
          <a:xfrm>
            <a:off x="6350000" y="3175000"/>
            <a:ext cx="2260600" cy="12573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350000" y="3175000"/>
            <a:ext cx="50800" cy="12573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578600" y="3365500"/>
            <a:ext cx="18288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Gold</a:t>
            </a:r>
          </a:p>
        </p:txBody>
      </p:sp>
      <p:sp>
        <p:nvSpPr>
          <p:cNvPr id="39" name="TextBox 38"/>
          <p:cNvSpPr txBox="1"/>
          <p:nvPr/>
        </p:nvSpPr>
        <p:spPr>
          <a:xfrm>
            <a:off x="6578600" y="3772408"/>
            <a:ext cx="1828800" cy="262128"/>
          </a:xfrm>
          <a:prstGeom prst="rect">
            <a:avLst/>
          </a:prstGeom>
          <a:noFill/>
        </p:spPr>
        <p:txBody>
          <a:bodyPr wrap="none" lIns="0" rIns="0" tIns="0" bIns="0" anchor="t">
            <a:spAutoFit/>
          </a:bodyPr>
          <a:lstStyle/>
          <a:p>
            <a:pPr>
              <a:spcBef>
                <a:spcPts val="0"/>
              </a:spcBef>
              <a:spcAft>
                <a:spcPts val="0"/>
              </a:spcAft>
            </a:pPr>
            <a:r>
              <a:rPr sz="1300" b="0">
                <a:solidFill>
                  <a:srgbClr val="516978"/>
                </a:solidFill>
                <a:latin typeface="Arial"/>
              </a:rPr>
              <a:t>Delta facts + dimensions</a:t>
            </a:r>
          </a:p>
        </p:txBody>
      </p:sp>
      <p:sp>
        <p:nvSpPr>
          <p:cNvPr id="40" name="TextBox 39"/>
          <p:cNvSpPr txBox="1"/>
          <p:nvPr/>
        </p:nvSpPr>
        <p:spPr>
          <a:xfrm>
            <a:off x="6578600" y="3983736"/>
            <a:ext cx="1828800" cy="262128"/>
          </a:xfrm>
          <a:prstGeom prst="rect">
            <a:avLst/>
          </a:prstGeom>
          <a:noFill/>
        </p:spPr>
        <p:txBody>
          <a:bodyPr wrap="none" lIns="0" rIns="0" tIns="0" bIns="0" anchor="t">
            <a:spAutoFit/>
          </a:bodyPr>
          <a:lstStyle/>
          <a:p>
            <a:pPr>
              <a:spcBef>
                <a:spcPts val="0"/>
              </a:spcBef>
              <a:spcAft>
                <a:spcPts val="0"/>
              </a:spcAft>
            </a:pPr>
            <a:r>
              <a:rPr sz="1300" b="0">
                <a:solidFill>
                  <a:srgbClr val="516978"/>
                </a:solidFill>
                <a:latin typeface="Arial"/>
              </a:rPr>
              <a:t>Historical-state joins</a:t>
            </a:r>
          </a:p>
        </p:txBody>
      </p:sp>
      <p:sp>
        <p:nvSpPr>
          <p:cNvPr id="41" name="Rounded Rectangle 40"/>
          <p:cNvSpPr/>
          <p:nvPr/>
        </p:nvSpPr>
        <p:spPr>
          <a:xfrm>
            <a:off x="9118600" y="3175000"/>
            <a:ext cx="2260600" cy="12573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118600" y="3175000"/>
            <a:ext cx="50800" cy="12573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347200" y="3365500"/>
            <a:ext cx="18288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Publication</a:t>
            </a:r>
          </a:p>
        </p:txBody>
      </p:sp>
      <p:sp>
        <p:nvSpPr>
          <p:cNvPr id="44" name="TextBox 43"/>
          <p:cNvSpPr txBox="1"/>
          <p:nvPr/>
        </p:nvSpPr>
        <p:spPr>
          <a:xfrm>
            <a:off x="9347200" y="3772408"/>
            <a:ext cx="1828800" cy="262128"/>
          </a:xfrm>
          <a:prstGeom prst="rect">
            <a:avLst/>
          </a:prstGeom>
          <a:noFill/>
        </p:spPr>
        <p:txBody>
          <a:bodyPr wrap="none" lIns="0" rIns="0" tIns="0" bIns="0" anchor="t">
            <a:spAutoFit/>
          </a:bodyPr>
          <a:lstStyle/>
          <a:p>
            <a:pPr>
              <a:spcBef>
                <a:spcPts val="0"/>
              </a:spcBef>
              <a:spcAft>
                <a:spcPts val="0"/>
              </a:spcAft>
            </a:pPr>
            <a:r>
              <a:rPr sz="1300" b="0">
                <a:solidFill>
                  <a:srgbClr val="516978"/>
                </a:solidFill>
                <a:latin typeface="Arial"/>
              </a:rPr>
              <a:t>Delta version manifest</a:t>
            </a:r>
          </a:p>
        </p:txBody>
      </p:sp>
      <p:sp>
        <p:nvSpPr>
          <p:cNvPr id="45" name="TextBox 44"/>
          <p:cNvSpPr txBox="1"/>
          <p:nvPr/>
        </p:nvSpPr>
        <p:spPr>
          <a:xfrm>
            <a:off x="9347200" y="3983736"/>
            <a:ext cx="1828800" cy="262128"/>
          </a:xfrm>
          <a:prstGeom prst="rect">
            <a:avLst/>
          </a:prstGeom>
          <a:noFill/>
        </p:spPr>
        <p:txBody>
          <a:bodyPr wrap="none" lIns="0" rIns="0" tIns="0" bIns="0" anchor="t">
            <a:spAutoFit/>
          </a:bodyPr>
          <a:lstStyle/>
          <a:p>
            <a:pPr>
              <a:spcBef>
                <a:spcPts val="0"/>
              </a:spcBef>
              <a:spcAft>
                <a:spcPts val="0"/>
              </a:spcAft>
            </a:pPr>
            <a:r>
              <a:rPr sz="1300" b="0">
                <a:solidFill>
                  <a:srgbClr val="516978"/>
                </a:solidFill>
                <a:latin typeface="Arial"/>
              </a:rPr>
              <a:t>Complete read boundary</a:t>
            </a:r>
          </a:p>
        </p:txBody>
      </p:sp>
      <p:cxnSp>
        <p:nvCxnSpPr>
          <p:cNvPr id="46" name="Connector 45"/>
          <p:cNvCxnSpPr/>
          <p:nvPr/>
        </p:nvCxnSpPr>
        <p:spPr>
          <a:xfrm>
            <a:off x="3073400" y="3759200"/>
            <a:ext cx="508000" cy="0"/>
          </a:xfrm>
          <a:prstGeom prst="line">
            <a:avLst/>
          </a:prstGeom>
          <a:ln w="22860">
            <a:solidFill>
              <a:srgbClr val="007F78"/>
            </a:solidFill>
          </a:ln>
        </p:spPr>
        <p:style>
          <a:lnRef idx="2">
            <a:schemeClr val="accent1"/>
          </a:lnRef>
          <a:fillRef idx="0">
            <a:schemeClr val="accent1"/>
          </a:fillRef>
          <a:effectRef idx="1">
            <a:schemeClr val="accent1"/>
          </a:effectRef>
          <a:fontRef idx="minor">
            <a:schemeClr val="tx1"/>
          </a:fontRef>
        </p:style>
      </p:cxnSp>
      <p:sp>
        <p:nvSpPr>
          <p:cNvPr id="47" name="Isosceles Triangle 46"/>
          <p:cNvSpPr/>
          <p:nvPr/>
        </p:nvSpPr>
        <p:spPr>
          <a:xfrm rot="5400000">
            <a:off x="3530600" y="3708400"/>
            <a:ext cx="101600" cy="101600"/>
          </a:xfrm>
          <a:prstGeom prst="triangl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8" name="Connector 47"/>
          <p:cNvCxnSpPr/>
          <p:nvPr/>
        </p:nvCxnSpPr>
        <p:spPr>
          <a:xfrm>
            <a:off x="5842000" y="3759200"/>
            <a:ext cx="508000" cy="0"/>
          </a:xfrm>
          <a:prstGeom prst="line">
            <a:avLst/>
          </a:prstGeom>
          <a:ln w="22860">
            <a:solidFill>
              <a:srgbClr val="007F78"/>
            </a:solidFill>
          </a:ln>
        </p:spPr>
        <p:style>
          <a:lnRef idx="2">
            <a:schemeClr val="accent1"/>
          </a:lnRef>
          <a:fillRef idx="0">
            <a:schemeClr val="accent1"/>
          </a:fillRef>
          <a:effectRef idx="1">
            <a:schemeClr val="accent1"/>
          </a:effectRef>
          <a:fontRef idx="minor">
            <a:schemeClr val="tx1"/>
          </a:fontRef>
        </p:style>
      </p:cxnSp>
      <p:sp>
        <p:nvSpPr>
          <p:cNvPr id="49" name="Isosceles Triangle 48"/>
          <p:cNvSpPr/>
          <p:nvPr/>
        </p:nvSpPr>
        <p:spPr>
          <a:xfrm rot="5400000">
            <a:off x="6299200" y="3708400"/>
            <a:ext cx="101600" cy="101600"/>
          </a:xfrm>
          <a:prstGeom prst="triangl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0" name="Connector 49"/>
          <p:cNvCxnSpPr/>
          <p:nvPr/>
        </p:nvCxnSpPr>
        <p:spPr>
          <a:xfrm>
            <a:off x="8610600" y="3759200"/>
            <a:ext cx="508000" cy="0"/>
          </a:xfrm>
          <a:prstGeom prst="line">
            <a:avLst/>
          </a:prstGeom>
          <a:ln w="22860">
            <a:solidFill>
              <a:srgbClr val="007F78"/>
            </a:solidFill>
          </a:ln>
        </p:spPr>
        <p:style>
          <a:lnRef idx="2">
            <a:schemeClr val="accent1"/>
          </a:lnRef>
          <a:fillRef idx="0">
            <a:schemeClr val="accent1"/>
          </a:fillRef>
          <a:effectRef idx="1">
            <a:schemeClr val="accent1"/>
          </a:effectRef>
          <a:fontRef idx="minor">
            <a:schemeClr val="tx1"/>
          </a:fontRef>
        </p:style>
      </p:cxnSp>
      <p:sp>
        <p:nvSpPr>
          <p:cNvPr id="51" name="Isosceles Triangle 50"/>
          <p:cNvSpPr/>
          <p:nvPr/>
        </p:nvSpPr>
        <p:spPr>
          <a:xfrm rot="5400000">
            <a:off x="9067800" y="3708400"/>
            <a:ext cx="101600" cy="101600"/>
          </a:xfrm>
          <a:prstGeom prst="triangl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a:off x="7848600" y="2286000"/>
            <a:ext cx="0" cy="177800"/>
          </a:xfrm>
          <a:prstGeom prst="line">
            <a:avLst/>
          </a:prstGeom>
          <a:ln w="22860">
            <a:solidFill>
              <a:srgbClr val="007F78"/>
            </a:solidFill>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a:off x="1943100" y="2463800"/>
            <a:ext cx="5905500" cy="0"/>
          </a:xfrm>
          <a:prstGeom prst="line">
            <a:avLst/>
          </a:prstGeom>
          <a:ln w="22860">
            <a:solidFill>
              <a:srgbClr val="007F78"/>
            </a:solidFill>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a:off x="1943100" y="2463800"/>
            <a:ext cx="0" cy="711200"/>
          </a:xfrm>
          <a:prstGeom prst="line">
            <a:avLst/>
          </a:prstGeom>
          <a:ln w="22860">
            <a:solidFill>
              <a:srgbClr val="007F78"/>
            </a:solidFill>
          </a:ln>
        </p:spPr>
        <p:style>
          <a:lnRef idx="2">
            <a:schemeClr val="accent1"/>
          </a:lnRef>
          <a:fillRef idx="0">
            <a:schemeClr val="accent1"/>
          </a:fillRef>
          <a:effectRef idx="1">
            <a:schemeClr val="accent1"/>
          </a:effectRef>
          <a:fontRef idx="minor">
            <a:schemeClr val="tx1"/>
          </a:fontRef>
        </p:style>
      </p:cxnSp>
      <p:sp>
        <p:nvSpPr>
          <p:cNvPr id="55" name="Isosceles Triangle 54"/>
          <p:cNvSpPr/>
          <p:nvPr/>
        </p:nvSpPr>
        <p:spPr>
          <a:xfrm rot="10800000">
            <a:off x="1892300" y="3124200"/>
            <a:ext cx="101600" cy="101600"/>
          </a:xfrm>
          <a:prstGeom prst="triangl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609600" y="5156200"/>
            <a:ext cx="3454400" cy="8128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609600" y="5156200"/>
            <a:ext cx="50800" cy="8128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38200" y="5308600"/>
            <a:ext cx="3022600" cy="294640"/>
          </a:xfrm>
          <a:prstGeom prst="rect">
            <a:avLst/>
          </a:prstGeom>
          <a:noFill/>
        </p:spPr>
        <p:txBody>
          <a:bodyPr wrap="none" lIns="0" rIns="0" tIns="0" bIns="0" anchor="t">
            <a:spAutoFit/>
          </a:bodyPr>
          <a:lstStyle/>
          <a:p>
            <a:pPr>
              <a:spcBef>
                <a:spcPts val="0"/>
              </a:spcBef>
              <a:spcAft>
                <a:spcPts val="0"/>
              </a:spcAft>
            </a:pPr>
            <a:r>
              <a:rPr sz="1500" b="1">
                <a:solidFill>
                  <a:srgbClr val="183342"/>
                </a:solidFill>
                <a:latin typeface="Arial"/>
              </a:rPr>
              <a:t>Persistent observability</a:t>
            </a:r>
          </a:p>
        </p:txBody>
      </p:sp>
      <p:sp>
        <p:nvSpPr>
          <p:cNvPr id="59" name="TextBox 58"/>
          <p:cNvSpPr txBox="1"/>
          <p:nvPr/>
        </p:nvSpPr>
        <p:spPr>
          <a:xfrm>
            <a:off x="838200" y="5628640"/>
            <a:ext cx="3022600" cy="245872"/>
          </a:xfrm>
          <a:prstGeom prst="rect">
            <a:avLst/>
          </a:prstGeom>
          <a:noFill/>
        </p:spPr>
        <p:txBody>
          <a:bodyPr wrap="none" lIns="0" rIns="0" tIns="0" bIns="0" anchor="t">
            <a:spAutoFit/>
          </a:bodyPr>
          <a:lstStyle/>
          <a:p>
            <a:pPr>
              <a:spcBef>
                <a:spcPts val="0"/>
              </a:spcBef>
              <a:spcAft>
                <a:spcPts val="0"/>
              </a:spcAft>
            </a:pPr>
            <a:r>
              <a:rPr sz="1200" b="0">
                <a:solidFill>
                  <a:srgbClr val="516978"/>
                </a:solidFill>
                <a:latin typeface="Arial"/>
              </a:rPr>
              <a:t>2 checkpoints • progress • event logs</a:t>
            </a:r>
          </a:p>
        </p:txBody>
      </p:sp>
      <p:sp>
        <p:nvSpPr>
          <p:cNvPr id="60" name="Rounded Rectangle 59"/>
          <p:cNvSpPr/>
          <p:nvPr/>
        </p:nvSpPr>
        <p:spPr>
          <a:xfrm>
            <a:off x="4368800" y="5156200"/>
            <a:ext cx="3454400" cy="8128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4368800" y="5156200"/>
            <a:ext cx="50800" cy="8128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4597400" y="5308600"/>
            <a:ext cx="3022600" cy="294640"/>
          </a:xfrm>
          <a:prstGeom prst="rect">
            <a:avLst/>
          </a:prstGeom>
          <a:noFill/>
        </p:spPr>
        <p:txBody>
          <a:bodyPr wrap="none" lIns="0" rIns="0" tIns="0" bIns="0" anchor="t">
            <a:spAutoFit/>
          </a:bodyPr>
          <a:lstStyle/>
          <a:p>
            <a:pPr>
              <a:spcBef>
                <a:spcPts val="0"/>
              </a:spcBef>
              <a:spcAft>
                <a:spcPts val="0"/>
              </a:spcAft>
            </a:pPr>
            <a:r>
              <a:rPr sz="1500" b="1">
                <a:solidFill>
                  <a:srgbClr val="183342"/>
                </a:solidFill>
                <a:latin typeface="Arial"/>
              </a:rPr>
              <a:t>Quarantine + Spark UI</a:t>
            </a:r>
          </a:p>
        </p:txBody>
      </p:sp>
      <p:sp>
        <p:nvSpPr>
          <p:cNvPr id="63" name="TextBox 62"/>
          <p:cNvSpPr txBox="1"/>
          <p:nvPr/>
        </p:nvSpPr>
        <p:spPr>
          <a:xfrm>
            <a:off x="4597400" y="5628640"/>
            <a:ext cx="3022600" cy="245872"/>
          </a:xfrm>
          <a:prstGeom prst="rect">
            <a:avLst/>
          </a:prstGeom>
          <a:noFill/>
        </p:spPr>
        <p:txBody>
          <a:bodyPr wrap="none" lIns="0" rIns="0" tIns="0" bIns="0" anchor="t">
            <a:spAutoFit/>
          </a:bodyPr>
          <a:lstStyle/>
          <a:p>
            <a:pPr>
              <a:spcBef>
                <a:spcPts val="0"/>
              </a:spcBef>
              <a:spcAft>
                <a:spcPts val="0"/>
              </a:spcAft>
            </a:pPr>
            <a:r>
              <a:rPr sz="1200" b="0">
                <a:solidFill>
                  <a:srgbClr val="516978"/>
                </a:solidFill>
                <a:latin typeface="Arial"/>
              </a:rPr>
              <a:t>Invalid CDC • optional History Server</a:t>
            </a:r>
          </a:p>
        </p:txBody>
      </p:sp>
      <p:sp>
        <p:nvSpPr>
          <p:cNvPr id="64" name="Rounded Rectangle 63"/>
          <p:cNvSpPr/>
          <p:nvPr/>
        </p:nvSpPr>
        <p:spPr>
          <a:xfrm>
            <a:off x="8128000" y="5156200"/>
            <a:ext cx="3454400" cy="8128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8128000" y="5156200"/>
            <a:ext cx="50800" cy="8128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356600" y="5308600"/>
            <a:ext cx="3022600" cy="294640"/>
          </a:xfrm>
          <a:prstGeom prst="rect">
            <a:avLst/>
          </a:prstGeom>
          <a:noFill/>
        </p:spPr>
        <p:txBody>
          <a:bodyPr wrap="none" lIns="0" rIns="0" tIns="0" bIns="0" anchor="t">
            <a:spAutoFit/>
          </a:bodyPr>
          <a:lstStyle/>
          <a:p>
            <a:pPr>
              <a:spcBef>
                <a:spcPts val="0"/>
              </a:spcBef>
              <a:spcAft>
                <a:spcPts val="0"/>
              </a:spcAft>
            </a:pPr>
            <a:r>
              <a:rPr sz="1500" b="1">
                <a:solidFill>
                  <a:srgbClr val="183342"/>
                </a:solidFill>
                <a:latin typeface="Arial"/>
              </a:rPr>
              <a:t>Separate Spark SQL CLI</a:t>
            </a:r>
          </a:p>
        </p:txBody>
      </p:sp>
      <p:sp>
        <p:nvSpPr>
          <p:cNvPr id="67" name="TextBox 66"/>
          <p:cNvSpPr txBox="1"/>
          <p:nvPr/>
        </p:nvSpPr>
        <p:spPr>
          <a:xfrm>
            <a:off x="8356600" y="5628640"/>
            <a:ext cx="3022600" cy="245872"/>
          </a:xfrm>
          <a:prstGeom prst="rect">
            <a:avLst/>
          </a:prstGeom>
          <a:noFill/>
        </p:spPr>
        <p:txBody>
          <a:bodyPr wrap="none" lIns="0" rIns="0" tIns="0" bIns="0" anchor="t">
            <a:spAutoFit/>
          </a:bodyPr>
          <a:lstStyle/>
          <a:p>
            <a:pPr>
              <a:spcBef>
                <a:spcPts val="0"/>
              </a:spcBef>
              <a:spcAft>
                <a:spcPts val="0"/>
              </a:spcAft>
            </a:pPr>
            <a:r>
              <a:rPr sz="1200" b="0">
                <a:solidFill>
                  <a:srgbClr val="516978"/>
                </a:solidFill>
                <a:latin typeface="Arial"/>
              </a:rPr>
              <a:t>Read every table at published versions</a:t>
            </a:r>
          </a:p>
        </p:txBody>
      </p:sp>
      <p:cxnSp>
        <p:nvCxnSpPr>
          <p:cNvPr id="68" name="Connector 67"/>
          <p:cNvCxnSpPr/>
          <p:nvPr/>
        </p:nvCxnSpPr>
        <p:spPr>
          <a:xfrm>
            <a:off x="10248900" y="4432300"/>
            <a:ext cx="0" cy="723900"/>
          </a:xfrm>
          <a:prstGeom prst="line">
            <a:avLst/>
          </a:prstGeom>
          <a:ln w="22860">
            <a:solidFill>
              <a:srgbClr val="007F78"/>
            </a:solidFill>
          </a:ln>
        </p:spPr>
        <p:style>
          <a:lnRef idx="2">
            <a:schemeClr val="accent1"/>
          </a:lnRef>
          <a:fillRef idx="0">
            <a:schemeClr val="accent1"/>
          </a:fillRef>
          <a:effectRef idx="1">
            <a:schemeClr val="accent1"/>
          </a:effectRef>
          <a:fontRef idx="minor">
            <a:schemeClr val="tx1"/>
          </a:fontRef>
        </p:style>
      </p:cxnSp>
      <p:sp>
        <p:nvSpPr>
          <p:cNvPr id="69" name="Isosceles Triangle 68"/>
          <p:cNvSpPr/>
          <p:nvPr/>
        </p:nvSpPr>
        <p:spPr>
          <a:xfrm rot="10800000">
            <a:off x="10198100" y="5105400"/>
            <a:ext cx="101600" cy="101600"/>
          </a:xfrm>
          <a:prstGeom prst="triangl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70" name="Connector 69"/>
          <p:cNvCxnSpPr/>
          <p:nvPr/>
        </p:nvCxnSpPr>
        <p:spPr>
          <a:xfrm>
            <a:off x="609600" y="6324600"/>
            <a:ext cx="10972800" cy="0"/>
          </a:xfrm>
          <a:prstGeom prst="line">
            <a:avLst/>
          </a:prstGeom>
          <a:ln w="8890">
            <a:solidFill>
              <a:srgbClr val="E5EBEF"/>
            </a:solidFill>
          </a:ln>
        </p:spPr>
        <p:style>
          <a:lnRef idx="2">
            <a:schemeClr val="accent1"/>
          </a:lnRef>
          <a:fillRef idx="0">
            <a:schemeClr val="accent1"/>
          </a:fillRef>
          <a:effectRef idx="1">
            <a:schemeClr val="accent1"/>
          </a:effectRef>
          <a:fontRef idx="minor">
            <a:schemeClr val="tx1"/>
          </a:fontRef>
        </p:style>
      </p:cxnSp>
      <p:sp>
        <p:nvSpPr>
          <p:cNvPr id="71" name="TextBox 70"/>
          <p:cNvSpPr txBox="1"/>
          <p:nvPr/>
        </p:nvSpPr>
        <p:spPr>
          <a:xfrm>
            <a:off x="609600" y="6451600"/>
            <a:ext cx="10058400" cy="198729"/>
          </a:xfrm>
          <a:prstGeom prst="rect">
            <a:avLst/>
          </a:prstGeom>
          <a:noFill/>
        </p:spPr>
        <p:txBody>
          <a:bodyPr wrap="none" lIns="0" rIns="0" tIns="0" bIns="0" anchor="t">
            <a:spAutoFit/>
          </a:bodyPr>
          <a:lstStyle/>
          <a:p>
            <a:pPr>
              <a:spcBef>
                <a:spcPts val="0"/>
              </a:spcBef>
              <a:spcAft>
                <a:spcPts val="0"/>
              </a:spcAft>
            </a:pPr>
            <a:r>
              <a:rPr sz="910" b="0">
                <a:solidFill>
                  <a:srgbClr val="516978"/>
                </a:solidFill>
                <a:latin typeface="Arial"/>
                <a:hlinkClick r:id="rId2"/>
              </a:rPr>
              <a:t>Sources: docs/architecture.md | docker-compose.yaml</a:t>
            </a:r>
          </a:p>
        </p:txBody>
      </p:sp>
      <p:sp>
        <p:nvSpPr>
          <p:cNvPr id="72" name="TextBox 71"/>
          <p:cNvSpPr txBox="1"/>
          <p:nvPr/>
        </p:nvSpPr>
        <p:spPr>
          <a:xfrm>
            <a:off x="10985500" y="6451600"/>
            <a:ext cx="609600" cy="213360"/>
          </a:xfrm>
          <a:prstGeom prst="rect">
            <a:avLst/>
          </a:prstGeom>
          <a:noFill/>
        </p:spPr>
        <p:txBody>
          <a:bodyPr wrap="none" lIns="0" rIns="0" tIns="0" bIns="0" anchor="t">
            <a:spAutoFit/>
          </a:bodyPr>
          <a:lstStyle/>
          <a:p>
            <a:pPr>
              <a:spcBef>
                <a:spcPts val="0"/>
              </a:spcBef>
              <a:spcAft>
                <a:spcPts val="0"/>
              </a:spcAft>
            </a:pPr>
            <a:r>
              <a:rPr sz="1000" b="1">
                <a:solidFill>
                  <a:srgbClr val="516978"/>
                </a:solidFill>
                <a:latin typeface="Arial"/>
              </a:rPr>
              <a:t>04 / 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42900"/>
            <a:ext cx="10972800" cy="213360"/>
          </a:xfrm>
          <a:prstGeom prst="rect">
            <a:avLst/>
          </a:prstGeom>
          <a:noFill/>
        </p:spPr>
        <p:txBody>
          <a:bodyPr wrap="none" lIns="0" rIns="0" tIns="0" bIns="0" anchor="t">
            <a:spAutoFit/>
          </a:bodyPr>
          <a:lstStyle/>
          <a:p>
            <a:pPr>
              <a:spcBef>
                <a:spcPts val="0"/>
              </a:spcBef>
              <a:spcAft>
                <a:spcPts val="0"/>
              </a:spcAft>
            </a:pPr>
            <a:r>
              <a:rPr sz="1000" b="1">
                <a:solidFill>
                  <a:srgbClr val="007F78"/>
                </a:solidFill>
                <a:latin typeface="Arial"/>
              </a:rPr>
              <a:t>DIMENSIONAL MODEL</a:t>
            </a:r>
          </a:p>
        </p:txBody>
      </p:sp>
      <p:sp>
        <p:nvSpPr>
          <p:cNvPr id="4" name="TextBox 3"/>
          <p:cNvSpPr txBox="1"/>
          <p:nvPr/>
        </p:nvSpPr>
        <p:spPr>
          <a:xfrm>
            <a:off x="609600" y="673100"/>
            <a:ext cx="10972800" cy="505968"/>
          </a:xfrm>
          <a:prstGeom prst="rect">
            <a:avLst/>
          </a:prstGeom>
          <a:noFill/>
        </p:spPr>
        <p:txBody>
          <a:bodyPr wrap="none" lIns="0" rIns="0" tIns="0" bIns="0" anchor="t">
            <a:spAutoFit/>
          </a:bodyPr>
          <a:lstStyle/>
          <a:p>
            <a:pPr>
              <a:spcBef>
                <a:spcPts val="0"/>
              </a:spcBef>
              <a:spcAft>
                <a:spcPts val="0"/>
              </a:spcAft>
            </a:pPr>
            <a:r>
              <a:rPr sz="2800" b="1">
                <a:solidFill>
                  <a:srgbClr val="122B3B"/>
                </a:solidFill>
                <a:latin typeface="Arial"/>
              </a:rPr>
              <a:t>Two fact grains prevent double counting</a:t>
            </a:r>
          </a:p>
        </p:txBody>
      </p:sp>
      <p:sp>
        <p:nvSpPr>
          <p:cNvPr id="5" name="Rounded Rectangle 4"/>
          <p:cNvSpPr/>
          <p:nvPr/>
        </p:nvSpPr>
        <p:spPr>
          <a:xfrm>
            <a:off x="609600" y="1524000"/>
            <a:ext cx="3175000" cy="11176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1524000"/>
            <a:ext cx="50800" cy="11176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1676400"/>
            <a:ext cx="2743200" cy="294640"/>
          </a:xfrm>
          <a:prstGeom prst="rect">
            <a:avLst/>
          </a:prstGeom>
          <a:noFill/>
        </p:spPr>
        <p:txBody>
          <a:bodyPr wrap="none" lIns="0" rIns="0" tIns="0" bIns="0" anchor="t">
            <a:spAutoFit/>
          </a:bodyPr>
          <a:lstStyle/>
          <a:p>
            <a:pPr>
              <a:spcBef>
                <a:spcPts val="0"/>
              </a:spcBef>
              <a:spcAft>
                <a:spcPts val="0"/>
              </a:spcAft>
            </a:pPr>
            <a:r>
              <a:rPr sz="1500" b="1">
                <a:solidFill>
                  <a:srgbClr val="183342"/>
                </a:solidFill>
                <a:latin typeface="Arial"/>
              </a:rPr>
              <a:t>dim_customer</a:t>
            </a:r>
          </a:p>
        </p:txBody>
      </p:sp>
      <p:sp>
        <p:nvSpPr>
          <p:cNvPr id="8" name="TextBox 7"/>
          <p:cNvSpPr txBox="1"/>
          <p:nvPr/>
        </p:nvSpPr>
        <p:spPr>
          <a:xfrm>
            <a:off x="838200" y="1996439"/>
            <a:ext cx="2743200" cy="278384"/>
          </a:xfrm>
          <a:prstGeom prst="rect">
            <a:avLst/>
          </a:prstGeom>
          <a:noFill/>
        </p:spPr>
        <p:txBody>
          <a:bodyPr wrap="none" lIns="0" rIns="0" tIns="0" bIns="0" anchor="t">
            <a:spAutoFit/>
          </a:bodyPr>
          <a:lstStyle/>
          <a:p>
            <a:pPr>
              <a:spcBef>
                <a:spcPts val="0"/>
              </a:spcBef>
              <a:spcAft>
                <a:spcPts val="0"/>
              </a:spcAft>
            </a:pPr>
            <a:r>
              <a:rPr sz="1400" b="0">
                <a:solidFill>
                  <a:srgbClr val="516978"/>
                </a:solidFill>
                <a:latin typeface="Arial"/>
              </a:rPr>
              <a:t>SCD1 • source customer key</a:t>
            </a:r>
          </a:p>
        </p:txBody>
      </p:sp>
      <p:sp>
        <p:nvSpPr>
          <p:cNvPr id="9" name="Rounded Rectangle 8"/>
          <p:cNvSpPr/>
          <p:nvPr/>
        </p:nvSpPr>
        <p:spPr>
          <a:xfrm>
            <a:off x="4521200" y="1524000"/>
            <a:ext cx="3175000" cy="11176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21200" y="1524000"/>
            <a:ext cx="50800" cy="11176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749800" y="1676400"/>
            <a:ext cx="2743200" cy="294640"/>
          </a:xfrm>
          <a:prstGeom prst="rect">
            <a:avLst/>
          </a:prstGeom>
          <a:noFill/>
        </p:spPr>
        <p:txBody>
          <a:bodyPr wrap="none" lIns="0" rIns="0" tIns="0" bIns="0" anchor="t">
            <a:spAutoFit/>
          </a:bodyPr>
          <a:lstStyle/>
          <a:p>
            <a:pPr>
              <a:spcBef>
                <a:spcPts val="0"/>
              </a:spcBef>
              <a:spcAft>
                <a:spcPts val="0"/>
              </a:spcAft>
            </a:pPr>
            <a:r>
              <a:rPr sz="1500" b="1">
                <a:solidFill>
                  <a:srgbClr val="183342"/>
                </a:solidFill>
                <a:latin typeface="Arial"/>
              </a:rPr>
              <a:t>dim_date</a:t>
            </a:r>
          </a:p>
        </p:txBody>
      </p:sp>
      <p:sp>
        <p:nvSpPr>
          <p:cNvPr id="12" name="TextBox 11"/>
          <p:cNvSpPr txBox="1"/>
          <p:nvPr/>
        </p:nvSpPr>
        <p:spPr>
          <a:xfrm>
            <a:off x="4749800" y="1996439"/>
            <a:ext cx="2743200" cy="278384"/>
          </a:xfrm>
          <a:prstGeom prst="rect">
            <a:avLst/>
          </a:prstGeom>
          <a:noFill/>
        </p:spPr>
        <p:txBody>
          <a:bodyPr wrap="none" lIns="0" rIns="0" tIns="0" bIns="0" anchor="t">
            <a:spAutoFit/>
          </a:bodyPr>
          <a:lstStyle/>
          <a:p>
            <a:pPr>
              <a:spcBef>
                <a:spcPts val="0"/>
              </a:spcBef>
              <a:spcAft>
                <a:spcPts val="0"/>
              </a:spcAft>
            </a:pPr>
            <a:r>
              <a:rPr sz="1400" b="0">
                <a:solidFill>
                  <a:srgbClr val="516978"/>
                </a:solidFill>
                <a:latin typeface="Arial"/>
              </a:rPr>
              <a:t>Order / delivery date • key 0</a:t>
            </a:r>
          </a:p>
        </p:txBody>
      </p:sp>
      <p:sp>
        <p:nvSpPr>
          <p:cNvPr id="13" name="Rounded Rectangle 12"/>
          <p:cNvSpPr/>
          <p:nvPr/>
        </p:nvSpPr>
        <p:spPr>
          <a:xfrm>
            <a:off x="8407400" y="1524000"/>
            <a:ext cx="3175000" cy="11176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407400" y="1524000"/>
            <a:ext cx="50800" cy="11176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36000" y="1676400"/>
            <a:ext cx="2743200" cy="294640"/>
          </a:xfrm>
          <a:prstGeom prst="rect">
            <a:avLst/>
          </a:prstGeom>
          <a:noFill/>
        </p:spPr>
        <p:txBody>
          <a:bodyPr wrap="none" lIns="0" rIns="0" tIns="0" bIns="0" anchor="t">
            <a:spAutoFit/>
          </a:bodyPr>
          <a:lstStyle/>
          <a:p>
            <a:pPr>
              <a:spcBef>
                <a:spcPts val="0"/>
              </a:spcBef>
              <a:spcAft>
                <a:spcPts val="0"/>
              </a:spcAft>
            </a:pPr>
            <a:r>
              <a:rPr sz="1500" b="1">
                <a:solidFill>
                  <a:srgbClr val="183342"/>
                </a:solidFill>
                <a:latin typeface="Arial"/>
              </a:rPr>
              <a:t>dim_product</a:t>
            </a:r>
          </a:p>
        </p:txBody>
      </p:sp>
      <p:sp>
        <p:nvSpPr>
          <p:cNvPr id="16" name="TextBox 15"/>
          <p:cNvSpPr txBox="1"/>
          <p:nvPr/>
        </p:nvSpPr>
        <p:spPr>
          <a:xfrm>
            <a:off x="8636000" y="1996439"/>
            <a:ext cx="2743200" cy="278384"/>
          </a:xfrm>
          <a:prstGeom prst="rect">
            <a:avLst/>
          </a:prstGeom>
          <a:noFill/>
        </p:spPr>
        <p:txBody>
          <a:bodyPr wrap="none" lIns="0" rIns="0" tIns="0" bIns="0" anchor="t">
            <a:spAutoFit/>
          </a:bodyPr>
          <a:lstStyle/>
          <a:p>
            <a:pPr>
              <a:spcBef>
                <a:spcPts val="0"/>
              </a:spcBef>
              <a:spcAft>
                <a:spcPts val="0"/>
              </a:spcAft>
            </a:pPr>
            <a:r>
              <a:rPr sz="1400" b="0">
                <a:solidFill>
                  <a:srgbClr val="516978"/>
                </a:solidFill>
                <a:latin typeface="Arial"/>
              </a:rPr>
              <a:t>SCD1 • source product key</a:t>
            </a:r>
          </a:p>
        </p:txBody>
      </p:sp>
      <p:sp>
        <p:nvSpPr>
          <p:cNvPr id="17" name="Rounded Rectangle 16"/>
          <p:cNvSpPr/>
          <p:nvPr/>
        </p:nvSpPr>
        <p:spPr>
          <a:xfrm>
            <a:off x="1574800" y="3467100"/>
            <a:ext cx="4000500" cy="1422400"/>
          </a:xfrm>
          <a:prstGeom prst="roundRect">
            <a:avLst>
              <a:gd name="adj" fmla="val 12000"/>
            </a:avLst>
          </a:prstGeom>
          <a:solidFill>
            <a:srgbClr val="DC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574800" y="3467100"/>
            <a:ext cx="50800" cy="14224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803400" y="3657600"/>
            <a:ext cx="35687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fact_order</a:t>
            </a:r>
          </a:p>
        </p:txBody>
      </p:sp>
      <p:sp>
        <p:nvSpPr>
          <p:cNvPr id="20" name="TextBox 19"/>
          <p:cNvSpPr txBox="1"/>
          <p:nvPr/>
        </p:nvSpPr>
        <p:spPr>
          <a:xfrm>
            <a:off x="1803400" y="4064508"/>
            <a:ext cx="35687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1 row / order</a:t>
            </a:r>
          </a:p>
        </p:txBody>
      </p:sp>
      <p:sp>
        <p:nvSpPr>
          <p:cNvPr id="21" name="TextBox 20"/>
          <p:cNvSpPr txBox="1"/>
          <p:nvPr/>
        </p:nvSpPr>
        <p:spPr>
          <a:xfrm>
            <a:off x="1803400" y="4324604"/>
            <a:ext cx="35687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Status, dates and customer</a:t>
            </a:r>
          </a:p>
        </p:txBody>
      </p:sp>
      <p:sp>
        <p:nvSpPr>
          <p:cNvPr id="22" name="Rounded Rectangle 21"/>
          <p:cNvSpPr/>
          <p:nvPr/>
        </p:nvSpPr>
        <p:spPr>
          <a:xfrm>
            <a:off x="6553200" y="3467100"/>
            <a:ext cx="4064000" cy="1422400"/>
          </a:xfrm>
          <a:prstGeom prst="roundRect">
            <a:avLst>
              <a:gd name="adj" fmla="val 12000"/>
            </a:avLst>
          </a:prstGeom>
          <a:solidFill>
            <a:srgbClr val="DCF3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553200" y="3467100"/>
            <a:ext cx="50800" cy="14224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781800" y="3657600"/>
            <a:ext cx="36322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fact_order_item</a:t>
            </a:r>
          </a:p>
        </p:txBody>
      </p:sp>
      <p:sp>
        <p:nvSpPr>
          <p:cNvPr id="25" name="TextBox 24"/>
          <p:cNvSpPr txBox="1"/>
          <p:nvPr/>
        </p:nvSpPr>
        <p:spPr>
          <a:xfrm>
            <a:off x="6781800" y="4064508"/>
            <a:ext cx="36322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1 row / order item</a:t>
            </a:r>
          </a:p>
        </p:txBody>
      </p:sp>
      <p:sp>
        <p:nvSpPr>
          <p:cNvPr id="26" name="TextBox 25"/>
          <p:cNvSpPr txBox="1"/>
          <p:nvPr/>
        </p:nvSpPr>
        <p:spPr>
          <a:xfrm>
            <a:off x="6781800" y="4324604"/>
            <a:ext cx="36322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Quantity + current parent attributes</a:t>
            </a:r>
          </a:p>
        </p:txBody>
      </p:sp>
      <p:cxnSp>
        <p:nvCxnSpPr>
          <p:cNvPr id="27" name="Connector 26"/>
          <p:cNvCxnSpPr/>
          <p:nvPr/>
        </p:nvCxnSpPr>
        <p:spPr>
          <a:xfrm>
            <a:off x="2197100" y="2641600"/>
            <a:ext cx="1054100" cy="825500"/>
          </a:xfrm>
          <a:prstGeom prst="line">
            <a:avLst/>
          </a:prstGeom>
          <a:ln w="22860">
            <a:solidFill>
              <a:srgbClr val="007F78"/>
            </a:solidFill>
          </a:ln>
        </p:spPr>
        <p:style>
          <a:lnRef idx="2">
            <a:schemeClr val="accent1"/>
          </a:lnRef>
          <a:fillRef idx="0">
            <a:schemeClr val="accent1"/>
          </a:fillRef>
          <a:effectRef idx="1">
            <a:schemeClr val="accent1"/>
          </a:effectRef>
          <a:fontRef idx="minor">
            <a:schemeClr val="tx1"/>
          </a:fontRef>
        </p:style>
      </p:cxnSp>
      <p:sp>
        <p:nvSpPr>
          <p:cNvPr id="28" name="Isosceles Triangle 27"/>
          <p:cNvSpPr/>
          <p:nvPr/>
        </p:nvSpPr>
        <p:spPr>
          <a:xfrm rot="7683939">
            <a:off x="3200400" y="3416300"/>
            <a:ext cx="101600" cy="101600"/>
          </a:xfrm>
          <a:prstGeom prst="triangl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9" name="Connector 28"/>
          <p:cNvCxnSpPr/>
          <p:nvPr/>
        </p:nvCxnSpPr>
        <p:spPr>
          <a:xfrm flipH="1">
            <a:off x="4368800" y="2641600"/>
            <a:ext cx="1739900" cy="825500"/>
          </a:xfrm>
          <a:prstGeom prst="line">
            <a:avLst/>
          </a:prstGeom>
          <a:ln w="22860">
            <a:solidFill>
              <a:srgbClr val="007F78"/>
            </a:solidFill>
          </a:ln>
        </p:spPr>
        <p:style>
          <a:lnRef idx="2">
            <a:schemeClr val="accent1"/>
          </a:lnRef>
          <a:fillRef idx="0">
            <a:schemeClr val="accent1"/>
          </a:fillRef>
          <a:effectRef idx="1">
            <a:schemeClr val="accent1"/>
          </a:effectRef>
          <a:fontRef idx="minor">
            <a:schemeClr val="tx1"/>
          </a:fontRef>
        </p:style>
      </p:cxnSp>
      <p:sp>
        <p:nvSpPr>
          <p:cNvPr id="30" name="Isosceles Triangle 29"/>
          <p:cNvSpPr/>
          <p:nvPr/>
        </p:nvSpPr>
        <p:spPr>
          <a:xfrm rot="14677073">
            <a:off x="4318000" y="3416300"/>
            <a:ext cx="101600" cy="101600"/>
          </a:xfrm>
          <a:prstGeom prst="triangl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6108700" y="2641600"/>
            <a:ext cx="1409700" cy="825500"/>
          </a:xfrm>
          <a:prstGeom prst="line">
            <a:avLst/>
          </a:prstGeom>
          <a:ln w="22860">
            <a:solidFill>
              <a:srgbClr val="007F78"/>
            </a:solidFill>
          </a:ln>
        </p:spPr>
        <p:style>
          <a:lnRef idx="2">
            <a:schemeClr val="accent1"/>
          </a:lnRef>
          <a:fillRef idx="0">
            <a:schemeClr val="accent1"/>
          </a:fillRef>
          <a:effectRef idx="1">
            <a:schemeClr val="accent1"/>
          </a:effectRef>
          <a:fontRef idx="minor">
            <a:schemeClr val="tx1"/>
          </a:fontRef>
        </p:style>
      </p:cxnSp>
      <p:sp>
        <p:nvSpPr>
          <p:cNvPr id="32" name="Isosceles Triangle 31"/>
          <p:cNvSpPr/>
          <p:nvPr/>
        </p:nvSpPr>
        <p:spPr>
          <a:xfrm rot="7221157">
            <a:off x="7467600" y="3416300"/>
            <a:ext cx="101600" cy="101600"/>
          </a:xfrm>
          <a:prstGeom prst="triangl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flipH="1">
            <a:off x="8928100" y="2641600"/>
            <a:ext cx="1066800" cy="825500"/>
          </a:xfrm>
          <a:prstGeom prst="line">
            <a:avLst/>
          </a:prstGeom>
          <a:ln w="22860">
            <a:solidFill>
              <a:srgbClr val="007F78"/>
            </a:solidFill>
          </a:ln>
        </p:spPr>
        <p:style>
          <a:lnRef idx="2">
            <a:schemeClr val="accent1"/>
          </a:lnRef>
          <a:fillRef idx="0">
            <a:schemeClr val="accent1"/>
          </a:fillRef>
          <a:effectRef idx="1">
            <a:schemeClr val="accent1"/>
          </a:effectRef>
          <a:fontRef idx="minor">
            <a:schemeClr val="tx1"/>
          </a:fontRef>
        </p:style>
      </p:cxnSp>
      <p:sp>
        <p:nvSpPr>
          <p:cNvPr id="34" name="Isosceles Triangle 33"/>
          <p:cNvSpPr/>
          <p:nvPr/>
        </p:nvSpPr>
        <p:spPr>
          <a:xfrm rot="13936017">
            <a:off x="8877300" y="3416300"/>
            <a:ext cx="101600" cy="101600"/>
          </a:xfrm>
          <a:prstGeom prst="triangle">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9600" y="5372100"/>
            <a:ext cx="10972800" cy="343408"/>
          </a:xfrm>
          <a:prstGeom prst="rect">
            <a:avLst/>
          </a:prstGeom>
          <a:noFill/>
        </p:spPr>
        <p:txBody>
          <a:bodyPr wrap="none" lIns="0" rIns="0" tIns="0" bIns="0" anchor="t">
            <a:spAutoFit/>
          </a:bodyPr>
          <a:lstStyle/>
          <a:p>
            <a:pPr>
              <a:spcBef>
                <a:spcPts val="0"/>
              </a:spcBef>
              <a:spcAft>
                <a:spcPts val="0"/>
              </a:spcAft>
            </a:pPr>
            <a:r>
              <a:rPr sz="1800" b="1">
                <a:solidFill>
                  <a:srgbClr val="007F78"/>
                </a:solidFill>
                <a:latin typeface="Arial"/>
              </a:rPr>
              <a:t>Order metrics query fact_order directly. Item metrics count lines and sum quantities.</a:t>
            </a:r>
          </a:p>
        </p:txBody>
      </p:sp>
      <p:sp>
        <p:nvSpPr>
          <p:cNvPr id="36" name="TextBox 35"/>
          <p:cNvSpPr txBox="1"/>
          <p:nvPr/>
        </p:nvSpPr>
        <p:spPr>
          <a:xfrm>
            <a:off x="609600" y="5803900"/>
            <a:ext cx="10972800" cy="278384"/>
          </a:xfrm>
          <a:prstGeom prst="rect">
            <a:avLst/>
          </a:prstGeom>
          <a:noFill/>
        </p:spPr>
        <p:txBody>
          <a:bodyPr wrap="none" lIns="0" rIns="0" tIns="0" bIns="0" anchor="t">
            <a:spAutoFit/>
          </a:bodyPr>
          <a:lstStyle/>
          <a:p>
            <a:pPr>
              <a:spcBef>
                <a:spcPts val="0"/>
              </a:spcBef>
              <a:spcAft>
                <a:spcPts val="0"/>
              </a:spcAft>
            </a:pPr>
            <a:r>
              <a:rPr sz="1400" b="0">
                <a:solidFill>
                  <a:srgbClr val="516978"/>
                </a:solidFill>
                <a:latin typeface="Arial"/>
              </a:rPr>
              <a:t>The source field “quanity” becomes quantity; prices use explicit DECIMAL(20,4) casts.</a:t>
            </a:r>
          </a:p>
        </p:txBody>
      </p:sp>
      <p:cxnSp>
        <p:nvCxnSpPr>
          <p:cNvPr id="37" name="Connector 36"/>
          <p:cNvCxnSpPr/>
          <p:nvPr/>
        </p:nvCxnSpPr>
        <p:spPr>
          <a:xfrm>
            <a:off x="609600" y="6324600"/>
            <a:ext cx="10972800" cy="0"/>
          </a:xfrm>
          <a:prstGeom prst="line">
            <a:avLst/>
          </a:prstGeom>
          <a:ln w="8890">
            <a:solidFill>
              <a:srgbClr val="E5EBEF"/>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09600" y="6451600"/>
            <a:ext cx="10058400" cy="198729"/>
          </a:xfrm>
          <a:prstGeom prst="rect">
            <a:avLst/>
          </a:prstGeom>
          <a:noFill/>
        </p:spPr>
        <p:txBody>
          <a:bodyPr wrap="none" lIns="0" rIns="0" tIns="0" bIns="0" anchor="t">
            <a:spAutoFit/>
          </a:bodyPr>
          <a:lstStyle/>
          <a:p>
            <a:pPr>
              <a:spcBef>
                <a:spcPts val="0"/>
              </a:spcBef>
              <a:spcAft>
                <a:spcPts val="0"/>
              </a:spcAft>
            </a:pPr>
            <a:r>
              <a:rPr sz="910" b="0">
                <a:solidFill>
                  <a:srgbClr val="516978"/>
                </a:solidFill>
                <a:latin typeface="Arial"/>
                <a:hlinkClick r:id="rId2"/>
              </a:rPr>
              <a:t>Sources: app/gold.py | docs/architecture.md</a:t>
            </a:r>
          </a:p>
        </p:txBody>
      </p:sp>
      <p:sp>
        <p:nvSpPr>
          <p:cNvPr id="39" name="TextBox 38"/>
          <p:cNvSpPr txBox="1"/>
          <p:nvPr/>
        </p:nvSpPr>
        <p:spPr>
          <a:xfrm>
            <a:off x="10985500" y="6451600"/>
            <a:ext cx="609600" cy="213360"/>
          </a:xfrm>
          <a:prstGeom prst="rect">
            <a:avLst/>
          </a:prstGeom>
          <a:noFill/>
        </p:spPr>
        <p:txBody>
          <a:bodyPr wrap="none" lIns="0" rIns="0" tIns="0" bIns="0" anchor="t">
            <a:spAutoFit/>
          </a:bodyPr>
          <a:lstStyle/>
          <a:p>
            <a:pPr>
              <a:spcBef>
                <a:spcPts val="0"/>
              </a:spcBef>
              <a:spcAft>
                <a:spcPts val="0"/>
              </a:spcAft>
            </a:pPr>
            <a:r>
              <a:rPr sz="1000" b="1">
                <a:solidFill>
                  <a:srgbClr val="516978"/>
                </a:solidFill>
                <a:latin typeface="Arial"/>
              </a:rPr>
              <a:t>05 / 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42900"/>
            <a:ext cx="10972800" cy="213360"/>
          </a:xfrm>
          <a:prstGeom prst="rect">
            <a:avLst/>
          </a:prstGeom>
          <a:noFill/>
        </p:spPr>
        <p:txBody>
          <a:bodyPr wrap="none" lIns="0" rIns="0" tIns="0" bIns="0" anchor="t">
            <a:spAutoFit/>
          </a:bodyPr>
          <a:lstStyle/>
          <a:p>
            <a:pPr>
              <a:spcBef>
                <a:spcPts val="0"/>
              </a:spcBef>
              <a:spcAft>
                <a:spcPts val="0"/>
              </a:spcAft>
            </a:pPr>
            <a:r>
              <a:rPr sz="1000" b="1">
                <a:solidFill>
                  <a:srgbClr val="007F78"/>
                </a:solidFill>
                <a:latin typeface="Arial"/>
              </a:rPr>
              <a:t>PROCESSING</a:t>
            </a:r>
          </a:p>
        </p:txBody>
      </p:sp>
      <p:sp>
        <p:nvSpPr>
          <p:cNvPr id="4" name="TextBox 3"/>
          <p:cNvSpPr txBox="1"/>
          <p:nvPr/>
        </p:nvSpPr>
        <p:spPr>
          <a:xfrm>
            <a:off x="609600" y="673100"/>
            <a:ext cx="10972800" cy="505968"/>
          </a:xfrm>
          <a:prstGeom prst="rect">
            <a:avLst/>
          </a:prstGeom>
          <a:noFill/>
        </p:spPr>
        <p:txBody>
          <a:bodyPr wrap="none" lIns="0" rIns="0" tIns="0" bIns="0" anchor="t">
            <a:spAutoFit/>
          </a:bodyPr>
          <a:lstStyle/>
          <a:p>
            <a:pPr>
              <a:spcBef>
                <a:spcPts val="0"/>
              </a:spcBef>
              <a:spcAft>
                <a:spcPts val="0"/>
              </a:spcAft>
            </a:pPr>
            <a:r>
              <a:rPr sz="2800" b="1">
                <a:solidFill>
                  <a:srgbClr val="122B3B"/>
                </a:solidFill>
                <a:latin typeface="Arial"/>
              </a:rPr>
              <a:t>Every microbatch earns its publication</a:t>
            </a:r>
          </a:p>
        </p:txBody>
      </p:sp>
      <p:sp>
        <p:nvSpPr>
          <p:cNvPr id="5" name="Rounded Rectangle 4"/>
          <p:cNvSpPr/>
          <p:nvPr/>
        </p:nvSpPr>
        <p:spPr>
          <a:xfrm>
            <a:off x="609600" y="1473200"/>
            <a:ext cx="3454400" cy="17907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1473200"/>
            <a:ext cx="50800" cy="17907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1663700"/>
            <a:ext cx="30226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1 Preserve</a:t>
            </a:r>
          </a:p>
        </p:txBody>
      </p:sp>
      <p:sp>
        <p:nvSpPr>
          <p:cNvPr id="8" name="TextBox 7"/>
          <p:cNvSpPr txBox="1"/>
          <p:nvPr/>
        </p:nvSpPr>
        <p:spPr>
          <a:xfrm>
            <a:off x="838200" y="2070608"/>
            <a:ext cx="3022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Kafka → native Parquet</a:t>
            </a:r>
          </a:p>
        </p:txBody>
      </p:sp>
      <p:sp>
        <p:nvSpPr>
          <p:cNvPr id="9" name="TextBox 8"/>
          <p:cNvSpPr txBox="1"/>
          <p:nvPr/>
        </p:nvSpPr>
        <p:spPr>
          <a:xfrm>
            <a:off x="838200" y="2314447"/>
            <a:ext cx="3022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Checkpoint + sink metadata</a:t>
            </a:r>
          </a:p>
        </p:txBody>
      </p:sp>
      <p:sp>
        <p:nvSpPr>
          <p:cNvPr id="10" name="Rounded Rectangle 9"/>
          <p:cNvSpPr/>
          <p:nvPr/>
        </p:nvSpPr>
        <p:spPr>
          <a:xfrm>
            <a:off x="4368800" y="1473200"/>
            <a:ext cx="3454400" cy="17907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68800" y="1473200"/>
            <a:ext cx="50800" cy="17907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400" y="1663700"/>
            <a:ext cx="30226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2 Validate</a:t>
            </a:r>
          </a:p>
        </p:txBody>
      </p:sp>
      <p:sp>
        <p:nvSpPr>
          <p:cNvPr id="13" name="TextBox 12"/>
          <p:cNvSpPr txBox="1"/>
          <p:nvPr/>
        </p:nvSpPr>
        <p:spPr>
          <a:xfrm>
            <a:off x="4597400" y="2070608"/>
            <a:ext cx="3022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Decode schema and business rules</a:t>
            </a:r>
          </a:p>
        </p:txBody>
      </p:sp>
      <p:sp>
        <p:nvSpPr>
          <p:cNvPr id="14" name="TextBox 13"/>
          <p:cNvSpPr txBox="1"/>
          <p:nvPr/>
        </p:nvSpPr>
        <p:spPr>
          <a:xfrm>
            <a:off x="4597400" y="2314447"/>
            <a:ext cx="3022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Invalid CDC → quarantine + fail</a:t>
            </a:r>
          </a:p>
        </p:txBody>
      </p:sp>
      <p:sp>
        <p:nvSpPr>
          <p:cNvPr id="15" name="Rounded Rectangle 14"/>
          <p:cNvSpPr/>
          <p:nvPr/>
        </p:nvSpPr>
        <p:spPr>
          <a:xfrm>
            <a:off x="8128000" y="1473200"/>
            <a:ext cx="3454400" cy="17907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28000" y="1473200"/>
            <a:ext cx="50800" cy="17907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56600" y="1663700"/>
            <a:ext cx="30226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3 Order + apply</a:t>
            </a:r>
          </a:p>
        </p:txBody>
      </p:sp>
      <p:sp>
        <p:nvSpPr>
          <p:cNvPr id="18" name="TextBox 17"/>
          <p:cNvSpPr txBox="1"/>
          <p:nvPr/>
        </p:nvSpPr>
        <p:spPr>
          <a:xfrm>
            <a:off x="8356600" y="2070608"/>
            <a:ext cx="3022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Latest LSN / Kafka offset</a:t>
            </a:r>
          </a:p>
        </p:txBody>
      </p:sp>
      <p:sp>
        <p:nvSpPr>
          <p:cNvPr id="19" name="TextBox 18"/>
          <p:cNvSpPr txBox="1"/>
          <p:nvPr/>
        </p:nvSpPr>
        <p:spPr>
          <a:xfrm>
            <a:off x="8356600" y="2314447"/>
            <a:ext cx="3022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Conditional Silver MERGE</a:t>
            </a:r>
          </a:p>
        </p:txBody>
      </p:sp>
      <p:sp>
        <p:nvSpPr>
          <p:cNvPr id="20" name="Rounded Rectangle 19"/>
          <p:cNvSpPr/>
          <p:nvPr/>
        </p:nvSpPr>
        <p:spPr>
          <a:xfrm>
            <a:off x="609600" y="3568700"/>
            <a:ext cx="3454400" cy="17907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09600" y="3568700"/>
            <a:ext cx="50800" cy="17907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8200" y="3759200"/>
            <a:ext cx="30226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4 Enrich history</a:t>
            </a:r>
          </a:p>
        </p:txBody>
      </p:sp>
      <p:sp>
        <p:nvSpPr>
          <p:cNvPr id="23" name="TextBox 22"/>
          <p:cNvSpPr txBox="1"/>
          <p:nvPr/>
        </p:nvSpPr>
        <p:spPr>
          <a:xfrm>
            <a:off x="838200" y="4166108"/>
            <a:ext cx="3022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Changed items ↔ stored orders</a:t>
            </a:r>
          </a:p>
        </p:txBody>
      </p:sp>
      <p:sp>
        <p:nvSpPr>
          <p:cNvPr id="24" name="TextBox 23"/>
          <p:cNvSpPr txBox="1"/>
          <p:nvPr/>
        </p:nvSpPr>
        <p:spPr>
          <a:xfrm>
            <a:off x="838200" y="4409948"/>
            <a:ext cx="3022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Changed orders ↔ stored items</a:t>
            </a:r>
          </a:p>
        </p:txBody>
      </p:sp>
      <p:sp>
        <p:nvSpPr>
          <p:cNvPr id="25" name="Rounded Rectangle 24"/>
          <p:cNvSpPr/>
          <p:nvPr/>
        </p:nvSpPr>
        <p:spPr>
          <a:xfrm>
            <a:off x="4368800" y="3568700"/>
            <a:ext cx="3454400" cy="17907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68800" y="3568700"/>
            <a:ext cx="50800" cy="17907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97400" y="3759200"/>
            <a:ext cx="30226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5 Refresh Gold</a:t>
            </a:r>
          </a:p>
        </p:txBody>
      </p:sp>
      <p:sp>
        <p:nvSpPr>
          <p:cNvPr id="28" name="TextBox 27"/>
          <p:cNvSpPr txBox="1"/>
          <p:nvPr/>
        </p:nvSpPr>
        <p:spPr>
          <a:xfrm>
            <a:off x="4597400" y="4166108"/>
            <a:ext cx="3022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Affected facts and SCD1</a:t>
            </a:r>
          </a:p>
        </p:txBody>
      </p:sp>
      <p:sp>
        <p:nvSpPr>
          <p:cNvPr id="29" name="TextBox 28"/>
          <p:cNvSpPr txBox="1"/>
          <p:nvPr/>
        </p:nvSpPr>
        <p:spPr>
          <a:xfrm>
            <a:off x="4597400" y="4409948"/>
            <a:ext cx="3022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dimensions</a:t>
            </a:r>
          </a:p>
        </p:txBody>
      </p:sp>
      <p:sp>
        <p:nvSpPr>
          <p:cNvPr id="30" name="TextBox 29"/>
          <p:cNvSpPr txBox="1"/>
          <p:nvPr/>
        </p:nvSpPr>
        <p:spPr>
          <a:xfrm>
            <a:off x="4597400" y="4653788"/>
            <a:ext cx="3022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Retain logical delete guards</a:t>
            </a:r>
          </a:p>
        </p:txBody>
      </p:sp>
      <p:sp>
        <p:nvSpPr>
          <p:cNvPr id="31" name="Rounded Rectangle 30"/>
          <p:cNvSpPr/>
          <p:nvPr/>
        </p:nvSpPr>
        <p:spPr>
          <a:xfrm>
            <a:off x="8128000" y="3568700"/>
            <a:ext cx="3454400" cy="17907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128000" y="3568700"/>
            <a:ext cx="50800" cy="17907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56600" y="3759200"/>
            <a:ext cx="30226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6 Publish</a:t>
            </a:r>
          </a:p>
        </p:txBody>
      </p:sp>
      <p:sp>
        <p:nvSpPr>
          <p:cNvPr id="34" name="TextBox 33"/>
          <p:cNvSpPr txBox="1"/>
          <p:nvPr/>
        </p:nvSpPr>
        <p:spPr>
          <a:xfrm>
            <a:off x="8356600" y="4166108"/>
            <a:ext cx="3022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Commit complete table versions</a:t>
            </a:r>
          </a:p>
        </p:txBody>
      </p:sp>
      <p:sp>
        <p:nvSpPr>
          <p:cNvPr id="35" name="TextBox 34"/>
          <p:cNvSpPr txBox="1"/>
          <p:nvPr/>
        </p:nvSpPr>
        <p:spPr>
          <a:xfrm>
            <a:off x="8356600" y="4409948"/>
            <a:ext cx="3022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CLI uses versionAsOf</a:t>
            </a:r>
          </a:p>
        </p:txBody>
      </p:sp>
      <p:sp>
        <p:nvSpPr>
          <p:cNvPr id="36" name="TextBox 35"/>
          <p:cNvSpPr txBox="1"/>
          <p:nvPr/>
        </p:nvSpPr>
        <p:spPr>
          <a:xfrm>
            <a:off x="609600" y="5854700"/>
            <a:ext cx="10972800" cy="294640"/>
          </a:xfrm>
          <a:prstGeom prst="rect">
            <a:avLst/>
          </a:prstGeom>
          <a:noFill/>
        </p:spPr>
        <p:txBody>
          <a:bodyPr wrap="none" lIns="0" rIns="0" tIns="0" bIns="0" anchor="t">
            <a:spAutoFit/>
          </a:bodyPr>
          <a:lstStyle/>
          <a:p>
            <a:pPr>
              <a:spcBef>
                <a:spcPts val="0"/>
              </a:spcBef>
              <a:spcAft>
                <a:spcPts val="0"/>
              </a:spcAft>
            </a:pPr>
            <a:r>
              <a:rPr sz="1500" b="1">
                <a:solidFill>
                  <a:srgbClr val="007F78"/>
                </a:solidFill>
                <a:latin typeface="Arial"/>
              </a:rPr>
              <a:t>PySpark DataFrames + Delta MERGE for processing; Spark SQL for the four serving queries.</a:t>
            </a:r>
          </a:p>
        </p:txBody>
      </p:sp>
      <p:cxnSp>
        <p:nvCxnSpPr>
          <p:cNvPr id="37" name="Connector 36"/>
          <p:cNvCxnSpPr/>
          <p:nvPr/>
        </p:nvCxnSpPr>
        <p:spPr>
          <a:xfrm>
            <a:off x="609600" y="6324600"/>
            <a:ext cx="10972800" cy="0"/>
          </a:xfrm>
          <a:prstGeom prst="line">
            <a:avLst/>
          </a:prstGeom>
          <a:ln w="8890">
            <a:solidFill>
              <a:srgbClr val="E5EBEF"/>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609600" y="6451600"/>
            <a:ext cx="10058400" cy="198729"/>
          </a:xfrm>
          <a:prstGeom prst="rect">
            <a:avLst/>
          </a:prstGeom>
          <a:noFill/>
        </p:spPr>
        <p:txBody>
          <a:bodyPr wrap="none" lIns="0" rIns="0" tIns="0" bIns="0" anchor="t">
            <a:spAutoFit/>
          </a:bodyPr>
          <a:lstStyle/>
          <a:p>
            <a:pPr>
              <a:spcBef>
                <a:spcPts val="0"/>
              </a:spcBef>
              <a:spcAft>
                <a:spcPts val="0"/>
              </a:spcAft>
            </a:pPr>
            <a:r>
              <a:rPr sz="910" b="0">
                <a:solidFill>
                  <a:srgbClr val="516978"/>
                </a:solidFill>
                <a:latin typeface="Arial"/>
                <a:hlinkClick r:id="rId2"/>
              </a:rPr>
              <a:t>Sources: app/materialize.py | app/storage.py</a:t>
            </a:r>
          </a:p>
        </p:txBody>
      </p:sp>
      <p:sp>
        <p:nvSpPr>
          <p:cNvPr id="39" name="TextBox 38"/>
          <p:cNvSpPr txBox="1"/>
          <p:nvPr/>
        </p:nvSpPr>
        <p:spPr>
          <a:xfrm>
            <a:off x="10985500" y="6451600"/>
            <a:ext cx="609600" cy="213360"/>
          </a:xfrm>
          <a:prstGeom prst="rect">
            <a:avLst/>
          </a:prstGeom>
          <a:noFill/>
        </p:spPr>
        <p:txBody>
          <a:bodyPr wrap="none" lIns="0" rIns="0" tIns="0" bIns="0" anchor="t">
            <a:spAutoFit/>
          </a:bodyPr>
          <a:lstStyle/>
          <a:p>
            <a:pPr>
              <a:spcBef>
                <a:spcPts val="0"/>
              </a:spcBef>
              <a:spcAft>
                <a:spcPts val="0"/>
              </a:spcAft>
            </a:pPr>
            <a:r>
              <a:rPr sz="1000" b="1">
                <a:solidFill>
                  <a:srgbClr val="516978"/>
                </a:solidFill>
                <a:latin typeface="Arial"/>
              </a:rPr>
              <a:t>06 / 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42900"/>
            <a:ext cx="10972800" cy="213360"/>
          </a:xfrm>
          <a:prstGeom prst="rect">
            <a:avLst/>
          </a:prstGeom>
          <a:noFill/>
        </p:spPr>
        <p:txBody>
          <a:bodyPr wrap="none" lIns="0" rIns="0" tIns="0" bIns="0" anchor="t">
            <a:spAutoFit/>
          </a:bodyPr>
          <a:lstStyle/>
          <a:p>
            <a:pPr>
              <a:spcBef>
                <a:spcPts val="0"/>
              </a:spcBef>
              <a:spcAft>
                <a:spcPts val="0"/>
              </a:spcAft>
            </a:pPr>
            <a:r>
              <a:rPr sz="1000" b="1">
                <a:solidFill>
                  <a:srgbClr val="007F78"/>
                </a:solidFill>
                <a:latin typeface="Arial"/>
              </a:rPr>
              <a:t>HISTORY</a:t>
            </a:r>
          </a:p>
        </p:txBody>
      </p:sp>
      <p:sp>
        <p:nvSpPr>
          <p:cNvPr id="4" name="TextBox 3"/>
          <p:cNvSpPr txBox="1"/>
          <p:nvPr/>
        </p:nvSpPr>
        <p:spPr>
          <a:xfrm>
            <a:off x="609600" y="673100"/>
            <a:ext cx="10972800" cy="505968"/>
          </a:xfrm>
          <a:prstGeom prst="rect">
            <a:avLst/>
          </a:prstGeom>
          <a:noFill/>
        </p:spPr>
        <p:txBody>
          <a:bodyPr wrap="none" lIns="0" rIns="0" tIns="0" bIns="0" anchor="t">
            <a:spAutoFit/>
          </a:bodyPr>
          <a:lstStyle/>
          <a:p>
            <a:pPr>
              <a:spcBef>
                <a:spcPts val="0"/>
              </a:spcBef>
              <a:spcAft>
                <a:spcPts val="0"/>
              </a:spcAft>
            </a:pPr>
            <a:r>
              <a:rPr sz="2800" b="1">
                <a:solidFill>
                  <a:srgbClr val="122B3B"/>
                </a:solidFill>
                <a:latin typeface="Arial"/>
              </a:rPr>
              <a:t>Historical joins are part of the stream</a:t>
            </a:r>
          </a:p>
        </p:txBody>
      </p:sp>
      <p:sp>
        <p:nvSpPr>
          <p:cNvPr id="5" name="TextBox 4"/>
          <p:cNvSpPr txBox="1"/>
          <p:nvPr/>
        </p:nvSpPr>
        <p:spPr>
          <a:xfrm>
            <a:off x="609600" y="1473200"/>
            <a:ext cx="3454400" cy="668528"/>
          </a:xfrm>
          <a:prstGeom prst="rect">
            <a:avLst/>
          </a:prstGeom>
          <a:noFill/>
        </p:spPr>
        <p:txBody>
          <a:bodyPr wrap="none" lIns="0" rIns="0" tIns="0" bIns="0" anchor="t">
            <a:spAutoFit/>
          </a:bodyPr>
          <a:lstStyle/>
          <a:p>
            <a:pPr>
              <a:spcBef>
                <a:spcPts val="0"/>
              </a:spcBef>
              <a:spcAft>
                <a:spcPts val="0"/>
              </a:spcAft>
            </a:pPr>
            <a:r>
              <a:rPr sz="3800" b="1">
                <a:solidFill>
                  <a:srgbClr val="007F78"/>
                </a:solidFill>
                <a:latin typeface="Arial"/>
              </a:rPr>
              <a:t>01</a:t>
            </a:r>
          </a:p>
        </p:txBody>
      </p:sp>
      <p:sp>
        <p:nvSpPr>
          <p:cNvPr id="6" name="TextBox 5"/>
          <p:cNvSpPr txBox="1"/>
          <p:nvPr/>
        </p:nvSpPr>
        <p:spPr>
          <a:xfrm>
            <a:off x="609600" y="2197100"/>
            <a:ext cx="3454400" cy="359664"/>
          </a:xfrm>
          <a:prstGeom prst="rect">
            <a:avLst/>
          </a:prstGeom>
          <a:noFill/>
        </p:spPr>
        <p:txBody>
          <a:bodyPr wrap="none" lIns="0" rIns="0" tIns="0" bIns="0" anchor="t">
            <a:spAutoFit/>
          </a:bodyPr>
          <a:lstStyle/>
          <a:p>
            <a:pPr>
              <a:spcBef>
                <a:spcPts val="0"/>
              </a:spcBef>
              <a:spcAft>
                <a:spcPts val="0"/>
              </a:spcAft>
            </a:pPr>
            <a:r>
              <a:rPr sz="1900" b="1">
                <a:solidFill>
                  <a:srgbClr val="183342"/>
                </a:solidFill>
                <a:latin typeface="Arial"/>
              </a:rPr>
              <a:t>Snapshot baseline</a:t>
            </a:r>
          </a:p>
        </p:txBody>
      </p:sp>
      <p:sp>
        <p:nvSpPr>
          <p:cNvPr id="7" name="Rounded Rectangle 6"/>
          <p:cNvSpPr/>
          <p:nvPr/>
        </p:nvSpPr>
        <p:spPr>
          <a:xfrm>
            <a:off x="609600" y="2705100"/>
            <a:ext cx="3454400" cy="2540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09600" y="2705100"/>
            <a:ext cx="50800" cy="25400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38200" y="2895600"/>
            <a:ext cx="30226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Event → historical lookup</a:t>
            </a:r>
          </a:p>
        </p:txBody>
      </p:sp>
      <p:sp>
        <p:nvSpPr>
          <p:cNvPr id="10" name="TextBox 9"/>
          <p:cNvSpPr txBox="1"/>
          <p:nvPr/>
        </p:nvSpPr>
        <p:spPr>
          <a:xfrm>
            <a:off x="838200" y="3302508"/>
            <a:ext cx="3022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Order O1 is PENDING</a:t>
            </a:r>
          </a:p>
        </p:txBody>
      </p:sp>
      <p:sp>
        <p:nvSpPr>
          <p:cNvPr id="11" name="TextBox 10"/>
          <p:cNvSpPr txBox="1"/>
          <p:nvPr/>
        </p:nvSpPr>
        <p:spPr>
          <a:xfrm>
            <a:off x="838200" y="3546348"/>
            <a:ext cx="3022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
            </a:r>
          </a:p>
        </p:txBody>
      </p:sp>
      <p:sp>
        <p:nvSpPr>
          <p:cNvPr id="12" name="TextBox 11"/>
          <p:cNvSpPr txBox="1"/>
          <p:nvPr/>
        </p:nvSpPr>
        <p:spPr>
          <a:xfrm>
            <a:off x="838200" y="3790188"/>
            <a:ext cx="3022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Store the order in Silver</a:t>
            </a:r>
          </a:p>
        </p:txBody>
      </p:sp>
      <p:sp>
        <p:nvSpPr>
          <p:cNvPr id="13" name="TextBox 12"/>
          <p:cNvSpPr txBox="1"/>
          <p:nvPr/>
        </p:nvSpPr>
        <p:spPr>
          <a:xfrm>
            <a:off x="838200" y="4034028"/>
            <a:ext cx="3022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
            </a:r>
          </a:p>
        </p:txBody>
      </p:sp>
      <p:sp>
        <p:nvSpPr>
          <p:cNvPr id="14" name="TextBox 13"/>
          <p:cNvSpPr txBox="1"/>
          <p:nvPr/>
        </p:nvSpPr>
        <p:spPr>
          <a:xfrm>
            <a:off x="838200" y="4277868"/>
            <a:ext cx="3022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Order exists in Gold</a:t>
            </a:r>
          </a:p>
        </p:txBody>
      </p:sp>
      <p:sp>
        <p:nvSpPr>
          <p:cNvPr id="15" name="TextBox 14"/>
          <p:cNvSpPr txBox="1"/>
          <p:nvPr/>
        </p:nvSpPr>
        <p:spPr>
          <a:xfrm>
            <a:off x="4368800" y="1473200"/>
            <a:ext cx="3454400" cy="668528"/>
          </a:xfrm>
          <a:prstGeom prst="rect">
            <a:avLst/>
          </a:prstGeom>
          <a:noFill/>
        </p:spPr>
        <p:txBody>
          <a:bodyPr wrap="none" lIns="0" rIns="0" tIns="0" bIns="0" anchor="t">
            <a:spAutoFit/>
          </a:bodyPr>
          <a:lstStyle/>
          <a:p>
            <a:pPr>
              <a:spcBef>
                <a:spcPts val="0"/>
              </a:spcBef>
              <a:spcAft>
                <a:spcPts val="0"/>
              </a:spcAft>
            </a:pPr>
            <a:r>
              <a:rPr sz="3800" b="1">
                <a:solidFill>
                  <a:srgbClr val="007F78"/>
                </a:solidFill>
                <a:latin typeface="Arial"/>
              </a:rPr>
              <a:t>02</a:t>
            </a:r>
          </a:p>
        </p:txBody>
      </p:sp>
      <p:sp>
        <p:nvSpPr>
          <p:cNvPr id="16" name="TextBox 15"/>
          <p:cNvSpPr txBox="1"/>
          <p:nvPr/>
        </p:nvSpPr>
        <p:spPr>
          <a:xfrm>
            <a:off x="4368800" y="2197100"/>
            <a:ext cx="3454400" cy="359664"/>
          </a:xfrm>
          <a:prstGeom prst="rect">
            <a:avLst/>
          </a:prstGeom>
          <a:noFill/>
        </p:spPr>
        <p:txBody>
          <a:bodyPr wrap="none" lIns="0" rIns="0" tIns="0" bIns="0" anchor="t">
            <a:spAutoFit/>
          </a:bodyPr>
          <a:lstStyle/>
          <a:p>
            <a:pPr>
              <a:spcBef>
                <a:spcPts val="0"/>
              </a:spcBef>
              <a:spcAft>
                <a:spcPts val="0"/>
              </a:spcAft>
            </a:pPr>
            <a:r>
              <a:rPr sz="1900" b="1">
                <a:solidFill>
                  <a:srgbClr val="183342"/>
                </a:solidFill>
                <a:latin typeface="Arial"/>
              </a:rPr>
              <a:t>Later item event</a:t>
            </a:r>
          </a:p>
        </p:txBody>
      </p:sp>
      <p:sp>
        <p:nvSpPr>
          <p:cNvPr id="17" name="Rounded Rectangle 16"/>
          <p:cNvSpPr/>
          <p:nvPr/>
        </p:nvSpPr>
        <p:spPr>
          <a:xfrm>
            <a:off x="4368800" y="2705100"/>
            <a:ext cx="3454400" cy="2540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4368800" y="2705100"/>
            <a:ext cx="50800" cy="25400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7400" y="2895600"/>
            <a:ext cx="30226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Event → historical lookup</a:t>
            </a:r>
          </a:p>
        </p:txBody>
      </p:sp>
      <p:sp>
        <p:nvSpPr>
          <p:cNvPr id="20" name="TextBox 19"/>
          <p:cNvSpPr txBox="1"/>
          <p:nvPr/>
        </p:nvSpPr>
        <p:spPr>
          <a:xfrm>
            <a:off x="4597400" y="3302508"/>
            <a:ext cx="3022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New item I1 references O1</a:t>
            </a:r>
          </a:p>
        </p:txBody>
      </p:sp>
      <p:sp>
        <p:nvSpPr>
          <p:cNvPr id="21" name="TextBox 20"/>
          <p:cNvSpPr txBox="1"/>
          <p:nvPr/>
        </p:nvSpPr>
        <p:spPr>
          <a:xfrm>
            <a:off x="4597400" y="3546348"/>
            <a:ext cx="3022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
            </a:r>
          </a:p>
        </p:txBody>
      </p:sp>
      <p:sp>
        <p:nvSpPr>
          <p:cNvPr id="22" name="TextBox 21"/>
          <p:cNvSpPr txBox="1"/>
          <p:nvPr/>
        </p:nvSpPr>
        <p:spPr>
          <a:xfrm>
            <a:off x="4597400" y="3790188"/>
            <a:ext cx="3022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Join I1 with stored order O1</a:t>
            </a:r>
          </a:p>
        </p:txBody>
      </p:sp>
      <p:sp>
        <p:nvSpPr>
          <p:cNvPr id="23" name="TextBox 22"/>
          <p:cNvSpPr txBox="1"/>
          <p:nvPr/>
        </p:nvSpPr>
        <p:spPr>
          <a:xfrm>
            <a:off x="4597400" y="4034028"/>
            <a:ext cx="3022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
            </a:r>
          </a:p>
        </p:txBody>
      </p:sp>
      <p:sp>
        <p:nvSpPr>
          <p:cNvPr id="24" name="TextBox 23"/>
          <p:cNvSpPr txBox="1"/>
          <p:nvPr/>
        </p:nvSpPr>
        <p:spPr>
          <a:xfrm>
            <a:off x="4597400" y="4277868"/>
            <a:ext cx="3022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Item inherits parent state</a:t>
            </a:r>
          </a:p>
        </p:txBody>
      </p:sp>
      <p:sp>
        <p:nvSpPr>
          <p:cNvPr id="25" name="TextBox 24"/>
          <p:cNvSpPr txBox="1"/>
          <p:nvPr/>
        </p:nvSpPr>
        <p:spPr>
          <a:xfrm>
            <a:off x="8128000" y="1473200"/>
            <a:ext cx="3454400" cy="668528"/>
          </a:xfrm>
          <a:prstGeom prst="rect">
            <a:avLst/>
          </a:prstGeom>
          <a:noFill/>
        </p:spPr>
        <p:txBody>
          <a:bodyPr wrap="none" lIns="0" rIns="0" tIns="0" bIns="0" anchor="t">
            <a:spAutoFit/>
          </a:bodyPr>
          <a:lstStyle/>
          <a:p>
            <a:pPr>
              <a:spcBef>
                <a:spcPts val="0"/>
              </a:spcBef>
              <a:spcAft>
                <a:spcPts val="0"/>
              </a:spcAft>
            </a:pPr>
            <a:r>
              <a:rPr sz="3800" b="1">
                <a:solidFill>
                  <a:srgbClr val="007F78"/>
                </a:solidFill>
                <a:latin typeface="Arial"/>
              </a:rPr>
              <a:t>03</a:t>
            </a:r>
          </a:p>
        </p:txBody>
      </p:sp>
      <p:sp>
        <p:nvSpPr>
          <p:cNvPr id="26" name="TextBox 25"/>
          <p:cNvSpPr txBox="1"/>
          <p:nvPr/>
        </p:nvSpPr>
        <p:spPr>
          <a:xfrm>
            <a:off x="8128000" y="2197100"/>
            <a:ext cx="3454400" cy="359664"/>
          </a:xfrm>
          <a:prstGeom prst="rect">
            <a:avLst/>
          </a:prstGeom>
          <a:noFill/>
        </p:spPr>
        <p:txBody>
          <a:bodyPr wrap="none" lIns="0" rIns="0" tIns="0" bIns="0" anchor="t">
            <a:spAutoFit/>
          </a:bodyPr>
          <a:lstStyle/>
          <a:p>
            <a:pPr>
              <a:spcBef>
                <a:spcPts val="0"/>
              </a:spcBef>
              <a:spcAft>
                <a:spcPts val="0"/>
              </a:spcAft>
            </a:pPr>
            <a:r>
              <a:rPr sz="1900" b="1">
                <a:solidFill>
                  <a:srgbClr val="183342"/>
                </a:solidFill>
                <a:latin typeface="Arial"/>
              </a:rPr>
              <a:t>Later parent update</a:t>
            </a:r>
          </a:p>
        </p:txBody>
      </p:sp>
      <p:sp>
        <p:nvSpPr>
          <p:cNvPr id="27" name="Rounded Rectangle 26"/>
          <p:cNvSpPr/>
          <p:nvPr/>
        </p:nvSpPr>
        <p:spPr>
          <a:xfrm>
            <a:off x="8128000" y="2705100"/>
            <a:ext cx="3454400" cy="2540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28000" y="2705100"/>
            <a:ext cx="50800" cy="25400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356600" y="2895600"/>
            <a:ext cx="30226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Event → historical lookup</a:t>
            </a:r>
          </a:p>
        </p:txBody>
      </p:sp>
      <p:sp>
        <p:nvSpPr>
          <p:cNvPr id="30" name="TextBox 29"/>
          <p:cNvSpPr txBox="1"/>
          <p:nvPr/>
        </p:nvSpPr>
        <p:spPr>
          <a:xfrm>
            <a:off x="8356600" y="3302508"/>
            <a:ext cx="3022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Order O1 becomes COMPLETED</a:t>
            </a:r>
          </a:p>
        </p:txBody>
      </p:sp>
      <p:sp>
        <p:nvSpPr>
          <p:cNvPr id="31" name="TextBox 30"/>
          <p:cNvSpPr txBox="1"/>
          <p:nvPr/>
        </p:nvSpPr>
        <p:spPr>
          <a:xfrm>
            <a:off x="8356600" y="3546348"/>
            <a:ext cx="3022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
            </a:r>
          </a:p>
        </p:txBody>
      </p:sp>
      <p:sp>
        <p:nvSpPr>
          <p:cNvPr id="32" name="TextBox 31"/>
          <p:cNvSpPr txBox="1"/>
          <p:nvPr/>
        </p:nvSpPr>
        <p:spPr>
          <a:xfrm>
            <a:off x="8356600" y="3790188"/>
            <a:ext cx="3022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Retrieve its stored item I1</a:t>
            </a:r>
          </a:p>
        </p:txBody>
      </p:sp>
      <p:sp>
        <p:nvSpPr>
          <p:cNvPr id="33" name="TextBox 32"/>
          <p:cNvSpPr txBox="1"/>
          <p:nvPr/>
        </p:nvSpPr>
        <p:spPr>
          <a:xfrm>
            <a:off x="8356600" y="4034028"/>
            <a:ext cx="3022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
            </a:r>
          </a:p>
        </p:txBody>
      </p:sp>
      <p:sp>
        <p:nvSpPr>
          <p:cNvPr id="34" name="TextBox 33"/>
          <p:cNvSpPr txBox="1"/>
          <p:nvPr/>
        </p:nvSpPr>
        <p:spPr>
          <a:xfrm>
            <a:off x="8356600" y="4277868"/>
            <a:ext cx="3022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Pending item disappears</a:t>
            </a:r>
          </a:p>
        </p:txBody>
      </p:sp>
      <p:sp>
        <p:nvSpPr>
          <p:cNvPr id="35" name="TextBox 34"/>
          <p:cNvSpPr txBox="1"/>
          <p:nvPr/>
        </p:nvSpPr>
        <p:spPr>
          <a:xfrm>
            <a:off x="609600" y="5651500"/>
            <a:ext cx="109728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Illustrative sequence based on tested behavior. “History” means retained state, not SCD2.</a:t>
            </a:r>
          </a:p>
        </p:txBody>
      </p:sp>
      <p:cxnSp>
        <p:nvCxnSpPr>
          <p:cNvPr id="36" name="Connector 35"/>
          <p:cNvCxnSpPr/>
          <p:nvPr/>
        </p:nvCxnSpPr>
        <p:spPr>
          <a:xfrm>
            <a:off x="609600" y="6324600"/>
            <a:ext cx="10972800" cy="0"/>
          </a:xfrm>
          <a:prstGeom prst="line">
            <a:avLst/>
          </a:prstGeom>
          <a:ln w="8890">
            <a:solidFill>
              <a:srgbClr val="E5EBEF"/>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09600" y="6451600"/>
            <a:ext cx="10058400" cy="198729"/>
          </a:xfrm>
          <a:prstGeom prst="rect">
            <a:avLst/>
          </a:prstGeom>
          <a:noFill/>
        </p:spPr>
        <p:txBody>
          <a:bodyPr wrap="none" lIns="0" rIns="0" tIns="0" bIns="0" anchor="t">
            <a:spAutoFit/>
          </a:bodyPr>
          <a:lstStyle/>
          <a:p>
            <a:pPr>
              <a:spcBef>
                <a:spcPts val="0"/>
              </a:spcBef>
              <a:spcAft>
                <a:spcPts val="0"/>
              </a:spcAft>
            </a:pPr>
            <a:r>
              <a:rPr sz="910" b="0">
                <a:solidFill>
                  <a:srgbClr val="516978"/>
                </a:solidFill>
                <a:latin typeface="Arial"/>
                <a:hlinkClick r:id="rId2"/>
              </a:rPr>
              <a:t>Sources: app/gold.py | docs/evidence/historical-join-tests.log</a:t>
            </a:r>
          </a:p>
        </p:txBody>
      </p:sp>
      <p:sp>
        <p:nvSpPr>
          <p:cNvPr id="38" name="TextBox 37"/>
          <p:cNvSpPr txBox="1"/>
          <p:nvPr/>
        </p:nvSpPr>
        <p:spPr>
          <a:xfrm>
            <a:off x="10985500" y="6451600"/>
            <a:ext cx="609600" cy="213360"/>
          </a:xfrm>
          <a:prstGeom prst="rect">
            <a:avLst/>
          </a:prstGeom>
          <a:noFill/>
        </p:spPr>
        <p:txBody>
          <a:bodyPr wrap="none" lIns="0" rIns="0" tIns="0" bIns="0" anchor="t">
            <a:spAutoFit/>
          </a:bodyPr>
          <a:lstStyle/>
          <a:p>
            <a:pPr>
              <a:spcBef>
                <a:spcPts val="0"/>
              </a:spcBef>
              <a:spcAft>
                <a:spcPts val="0"/>
              </a:spcAft>
            </a:pPr>
            <a:r>
              <a:rPr sz="1000" b="1">
                <a:solidFill>
                  <a:srgbClr val="516978"/>
                </a:solidFill>
                <a:latin typeface="Arial"/>
              </a:rPr>
              <a:t>07 / 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42900"/>
            <a:ext cx="10972800" cy="213360"/>
          </a:xfrm>
          <a:prstGeom prst="rect">
            <a:avLst/>
          </a:prstGeom>
          <a:noFill/>
        </p:spPr>
        <p:txBody>
          <a:bodyPr wrap="none" lIns="0" rIns="0" tIns="0" bIns="0" anchor="t">
            <a:spAutoFit/>
          </a:bodyPr>
          <a:lstStyle/>
          <a:p>
            <a:pPr>
              <a:spcBef>
                <a:spcPts val="0"/>
              </a:spcBef>
              <a:spcAft>
                <a:spcPts val="0"/>
              </a:spcAft>
            </a:pPr>
            <a:r>
              <a:rPr sz="1000" b="1">
                <a:solidFill>
                  <a:srgbClr val="007F78"/>
                </a:solidFill>
                <a:latin typeface="Arial"/>
              </a:rPr>
              <a:t>ENGINEERING DECISIONS</a:t>
            </a:r>
          </a:p>
        </p:txBody>
      </p:sp>
      <p:sp>
        <p:nvSpPr>
          <p:cNvPr id="4" name="TextBox 3"/>
          <p:cNvSpPr txBox="1"/>
          <p:nvPr/>
        </p:nvSpPr>
        <p:spPr>
          <a:xfrm>
            <a:off x="609600" y="673100"/>
            <a:ext cx="10972800" cy="505968"/>
          </a:xfrm>
          <a:prstGeom prst="rect">
            <a:avLst/>
          </a:prstGeom>
          <a:noFill/>
        </p:spPr>
        <p:txBody>
          <a:bodyPr wrap="none" lIns="0" rIns="0" tIns="0" bIns="0" anchor="t">
            <a:spAutoFit/>
          </a:bodyPr>
          <a:lstStyle/>
          <a:p>
            <a:pPr>
              <a:spcBef>
                <a:spcPts val="0"/>
              </a:spcBef>
              <a:spcAft>
                <a:spcPts val="0"/>
              </a:spcAft>
            </a:pPr>
            <a:r>
              <a:rPr sz="2800" b="1">
                <a:solidFill>
                  <a:srgbClr val="122B3B"/>
                </a:solidFill>
                <a:latin typeface="Arial"/>
              </a:rPr>
              <a:t>Choose the simplest components that fit</a:t>
            </a:r>
          </a:p>
        </p:txBody>
      </p:sp>
      <p:sp>
        <p:nvSpPr>
          <p:cNvPr id="5" name="Rectangle 4"/>
          <p:cNvSpPr/>
          <p:nvPr/>
        </p:nvSpPr>
        <p:spPr>
          <a:xfrm>
            <a:off x="609600" y="1485900"/>
            <a:ext cx="10972800" cy="457200"/>
          </a:xfrm>
          <a:prstGeom prst="rect">
            <a:avLst/>
          </a:prstGeom>
          <a:solidFill>
            <a:srgbClr val="122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600" y="1587500"/>
            <a:ext cx="2032000" cy="278384"/>
          </a:xfrm>
          <a:prstGeom prst="rect">
            <a:avLst/>
          </a:prstGeom>
          <a:noFill/>
        </p:spPr>
        <p:txBody>
          <a:bodyPr wrap="none" lIns="0" rIns="0" tIns="0" bIns="0" anchor="t">
            <a:spAutoFit/>
          </a:bodyPr>
          <a:lstStyle/>
          <a:p>
            <a:pPr>
              <a:spcBef>
                <a:spcPts val="0"/>
              </a:spcBef>
              <a:spcAft>
                <a:spcPts val="0"/>
              </a:spcAft>
            </a:pPr>
            <a:r>
              <a:rPr sz="1400" b="1">
                <a:solidFill>
                  <a:srgbClr val="FFFFFF"/>
                </a:solidFill>
                <a:latin typeface="Arial"/>
              </a:rPr>
              <a:t>Decision</a:t>
            </a:r>
          </a:p>
        </p:txBody>
      </p:sp>
      <p:sp>
        <p:nvSpPr>
          <p:cNvPr id="7" name="TextBox 6"/>
          <p:cNvSpPr txBox="1"/>
          <p:nvPr/>
        </p:nvSpPr>
        <p:spPr>
          <a:xfrm>
            <a:off x="3022600" y="1587500"/>
            <a:ext cx="4381500" cy="278384"/>
          </a:xfrm>
          <a:prstGeom prst="rect">
            <a:avLst/>
          </a:prstGeom>
          <a:noFill/>
        </p:spPr>
        <p:txBody>
          <a:bodyPr wrap="none" lIns="0" rIns="0" tIns="0" bIns="0" anchor="t">
            <a:spAutoFit/>
          </a:bodyPr>
          <a:lstStyle/>
          <a:p>
            <a:pPr>
              <a:spcBef>
                <a:spcPts val="0"/>
              </a:spcBef>
              <a:spcAft>
                <a:spcPts val="0"/>
              </a:spcAft>
            </a:pPr>
            <a:r>
              <a:rPr sz="1400" b="1">
                <a:solidFill>
                  <a:srgbClr val="FFFFFF"/>
                </a:solidFill>
                <a:latin typeface="Arial"/>
              </a:rPr>
              <a:t>Reason</a:t>
            </a:r>
          </a:p>
        </p:txBody>
      </p:sp>
      <p:sp>
        <p:nvSpPr>
          <p:cNvPr id="8" name="TextBox 7"/>
          <p:cNvSpPr txBox="1"/>
          <p:nvPr/>
        </p:nvSpPr>
        <p:spPr>
          <a:xfrm>
            <a:off x="7658100" y="1587500"/>
            <a:ext cx="3797300" cy="278384"/>
          </a:xfrm>
          <a:prstGeom prst="rect">
            <a:avLst/>
          </a:prstGeom>
          <a:noFill/>
        </p:spPr>
        <p:txBody>
          <a:bodyPr wrap="none" lIns="0" rIns="0" tIns="0" bIns="0" anchor="t">
            <a:spAutoFit/>
          </a:bodyPr>
          <a:lstStyle/>
          <a:p>
            <a:pPr>
              <a:spcBef>
                <a:spcPts val="0"/>
              </a:spcBef>
              <a:spcAft>
                <a:spcPts val="0"/>
              </a:spcAft>
            </a:pPr>
            <a:r>
              <a:rPr sz="1400" b="1">
                <a:solidFill>
                  <a:srgbClr val="FFFFFF"/>
                </a:solidFill>
                <a:latin typeface="Arial"/>
              </a:rPr>
              <a:t>Tradeoff</a:t>
            </a:r>
          </a:p>
        </p:txBody>
      </p:sp>
      <p:sp>
        <p:nvSpPr>
          <p:cNvPr id="9" name="Rectangle 8"/>
          <p:cNvSpPr/>
          <p:nvPr/>
        </p:nvSpPr>
        <p:spPr>
          <a:xfrm>
            <a:off x="609600" y="1943100"/>
            <a:ext cx="10972800" cy="787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6600" y="2044700"/>
            <a:ext cx="20320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Parquet Bronze</a:t>
            </a:r>
          </a:p>
        </p:txBody>
      </p:sp>
      <p:sp>
        <p:nvSpPr>
          <p:cNvPr id="11" name="TextBox 10"/>
          <p:cNvSpPr txBox="1"/>
          <p:nvPr/>
        </p:nvSpPr>
        <p:spPr>
          <a:xfrm>
            <a:off x="3022600" y="2044700"/>
            <a:ext cx="43815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Preserve original events; native append sink</a:t>
            </a:r>
          </a:p>
        </p:txBody>
      </p:sp>
      <p:sp>
        <p:nvSpPr>
          <p:cNvPr id="12" name="TextBox 11"/>
          <p:cNvSpPr txBox="1"/>
          <p:nvPr/>
        </p:nvSpPr>
        <p:spPr>
          <a:xfrm>
            <a:off x="7658100" y="2044700"/>
            <a:ext cx="37973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Keep files, metadata and checkpoint</a:t>
            </a:r>
          </a:p>
        </p:txBody>
      </p:sp>
      <p:sp>
        <p:nvSpPr>
          <p:cNvPr id="13" name="TextBox 12"/>
          <p:cNvSpPr txBox="1"/>
          <p:nvPr/>
        </p:nvSpPr>
        <p:spPr>
          <a:xfrm>
            <a:off x="7658100" y="2288540"/>
            <a:ext cx="37973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together</a:t>
            </a:r>
          </a:p>
        </p:txBody>
      </p:sp>
      <p:sp>
        <p:nvSpPr>
          <p:cNvPr id="14" name="Rectangle 13"/>
          <p:cNvSpPr/>
          <p:nvPr/>
        </p:nvSpPr>
        <p:spPr>
          <a:xfrm>
            <a:off x="609600" y="2730500"/>
            <a:ext cx="10972800" cy="787400"/>
          </a:xfrm>
          <a:prstGeom prst="rect">
            <a:avLst/>
          </a:prstGeom>
          <a:solidFill>
            <a:srgbClr val="EA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2832100"/>
            <a:ext cx="20320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Delta Silver / Gold</a:t>
            </a:r>
          </a:p>
        </p:txBody>
      </p:sp>
      <p:sp>
        <p:nvSpPr>
          <p:cNvPr id="16" name="TextBox 15"/>
          <p:cNvSpPr txBox="1"/>
          <p:nvPr/>
        </p:nvSpPr>
        <p:spPr>
          <a:xfrm>
            <a:off x="3022600" y="2832100"/>
            <a:ext cx="43815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Ordered upserts, delete guards, versioned reads</a:t>
            </a:r>
          </a:p>
        </p:txBody>
      </p:sp>
      <p:sp>
        <p:nvSpPr>
          <p:cNvPr id="17" name="TextBox 16"/>
          <p:cNvSpPr txBox="1"/>
          <p:nvPr/>
        </p:nvSpPr>
        <p:spPr>
          <a:xfrm>
            <a:off x="7658100" y="2832100"/>
            <a:ext cx="37973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MERGE and retained-target scans have cost</a:t>
            </a:r>
          </a:p>
        </p:txBody>
      </p:sp>
      <p:sp>
        <p:nvSpPr>
          <p:cNvPr id="18" name="Rectangle 17"/>
          <p:cNvSpPr/>
          <p:nvPr/>
        </p:nvSpPr>
        <p:spPr>
          <a:xfrm>
            <a:off x="609600" y="3517900"/>
            <a:ext cx="10972800" cy="787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6600" y="3619500"/>
            <a:ext cx="20320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Publication manifest</a:t>
            </a:r>
          </a:p>
        </p:txBody>
      </p:sp>
      <p:sp>
        <p:nvSpPr>
          <p:cNvPr id="20" name="TextBox 19"/>
          <p:cNvSpPr txBox="1"/>
          <p:nvPr/>
        </p:nvSpPr>
        <p:spPr>
          <a:xfrm>
            <a:off x="3022600" y="3619500"/>
            <a:ext cx="43815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Expose a completed set of table versions</a:t>
            </a:r>
          </a:p>
        </p:txBody>
      </p:sp>
      <p:sp>
        <p:nvSpPr>
          <p:cNvPr id="21" name="TextBox 20"/>
          <p:cNvSpPr txBox="1"/>
          <p:nvPr/>
        </p:nvSpPr>
        <p:spPr>
          <a:xfrm>
            <a:off x="7658100" y="3619500"/>
            <a:ext cx="37973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Supported readers must honor the manifest</a:t>
            </a:r>
          </a:p>
        </p:txBody>
      </p:sp>
      <p:sp>
        <p:nvSpPr>
          <p:cNvPr id="22" name="Rectangle 21"/>
          <p:cNvSpPr/>
          <p:nvPr/>
        </p:nvSpPr>
        <p:spPr>
          <a:xfrm>
            <a:off x="609600" y="4305300"/>
            <a:ext cx="10972800" cy="787400"/>
          </a:xfrm>
          <a:prstGeom prst="rect">
            <a:avLst/>
          </a:prstGeom>
          <a:solidFill>
            <a:srgbClr val="EA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6600" y="4406900"/>
            <a:ext cx="20320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On-demand SQL CLI</a:t>
            </a:r>
          </a:p>
        </p:txBody>
      </p:sp>
      <p:sp>
        <p:nvSpPr>
          <p:cNvPr id="24" name="TextBox 23"/>
          <p:cNvSpPr txBox="1"/>
          <p:nvPr/>
        </p:nvSpPr>
        <p:spPr>
          <a:xfrm>
            <a:off x="3022600" y="4406900"/>
            <a:ext cx="43815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Deliver the four required queries with few services</a:t>
            </a:r>
          </a:p>
        </p:txBody>
      </p:sp>
      <p:sp>
        <p:nvSpPr>
          <p:cNvPr id="25" name="TextBox 24"/>
          <p:cNvSpPr txBox="1"/>
          <p:nvPr/>
        </p:nvSpPr>
        <p:spPr>
          <a:xfrm>
            <a:off x="7658100" y="4406900"/>
            <a:ext cx="37973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Cold start; not a high-QPS query server</a:t>
            </a:r>
          </a:p>
        </p:txBody>
      </p:sp>
      <p:sp>
        <p:nvSpPr>
          <p:cNvPr id="26" name="TextBox 25"/>
          <p:cNvSpPr txBox="1"/>
          <p:nvPr/>
        </p:nvSpPr>
        <p:spPr>
          <a:xfrm>
            <a:off x="609600" y="5549900"/>
            <a:ext cx="10972800" cy="294640"/>
          </a:xfrm>
          <a:prstGeom prst="rect">
            <a:avLst/>
          </a:prstGeom>
          <a:noFill/>
        </p:spPr>
        <p:txBody>
          <a:bodyPr wrap="none" lIns="0" rIns="0" tIns="0" bIns="0" anchor="t">
            <a:spAutoFit/>
          </a:bodyPr>
          <a:lstStyle/>
          <a:p>
            <a:pPr>
              <a:spcBef>
                <a:spcPts val="0"/>
              </a:spcBef>
              <a:spcAft>
                <a:spcPts val="0"/>
              </a:spcAft>
            </a:pPr>
            <a:r>
              <a:rPr sz="1500" b="1">
                <a:solidFill>
                  <a:srgbClr val="007F78"/>
                </a:solidFill>
                <a:latin typeface="Arial"/>
              </a:rPr>
              <a:t>Security: environment-based secrets, restricted CDC account, unprivileged Spark, loopback UIs.</a:t>
            </a:r>
          </a:p>
        </p:txBody>
      </p:sp>
      <p:sp>
        <p:nvSpPr>
          <p:cNvPr id="27" name="TextBox 26"/>
          <p:cNvSpPr txBox="1"/>
          <p:nvPr/>
        </p:nvSpPr>
        <p:spPr>
          <a:xfrm>
            <a:off x="609600" y="5905500"/>
            <a:ext cx="10972800" cy="278384"/>
          </a:xfrm>
          <a:prstGeom prst="rect">
            <a:avLst/>
          </a:prstGeom>
          <a:noFill/>
        </p:spPr>
        <p:txBody>
          <a:bodyPr wrap="none" lIns="0" rIns="0" tIns="0" bIns="0" anchor="t">
            <a:spAutoFit/>
          </a:bodyPr>
          <a:lstStyle/>
          <a:p>
            <a:pPr>
              <a:spcBef>
                <a:spcPts val="0"/>
              </a:spcBef>
              <a:spcAft>
                <a:spcPts val="0"/>
              </a:spcAft>
            </a:pPr>
            <a:r>
              <a:rPr sz="1400" b="0">
                <a:solidFill>
                  <a:srgbClr val="516978"/>
                </a:solidFill>
                <a:latin typeface="Arial"/>
              </a:rPr>
              <a:t>TLS, replicated services and shared durable storage are production additions.</a:t>
            </a:r>
          </a:p>
        </p:txBody>
      </p:sp>
      <p:cxnSp>
        <p:nvCxnSpPr>
          <p:cNvPr id="28" name="Connector 27"/>
          <p:cNvCxnSpPr/>
          <p:nvPr/>
        </p:nvCxnSpPr>
        <p:spPr>
          <a:xfrm>
            <a:off x="609600" y="6324600"/>
            <a:ext cx="10972800" cy="0"/>
          </a:xfrm>
          <a:prstGeom prst="line">
            <a:avLst/>
          </a:prstGeom>
          <a:ln w="8890">
            <a:solidFill>
              <a:srgbClr val="E5EBEF"/>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09600" y="6451600"/>
            <a:ext cx="10058400" cy="198729"/>
          </a:xfrm>
          <a:prstGeom prst="rect">
            <a:avLst/>
          </a:prstGeom>
          <a:noFill/>
        </p:spPr>
        <p:txBody>
          <a:bodyPr wrap="none" lIns="0" rIns="0" tIns="0" bIns="0" anchor="t">
            <a:spAutoFit/>
          </a:bodyPr>
          <a:lstStyle/>
          <a:p>
            <a:pPr>
              <a:spcBef>
                <a:spcPts val="0"/>
              </a:spcBef>
              <a:spcAft>
                <a:spcPts val="0"/>
              </a:spcAft>
            </a:pPr>
            <a:r>
              <a:rPr sz="910" b="0">
                <a:solidFill>
                  <a:srgbClr val="516978"/>
                </a:solidFill>
                <a:latin typeface="Arial"/>
                <a:hlinkClick r:id="rId2"/>
              </a:rPr>
              <a:t>Sources: docs/architecture.md | README.md</a:t>
            </a:r>
          </a:p>
        </p:txBody>
      </p:sp>
      <p:sp>
        <p:nvSpPr>
          <p:cNvPr id="30" name="TextBox 29"/>
          <p:cNvSpPr txBox="1"/>
          <p:nvPr/>
        </p:nvSpPr>
        <p:spPr>
          <a:xfrm>
            <a:off x="10985500" y="6451600"/>
            <a:ext cx="609600" cy="213360"/>
          </a:xfrm>
          <a:prstGeom prst="rect">
            <a:avLst/>
          </a:prstGeom>
          <a:noFill/>
        </p:spPr>
        <p:txBody>
          <a:bodyPr wrap="none" lIns="0" rIns="0" tIns="0" bIns="0" anchor="t">
            <a:spAutoFit/>
          </a:bodyPr>
          <a:lstStyle/>
          <a:p>
            <a:pPr>
              <a:spcBef>
                <a:spcPts val="0"/>
              </a:spcBef>
              <a:spcAft>
                <a:spcPts val="0"/>
              </a:spcAft>
            </a:pPr>
            <a:r>
              <a:rPr sz="1000" b="1">
                <a:solidFill>
                  <a:srgbClr val="516978"/>
                </a:solidFill>
                <a:latin typeface="Arial"/>
              </a:rPr>
              <a:t>08 / 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42900"/>
            <a:ext cx="10972800" cy="213360"/>
          </a:xfrm>
          <a:prstGeom prst="rect">
            <a:avLst/>
          </a:prstGeom>
          <a:noFill/>
        </p:spPr>
        <p:txBody>
          <a:bodyPr wrap="none" lIns="0" rIns="0" tIns="0" bIns="0" anchor="t">
            <a:spAutoFit/>
          </a:bodyPr>
          <a:lstStyle/>
          <a:p>
            <a:pPr>
              <a:spcBef>
                <a:spcPts val="0"/>
              </a:spcBef>
              <a:spcAft>
                <a:spcPts val="0"/>
              </a:spcAft>
            </a:pPr>
            <a:r>
              <a:rPr sz="1000" b="1">
                <a:solidFill>
                  <a:srgbClr val="007F78"/>
                </a:solidFill>
                <a:latin typeface="Arial"/>
              </a:rPr>
              <a:t>SPARK SIZING</a:t>
            </a:r>
          </a:p>
        </p:txBody>
      </p:sp>
      <p:sp>
        <p:nvSpPr>
          <p:cNvPr id="4" name="TextBox 3"/>
          <p:cNvSpPr txBox="1"/>
          <p:nvPr/>
        </p:nvSpPr>
        <p:spPr>
          <a:xfrm>
            <a:off x="609600" y="673100"/>
            <a:ext cx="10972800" cy="505968"/>
          </a:xfrm>
          <a:prstGeom prst="rect">
            <a:avLst/>
          </a:prstGeom>
          <a:noFill/>
        </p:spPr>
        <p:txBody>
          <a:bodyPr wrap="none" lIns="0" rIns="0" tIns="0" bIns="0" anchor="t">
            <a:spAutoFit/>
          </a:bodyPr>
          <a:lstStyle/>
          <a:p>
            <a:pPr>
              <a:spcBef>
                <a:spcPts val="0"/>
              </a:spcBef>
              <a:spcAft>
                <a:spcPts val="0"/>
              </a:spcAft>
            </a:pPr>
            <a:r>
              <a:rPr sz="2800" b="1">
                <a:solidFill>
                  <a:srgbClr val="122B3B"/>
                </a:solidFill>
                <a:latin typeface="Arial"/>
              </a:rPr>
              <a:t>Size for working sets and recovery</a:t>
            </a:r>
          </a:p>
        </p:txBody>
      </p:sp>
      <p:sp>
        <p:nvSpPr>
          <p:cNvPr id="5" name="Rounded Rectangle 4"/>
          <p:cNvSpPr/>
          <p:nvPr/>
        </p:nvSpPr>
        <p:spPr>
          <a:xfrm>
            <a:off x="609600" y="1511300"/>
            <a:ext cx="3454400" cy="1397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1638300"/>
            <a:ext cx="3073400" cy="554736"/>
          </a:xfrm>
          <a:prstGeom prst="rect">
            <a:avLst/>
          </a:prstGeom>
          <a:noFill/>
        </p:spPr>
        <p:txBody>
          <a:bodyPr wrap="none" lIns="0" rIns="0" tIns="0" bIns="0" anchor="t">
            <a:spAutoFit/>
          </a:bodyPr>
          <a:lstStyle/>
          <a:p>
            <a:pPr>
              <a:spcBef>
                <a:spcPts val="0"/>
              </a:spcBef>
              <a:spcAft>
                <a:spcPts val="0"/>
              </a:spcAft>
            </a:pPr>
            <a:r>
              <a:rPr sz="3100" b="1">
                <a:solidFill>
                  <a:srgbClr val="007F78"/>
                </a:solidFill>
                <a:latin typeface="Arial"/>
              </a:rPr>
              <a:t>2 slots</a:t>
            </a:r>
          </a:p>
        </p:txBody>
      </p:sp>
      <p:sp>
        <p:nvSpPr>
          <p:cNvPr id="7" name="TextBox 6"/>
          <p:cNvSpPr txBox="1"/>
          <p:nvPr/>
        </p:nvSpPr>
        <p:spPr>
          <a:xfrm>
            <a:off x="812800" y="2133600"/>
            <a:ext cx="3073400" cy="294640"/>
          </a:xfrm>
          <a:prstGeom prst="rect">
            <a:avLst/>
          </a:prstGeom>
          <a:noFill/>
        </p:spPr>
        <p:txBody>
          <a:bodyPr wrap="none" lIns="0" rIns="0" tIns="0" bIns="0" anchor="t">
            <a:spAutoFit/>
          </a:bodyPr>
          <a:lstStyle/>
          <a:p>
            <a:pPr>
              <a:spcBef>
                <a:spcPts val="0"/>
              </a:spcBef>
              <a:spcAft>
                <a:spcPts val="0"/>
              </a:spcAft>
            </a:pPr>
            <a:r>
              <a:rPr sz="1500" b="1">
                <a:solidFill>
                  <a:srgbClr val="183342"/>
                </a:solidFill>
                <a:latin typeface="Arial"/>
              </a:rPr>
              <a:t>Shared by both streams</a:t>
            </a:r>
          </a:p>
        </p:txBody>
      </p:sp>
      <p:sp>
        <p:nvSpPr>
          <p:cNvPr id="8" name="TextBox 7"/>
          <p:cNvSpPr txBox="1"/>
          <p:nvPr/>
        </p:nvSpPr>
        <p:spPr>
          <a:xfrm>
            <a:off x="812800" y="2451100"/>
            <a:ext cx="3073400" cy="245872"/>
          </a:xfrm>
          <a:prstGeom prst="rect">
            <a:avLst/>
          </a:prstGeom>
          <a:noFill/>
        </p:spPr>
        <p:txBody>
          <a:bodyPr wrap="none" lIns="0" rIns="0" tIns="0" bIns="0" anchor="t">
            <a:spAutoFit/>
          </a:bodyPr>
          <a:lstStyle/>
          <a:p>
            <a:pPr>
              <a:spcBef>
                <a:spcPts val="0"/>
              </a:spcBef>
              <a:spcAft>
                <a:spcPts val="0"/>
              </a:spcAft>
            </a:pPr>
            <a:r>
              <a:rPr sz="1200" b="0">
                <a:solidFill>
                  <a:srgbClr val="516978"/>
                </a:solidFill>
                <a:latin typeface="Arial"/>
              </a:rPr>
              <a:t>local[2] • two-CPU quota</a:t>
            </a:r>
          </a:p>
        </p:txBody>
      </p:sp>
      <p:sp>
        <p:nvSpPr>
          <p:cNvPr id="9" name="Rounded Rectangle 8"/>
          <p:cNvSpPr/>
          <p:nvPr/>
        </p:nvSpPr>
        <p:spPr>
          <a:xfrm>
            <a:off x="4368800" y="1511300"/>
            <a:ext cx="3454400" cy="1397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638300"/>
            <a:ext cx="3073400" cy="554736"/>
          </a:xfrm>
          <a:prstGeom prst="rect">
            <a:avLst/>
          </a:prstGeom>
          <a:noFill/>
        </p:spPr>
        <p:txBody>
          <a:bodyPr wrap="none" lIns="0" rIns="0" tIns="0" bIns="0" anchor="t">
            <a:spAutoFit/>
          </a:bodyPr>
          <a:lstStyle/>
          <a:p>
            <a:pPr>
              <a:spcBef>
                <a:spcPts val="0"/>
              </a:spcBef>
              <a:spcAft>
                <a:spcPts val="0"/>
              </a:spcAft>
            </a:pPr>
            <a:r>
              <a:rPr sz="3100" b="1">
                <a:solidFill>
                  <a:srgbClr val="007F78"/>
                </a:solidFill>
                <a:latin typeface="Arial"/>
              </a:rPr>
              <a:t>2 GiB</a:t>
            </a:r>
          </a:p>
        </p:txBody>
      </p:sp>
      <p:sp>
        <p:nvSpPr>
          <p:cNvPr id="11" name="TextBox 10"/>
          <p:cNvSpPr txBox="1"/>
          <p:nvPr/>
        </p:nvSpPr>
        <p:spPr>
          <a:xfrm>
            <a:off x="4572000" y="2133600"/>
            <a:ext cx="3073400" cy="294640"/>
          </a:xfrm>
          <a:prstGeom prst="rect">
            <a:avLst/>
          </a:prstGeom>
          <a:noFill/>
        </p:spPr>
        <p:txBody>
          <a:bodyPr wrap="none" lIns="0" rIns="0" tIns="0" bIns="0" anchor="t">
            <a:spAutoFit/>
          </a:bodyPr>
          <a:lstStyle/>
          <a:p>
            <a:pPr>
              <a:spcBef>
                <a:spcPts val="0"/>
              </a:spcBef>
              <a:spcAft>
                <a:spcPts val="0"/>
              </a:spcAft>
            </a:pPr>
            <a:r>
              <a:rPr sz="1500" b="1">
                <a:solidFill>
                  <a:srgbClr val="183342"/>
                </a:solidFill>
                <a:latin typeface="Arial"/>
              </a:rPr>
              <a:t>JVM heap</a:t>
            </a:r>
          </a:p>
        </p:txBody>
      </p:sp>
      <p:sp>
        <p:nvSpPr>
          <p:cNvPr id="12" name="TextBox 11"/>
          <p:cNvSpPr txBox="1"/>
          <p:nvPr/>
        </p:nvSpPr>
        <p:spPr>
          <a:xfrm>
            <a:off x="4572000" y="2451100"/>
            <a:ext cx="3073400" cy="245872"/>
          </a:xfrm>
          <a:prstGeom prst="rect">
            <a:avLst/>
          </a:prstGeom>
          <a:noFill/>
        </p:spPr>
        <p:txBody>
          <a:bodyPr wrap="none" lIns="0" rIns="0" tIns="0" bIns="0" anchor="t">
            <a:spAutoFit/>
          </a:bodyPr>
          <a:lstStyle/>
          <a:p>
            <a:pPr>
              <a:spcBef>
                <a:spcPts val="0"/>
              </a:spcBef>
              <a:spcAft>
                <a:spcPts val="0"/>
              </a:spcAft>
            </a:pPr>
            <a:r>
              <a:rPr sz="1200" b="0">
                <a:solidFill>
                  <a:srgbClr val="516978"/>
                </a:solidFill>
                <a:latin typeface="Arial"/>
              </a:rPr>
              <a:t>3 GiB total container cap</a:t>
            </a:r>
          </a:p>
        </p:txBody>
      </p:sp>
      <p:sp>
        <p:nvSpPr>
          <p:cNvPr id="13" name="Rounded Rectangle 12"/>
          <p:cNvSpPr/>
          <p:nvPr/>
        </p:nvSpPr>
        <p:spPr>
          <a:xfrm>
            <a:off x="8128000" y="1511300"/>
            <a:ext cx="3454400" cy="1397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1200" y="1638300"/>
            <a:ext cx="3073400" cy="554736"/>
          </a:xfrm>
          <a:prstGeom prst="rect">
            <a:avLst/>
          </a:prstGeom>
          <a:noFill/>
        </p:spPr>
        <p:txBody>
          <a:bodyPr wrap="none" lIns="0" rIns="0" tIns="0" bIns="0" anchor="t">
            <a:spAutoFit/>
          </a:bodyPr>
          <a:lstStyle/>
          <a:p>
            <a:pPr>
              <a:spcBef>
                <a:spcPts val="0"/>
              </a:spcBef>
              <a:spcAft>
                <a:spcPts val="0"/>
              </a:spcAft>
            </a:pPr>
            <a:r>
              <a:rPr sz="3100" b="1">
                <a:solidFill>
                  <a:srgbClr val="007F78"/>
                </a:solidFill>
                <a:latin typeface="Arial"/>
              </a:rPr>
              <a:t>4</a:t>
            </a:r>
          </a:p>
        </p:txBody>
      </p:sp>
      <p:sp>
        <p:nvSpPr>
          <p:cNvPr id="15" name="TextBox 14"/>
          <p:cNvSpPr txBox="1"/>
          <p:nvPr/>
        </p:nvSpPr>
        <p:spPr>
          <a:xfrm>
            <a:off x="8331200" y="2133600"/>
            <a:ext cx="3073400" cy="294640"/>
          </a:xfrm>
          <a:prstGeom prst="rect">
            <a:avLst/>
          </a:prstGeom>
          <a:noFill/>
        </p:spPr>
        <p:txBody>
          <a:bodyPr wrap="none" lIns="0" rIns="0" tIns="0" bIns="0" anchor="t">
            <a:spAutoFit/>
          </a:bodyPr>
          <a:lstStyle/>
          <a:p>
            <a:pPr>
              <a:spcBef>
                <a:spcPts val="0"/>
              </a:spcBef>
              <a:spcAft>
                <a:spcPts val="0"/>
              </a:spcAft>
            </a:pPr>
            <a:r>
              <a:rPr sz="1500" b="1">
                <a:solidFill>
                  <a:srgbClr val="183342"/>
                </a:solidFill>
                <a:latin typeface="Arial"/>
              </a:rPr>
              <a:t>Shuffle partitions</a:t>
            </a:r>
          </a:p>
        </p:txBody>
      </p:sp>
      <p:sp>
        <p:nvSpPr>
          <p:cNvPr id="16" name="TextBox 15"/>
          <p:cNvSpPr txBox="1"/>
          <p:nvPr/>
        </p:nvSpPr>
        <p:spPr>
          <a:xfrm>
            <a:off x="8331200" y="2451100"/>
            <a:ext cx="3073400" cy="245872"/>
          </a:xfrm>
          <a:prstGeom prst="rect">
            <a:avLst/>
          </a:prstGeom>
          <a:noFill/>
        </p:spPr>
        <p:txBody>
          <a:bodyPr wrap="none" lIns="0" rIns="0" tIns="0" bIns="0" anchor="t">
            <a:spAutoFit/>
          </a:bodyPr>
          <a:lstStyle/>
          <a:p>
            <a:pPr>
              <a:spcBef>
                <a:spcPts val="0"/>
              </a:spcBef>
              <a:spcAft>
                <a:spcPts val="0"/>
              </a:spcAft>
            </a:pPr>
            <a:r>
              <a:rPr sz="1200" b="0">
                <a:solidFill>
                  <a:srgbClr val="516978"/>
                </a:solidFill>
                <a:latin typeface="Arial"/>
              </a:rPr>
              <a:t>Starting choice, not proven optimum</a:t>
            </a:r>
          </a:p>
        </p:txBody>
      </p:sp>
      <p:sp>
        <p:nvSpPr>
          <p:cNvPr id="17" name="Rectangle 16"/>
          <p:cNvSpPr/>
          <p:nvPr/>
        </p:nvSpPr>
        <p:spPr>
          <a:xfrm>
            <a:off x="609600" y="3200400"/>
            <a:ext cx="10972800" cy="457200"/>
          </a:xfrm>
          <a:prstGeom prst="rect">
            <a:avLst/>
          </a:prstGeom>
          <a:solidFill>
            <a:srgbClr val="122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3302000"/>
            <a:ext cx="2540000" cy="278384"/>
          </a:xfrm>
          <a:prstGeom prst="rect">
            <a:avLst/>
          </a:prstGeom>
          <a:noFill/>
        </p:spPr>
        <p:txBody>
          <a:bodyPr wrap="none" lIns="0" rIns="0" tIns="0" bIns="0" anchor="t">
            <a:spAutoFit/>
          </a:bodyPr>
          <a:lstStyle/>
          <a:p>
            <a:pPr>
              <a:spcBef>
                <a:spcPts val="0"/>
              </a:spcBef>
              <a:spcAft>
                <a:spcPts val="0"/>
              </a:spcAft>
            </a:pPr>
            <a:r>
              <a:rPr sz="1400" b="1">
                <a:solidFill>
                  <a:srgbClr val="FFFFFF"/>
                </a:solidFill>
                <a:latin typeface="Arial"/>
              </a:rPr>
              <a:t>Budget / control</a:t>
            </a:r>
          </a:p>
        </p:txBody>
      </p:sp>
      <p:sp>
        <p:nvSpPr>
          <p:cNvPr id="19" name="TextBox 18"/>
          <p:cNvSpPr txBox="1"/>
          <p:nvPr/>
        </p:nvSpPr>
        <p:spPr>
          <a:xfrm>
            <a:off x="3530600" y="3302000"/>
            <a:ext cx="3683000" cy="278384"/>
          </a:xfrm>
          <a:prstGeom prst="rect">
            <a:avLst/>
          </a:prstGeom>
          <a:noFill/>
        </p:spPr>
        <p:txBody>
          <a:bodyPr wrap="none" lIns="0" rIns="0" tIns="0" bIns="0" anchor="t">
            <a:spAutoFit/>
          </a:bodyPr>
          <a:lstStyle/>
          <a:p>
            <a:pPr>
              <a:spcBef>
                <a:spcPts val="0"/>
              </a:spcBef>
              <a:spcAft>
                <a:spcPts val="0"/>
              </a:spcAft>
            </a:pPr>
            <a:r>
              <a:rPr sz="1400" b="1">
                <a:solidFill>
                  <a:srgbClr val="FFFFFF"/>
                </a:solidFill>
                <a:latin typeface="Arial"/>
              </a:rPr>
              <a:t>Local configuration</a:t>
            </a:r>
          </a:p>
        </p:txBody>
      </p:sp>
      <p:sp>
        <p:nvSpPr>
          <p:cNvPr id="20" name="TextBox 19"/>
          <p:cNvSpPr txBox="1"/>
          <p:nvPr/>
        </p:nvSpPr>
        <p:spPr>
          <a:xfrm>
            <a:off x="7467600" y="3302000"/>
            <a:ext cx="3987800" cy="278384"/>
          </a:xfrm>
          <a:prstGeom prst="rect">
            <a:avLst/>
          </a:prstGeom>
          <a:noFill/>
        </p:spPr>
        <p:txBody>
          <a:bodyPr wrap="none" lIns="0" rIns="0" tIns="0" bIns="0" anchor="t">
            <a:spAutoFit/>
          </a:bodyPr>
          <a:lstStyle/>
          <a:p>
            <a:pPr>
              <a:spcBef>
                <a:spcPts val="0"/>
              </a:spcBef>
              <a:spcAft>
                <a:spcPts val="0"/>
              </a:spcAft>
            </a:pPr>
            <a:r>
              <a:rPr sz="1400" b="1">
                <a:solidFill>
                  <a:srgbClr val="FFFFFF"/>
                </a:solidFill>
                <a:latin typeface="Arial"/>
              </a:rPr>
              <a:t>Sizing implication</a:t>
            </a:r>
          </a:p>
        </p:txBody>
      </p:sp>
      <p:sp>
        <p:nvSpPr>
          <p:cNvPr id="21" name="Rectangle 20"/>
          <p:cNvSpPr/>
          <p:nvPr/>
        </p:nvSpPr>
        <p:spPr>
          <a:xfrm>
            <a:off x="609600" y="3657600"/>
            <a:ext cx="10972800" cy="723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6600" y="3759200"/>
            <a:ext cx="25400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Kafka / Connect /</a:t>
            </a:r>
          </a:p>
        </p:txBody>
      </p:sp>
      <p:sp>
        <p:nvSpPr>
          <p:cNvPr id="23" name="TextBox 22"/>
          <p:cNvSpPr txBox="1"/>
          <p:nvPr/>
        </p:nvSpPr>
        <p:spPr>
          <a:xfrm>
            <a:off x="736600" y="4003040"/>
            <a:ext cx="25400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PostgreSQL</a:t>
            </a:r>
          </a:p>
        </p:txBody>
      </p:sp>
      <p:sp>
        <p:nvSpPr>
          <p:cNvPr id="24" name="TextBox 23"/>
          <p:cNvSpPr txBox="1"/>
          <p:nvPr/>
        </p:nvSpPr>
        <p:spPr>
          <a:xfrm>
            <a:off x="3530600" y="3759200"/>
            <a:ext cx="36830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1 GiB / 1 GiB / 512 MiB</a:t>
            </a:r>
          </a:p>
        </p:txBody>
      </p:sp>
      <p:sp>
        <p:nvSpPr>
          <p:cNvPr id="25" name="TextBox 24"/>
          <p:cNvSpPr txBox="1"/>
          <p:nvPr/>
        </p:nvSpPr>
        <p:spPr>
          <a:xfrm>
            <a:off x="7467600" y="3759200"/>
            <a:ext cx="39878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Fit source, CDC and Spark in ~8 GB VM</a:t>
            </a:r>
          </a:p>
        </p:txBody>
      </p:sp>
      <p:sp>
        <p:nvSpPr>
          <p:cNvPr id="26" name="Rectangle 25"/>
          <p:cNvSpPr/>
          <p:nvPr/>
        </p:nvSpPr>
        <p:spPr>
          <a:xfrm>
            <a:off x="609600" y="4381500"/>
            <a:ext cx="10972800" cy="723900"/>
          </a:xfrm>
          <a:prstGeom prst="rect">
            <a:avLst/>
          </a:prstGeom>
          <a:solidFill>
            <a:srgbClr val="EA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600" y="4483100"/>
            <a:ext cx="25400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Streaming intake</a:t>
            </a:r>
          </a:p>
        </p:txBody>
      </p:sp>
      <p:sp>
        <p:nvSpPr>
          <p:cNvPr id="28" name="TextBox 27"/>
          <p:cNvSpPr txBox="1"/>
          <p:nvPr/>
        </p:nvSpPr>
        <p:spPr>
          <a:xfrm>
            <a:off x="3530600" y="4483100"/>
            <a:ext cx="36830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20k offsets / 10s; 32 files / batch</a:t>
            </a:r>
          </a:p>
        </p:txBody>
      </p:sp>
      <p:sp>
        <p:nvSpPr>
          <p:cNvPr id="29" name="TextBox 28"/>
          <p:cNvSpPr txBox="1"/>
          <p:nvPr/>
        </p:nvSpPr>
        <p:spPr>
          <a:xfrm>
            <a:off x="7467600" y="4483100"/>
            <a:ext cx="39878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Bounds intake, not fanout or task memory</a:t>
            </a:r>
          </a:p>
        </p:txBody>
      </p:sp>
      <p:sp>
        <p:nvSpPr>
          <p:cNvPr id="30" name="Rectangle 29"/>
          <p:cNvSpPr/>
          <p:nvPr/>
        </p:nvSpPr>
        <p:spPr>
          <a:xfrm>
            <a:off x="609600" y="5105400"/>
            <a:ext cx="10972800" cy="723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6600" y="5207000"/>
            <a:ext cx="25400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Backlog recovery</a:t>
            </a:r>
          </a:p>
        </p:txBody>
      </p:sp>
      <p:sp>
        <p:nvSpPr>
          <p:cNvPr id="32" name="TextBox 31"/>
          <p:cNvSpPr txBox="1"/>
          <p:nvPr/>
        </p:nvSpPr>
        <p:spPr>
          <a:xfrm>
            <a:off x="3530600" y="5207000"/>
            <a:ext cx="36830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Required rate ≥ λ + B / R</a:t>
            </a:r>
          </a:p>
        </p:txBody>
      </p:sp>
      <p:sp>
        <p:nvSpPr>
          <p:cNvPr id="33" name="TextBox 32"/>
          <p:cNvSpPr txBox="1"/>
          <p:nvPr/>
        </p:nvSpPr>
        <p:spPr>
          <a:xfrm>
            <a:off x="7467600" y="5207000"/>
            <a:ext cx="39878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Arrival λ; backlog B; recovery window R</a:t>
            </a:r>
          </a:p>
        </p:txBody>
      </p:sp>
      <p:sp>
        <p:nvSpPr>
          <p:cNvPr id="34" name="TextBox 33"/>
          <p:cNvSpPr txBox="1"/>
          <p:nvPr/>
        </p:nvSpPr>
        <p:spPr>
          <a:xfrm>
            <a:off x="609600" y="5956300"/>
            <a:ext cx="10972800" cy="278384"/>
          </a:xfrm>
          <a:prstGeom prst="rect">
            <a:avLst/>
          </a:prstGeom>
          <a:noFill/>
        </p:spPr>
        <p:txBody>
          <a:bodyPr wrap="none" lIns="0" rIns="0" tIns="0" bIns="0" anchor="t">
            <a:spAutoFit/>
          </a:bodyPr>
          <a:lstStyle/>
          <a:p>
            <a:pPr>
              <a:spcBef>
                <a:spcPts val="0"/>
              </a:spcBef>
              <a:spcAft>
                <a:spcPts val="0"/>
              </a:spcAft>
            </a:pPr>
            <a:r>
              <a:rPr sz="1400" b="1">
                <a:solidFill>
                  <a:srgbClr val="007F78"/>
                </a:solidFill>
                <a:latin typeface="Arial"/>
              </a:rPr>
              <a:t>Scale from measured CPU, GC/spill, task balance, target scans and freshness—not row count alone.</a:t>
            </a:r>
          </a:p>
        </p:txBody>
      </p:sp>
      <p:cxnSp>
        <p:nvCxnSpPr>
          <p:cNvPr id="35" name="Connector 34"/>
          <p:cNvCxnSpPr/>
          <p:nvPr/>
        </p:nvCxnSpPr>
        <p:spPr>
          <a:xfrm>
            <a:off x="609600" y="6324600"/>
            <a:ext cx="10972800" cy="0"/>
          </a:xfrm>
          <a:prstGeom prst="line">
            <a:avLst/>
          </a:prstGeom>
          <a:ln w="8890">
            <a:solidFill>
              <a:srgbClr val="E5EBEF"/>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09600" y="6451600"/>
            <a:ext cx="10058400" cy="198729"/>
          </a:xfrm>
          <a:prstGeom prst="rect">
            <a:avLst/>
          </a:prstGeom>
          <a:noFill/>
        </p:spPr>
        <p:txBody>
          <a:bodyPr wrap="none" lIns="0" rIns="0" tIns="0" bIns="0" anchor="t">
            <a:spAutoFit/>
          </a:bodyPr>
          <a:lstStyle/>
          <a:p>
            <a:pPr>
              <a:spcBef>
                <a:spcPts val="0"/>
              </a:spcBef>
              <a:spcAft>
                <a:spcPts val="0"/>
              </a:spcAft>
            </a:pPr>
            <a:r>
              <a:rPr sz="910" b="0">
                <a:solidFill>
                  <a:srgbClr val="516978"/>
                </a:solidFill>
                <a:latin typeface="Arial"/>
                <a:hlinkClick r:id="rId2"/>
              </a:rPr>
              <a:t>Sources: docs/performance.md | docker-compose.yaml</a:t>
            </a:r>
          </a:p>
        </p:txBody>
      </p:sp>
      <p:sp>
        <p:nvSpPr>
          <p:cNvPr id="37" name="TextBox 36"/>
          <p:cNvSpPr txBox="1"/>
          <p:nvPr/>
        </p:nvSpPr>
        <p:spPr>
          <a:xfrm>
            <a:off x="10985500" y="6451600"/>
            <a:ext cx="609600" cy="213360"/>
          </a:xfrm>
          <a:prstGeom prst="rect">
            <a:avLst/>
          </a:prstGeom>
          <a:noFill/>
        </p:spPr>
        <p:txBody>
          <a:bodyPr wrap="none" lIns="0" rIns="0" tIns="0" bIns="0" anchor="t">
            <a:spAutoFit/>
          </a:bodyPr>
          <a:lstStyle/>
          <a:p>
            <a:pPr>
              <a:spcBef>
                <a:spcPts val="0"/>
              </a:spcBef>
              <a:spcAft>
                <a:spcPts val="0"/>
              </a:spcAft>
            </a:pPr>
            <a:r>
              <a:rPr sz="1000" b="1">
                <a:solidFill>
                  <a:srgbClr val="516978"/>
                </a:solidFill>
                <a:latin typeface="Arial"/>
              </a:rPr>
              <a:t>09 / 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42900"/>
            <a:ext cx="10972800" cy="213360"/>
          </a:xfrm>
          <a:prstGeom prst="rect">
            <a:avLst/>
          </a:prstGeom>
          <a:noFill/>
        </p:spPr>
        <p:txBody>
          <a:bodyPr wrap="none" lIns="0" rIns="0" tIns="0" bIns="0" anchor="t">
            <a:spAutoFit/>
          </a:bodyPr>
          <a:lstStyle/>
          <a:p>
            <a:pPr>
              <a:spcBef>
                <a:spcPts val="0"/>
              </a:spcBef>
              <a:spcAft>
                <a:spcPts val="0"/>
              </a:spcAft>
            </a:pPr>
            <a:r>
              <a:rPr sz="1000" b="1">
                <a:solidFill>
                  <a:srgbClr val="007F78"/>
                </a:solidFill>
                <a:latin typeface="Arial"/>
              </a:rPr>
              <a:t>VALIDATION METHOD</a:t>
            </a:r>
          </a:p>
        </p:txBody>
      </p:sp>
      <p:sp>
        <p:nvSpPr>
          <p:cNvPr id="4" name="TextBox 3"/>
          <p:cNvSpPr txBox="1"/>
          <p:nvPr/>
        </p:nvSpPr>
        <p:spPr>
          <a:xfrm>
            <a:off x="609600" y="673100"/>
            <a:ext cx="10972800" cy="505968"/>
          </a:xfrm>
          <a:prstGeom prst="rect">
            <a:avLst/>
          </a:prstGeom>
          <a:noFill/>
        </p:spPr>
        <p:txBody>
          <a:bodyPr wrap="none" lIns="0" rIns="0" tIns="0" bIns="0" anchor="t">
            <a:spAutoFit/>
          </a:bodyPr>
          <a:lstStyle/>
          <a:p>
            <a:pPr>
              <a:spcBef>
                <a:spcPts val="0"/>
              </a:spcBef>
              <a:spcAft>
                <a:spcPts val="0"/>
              </a:spcAft>
            </a:pPr>
            <a:r>
              <a:rPr sz="2800" b="1">
                <a:solidFill>
                  <a:srgbClr val="122B3B"/>
                </a:solidFill>
                <a:latin typeface="Arial"/>
              </a:rPr>
              <a:t>Triangulate correctness and performance</a:t>
            </a:r>
          </a:p>
        </p:txBody>
      </p:sp>
      <p:sp>
        <p:nvSpPr>
          <p:cNvPr id="5" name="Rounded Rectangle 4"/>
          <p:cNvSpPr/>
          <p:nvPr/>
        </p:nvSpPr>
        <p:spPr>
          <a:xfrm>
            <a:off x="609600" y="1485900"/>
            <a:ext cx="5308600" cy="18034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1485900"/>
            <a:ext cx="50800" cy="18034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1676400"/>
            <a:ext cx="48768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Semantic tests</a:t>
            </a:r>
          </a:p>
        </p:txBody>
      </p:sp>
      <p:sp>
        <p:nvSpPr>
          <p:cNvPr id="8" name="TextBox 7"/>
          <p:cNvSpPr txBox="1"/>
          <p:nvPr/>
        </p:nvSpPr>
        <p:spPr>
          <a:xfrm>
            <a:off x="838200" y="2083308"/>
            <a:ext cx="4876800" cy="327152"/>
          </a:xfrm>
          <a:prstGeom prst="rect">
            <a:avLst/>
          </a:prstGeom>
          <a:noFill/>
        </p:spPr>
        <p:txBody>
          <a:bodyPr wrap="none" lIns="0" rIns="0" tIns="0" bIns="0" anchor="t">
            <a:spAutoFit/>
          </a:bodyPr>
          <a:lstStyle/>
          <a:p>
            <a:pPr>
              <a:spcBef>
                <a:spcPts val="0"/>
              </a:spcBef>
              <a:spcAft>
                <a:spcPts val="0"/>
              </a:spcAft>
            </a:pPr>
            <a:r>
              <a:rPr sz="1700" b="0">
                <a:solidFill>
                  <a:srgbClr val="516978"/>
                </a:solidFill>
                <a:latin typeface="Arial"/>
              </a:rPr>
              <a:t>Snapshot + CDC • ordering • deletes</a:t>
            </a:r>
          </a:p>
        </p:txBody>
      </p:sp>
      <p:sp>
        <p:nvSpPr>
          <p:cNvPr id="9" name="TextBox 8"/>
          <p:cNvSpPr txBox="1"/>
          <p:nvPr/>
        </p:nvSpPr>
        <p:spPr>
          <a:xfrm>
            <a:off x="838200" y="2359660"/>
            <a:ext cx="4876800" cy="327152"/>
          </a:xfrm>
          <a:prstGeom prst="rect">
            <a:avLst/>
          </a:prstGeom>
          <a:noFill/>
        </p:spPr>
        <p:txBody>
          <a:bodyPr wrap="none" lIns="0" rIns="0" tIns="0" bIns="0" anchor="t">
            <a:spAutoFit/>
          </a:bodyPr>
          <a:lstStyle/>
          <a:p>
            <a:pPr>
              <a:spcBef>
                <a:spcPts val="0"/>
              </a:spcBef>
              <a:spcAft>
                <a:spcPts val="0"/>
              </a:spcAft>
            </a:pPr>
            <a:r>
              <a:rPr sz="1700" b="0">
                <a:solidFill>
                  <a:srgbClr val="516978"/>
                </a:solidFill>
                <a:latin typeface="Arial"/>
              </a:rPr>
              <a:t>Historical joins • quarantine • crash / replay</a:t>
            </a:r>
          </a:p>
        </p:txBody>
      </p:sp>
      <p:sp>
        <p:nvSpPr>
          <p:cNvPr id="10" name="Rounded Rectangle 9"/>
          <p:cNvSpPr/>
          <p:nvPr/>
        </p:nvSpPr>
        <p:spPr>
          <a:xfrm>
            <a:off x="6223000" y="1485900"/>
            <a:ext cx="5359400" cy="18034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23000" y="1485900"/>
            <a:ext cx="50800" cy="18034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51600" y="1676400"/>
            <a:ext cx="49276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Independent source oracle</a:t>
            </a:r>
          </a:p>
        </p:txBody>
      </p:sp>
      <p:sp>
        <p:nvSpPr>
          <p:cNvPr id="13" name="TextBox 12"/>
          <p:cNvSpPr txBox="1"/>
          <p:nvPr/>
        </p:nvSpPr>
        <p:spPr>
          <a:xfrm>
            <a:off x="6451600" y="2083308"/>
            <a:ext cx="4927600" cy="327152"/>
          </a:xfrm>
          <a:prstGeom prst="rect">
            <a:avLst/>
          </a:prstGeom>
          <a:noFill/>
        </p:spPr>
        <p:txBody>
          <a:bodyPr wrap="none" lIns="0" rIns="0" tIns="0" bIns="0" anchor="t">
            <a:spAutoFit/>
          </a:bodyPr>
          <a:lstStyle/>
          <a:p>
            <a:pPr>
              <a:spcBef>
                <a:spcPts val="0"/>
              </a:spcBef>
              <a:spcAft>
                <a:spcPts val="0"/>
              </a:spcAft>
            </a:pPr>
            <a:r>
              <a:rPr sz="1700" b="0">
                <a:solidFill>
                  <a:srgbClr val="516978"/>
                </a:solidFill>
                <a:latin typeface="Arial"/>
              </a:rPr>
              <a:t>Compare all four business queries against</a:t>
            </a:r>
          </a:p>
        </p:txBody>
      </p:sp>
      <p:sp>
        <p:nvSpPr>
          <p:cNvPr id="14" name="TextBox 13"/>
          <p:cNvSpPr txBox="1"/>
          <p:nvPr/>
        </p:nvSpPr>
        <p:spPr>
          <a:xfrm>
            <a:off x="6451600" y="2359660"/>
            <a:ext cx="4927600" cy="327152"/>
          </a:xfrm>
          <a:prstGeom prst="rect">
            <a:avLst/>
          </a:prstGeom>
          <a:noFill/>
        </p:spPr>
        <p:txBody>
          <a:bodyPr wrap="none" lIns="0" rIns="0" tIns="0" bIns="0" anchor="t">
            <a:spAutoFit/>
          </a:bodyPr>
          <a:lstStyle/>
          <a:p>
            <a:pPr>
              <a:spcBef>
                <a:spcPts val="0"/>
              </a:spcBef>
              <a:spcAft>
                <a:spcPts val="0"/>
              </a:spcAft>
            </a:pPr>
            <a:r>
              <a:rPr sz="1700" b="0">
                <a:solidFill>
                  <a:srgbClr val="516978"/>
                </a:solidFill>
                <a:latin typeface="Arial"/>
              </a:rPr>
              <a:t>PostgreSQL before / after changes.</a:t>
            </a:r>
          </a:p>
        </p:txBody>
      </p:sp>
      <p:sp>
        <p:nvSpPr>
          <p:cNvPr id="15" name="Rounded Rectangle 14"/>
          <p:cNvSpPr/>
          <p:nvPr/>
        </p:nvSpPr>
        <p:spPr>
          <a:xfrm>
            <a:off x="609600" y="3581400"/>
            <a:ext cx="5308600" cy="18034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09600" y="3581400"/>
            <a:ext cx="50800" cy="18034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8200" y="3771900"/>
            <a:ext cx="48768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Separate workloads</a:t>
            </a:r>
          </a:p>
        </p:txBody>
      </p:sp>
      <p:sp>
        <p:nvSpPr>
          <p:cNvPr id="18" name="TextBox 17"/>
          <p:cNvSpPr txBox="1"/>
          <p:nvPr/>
        </p:nvSpPr>
        <p:spPr>
          <a:xfrm>
            <a:off x="838200" y="4178808"/>
            <a:ext cx="4876800" cy="327152"/>
          </a:xfrm>
          <a:prstGeom prst="rect">
            <a:avLst/>
          </a:prstGeom>
          <a:noFill/>
        </p:spPr>
        <p:txBody>
          <a:bodyPr wrap="none" lIns="0" rIns="0" tIns="0" bIns="0" anchor="t">
            <a:spAutoFit/>
          </a:bodyPr>
          <a:lstStyle/>
          <a:p>
            <a:pPr>
              <a:spcBef>
                <a:spcPts val="0"/>
              </a:spcBef>
              <a:spcAft>
                <a:spcPts val="0"/>
              </a:spcAft>
            </a:pPr>
            <a:r>
              <a:rPr sz="1700" b="0">
                <a:solidFill>
                  <a:srgbClr val="516978"/>
                </a:solidFill>
                <a:latin typeface="Arial"/>
              </a:rPr>
              <a:t>Bulk fixture • intake bursts • stepped CDC</a:t>
            </a:r>
          </a:p>
        </p:txBody>
      </p:sp>
      <p:sp>
        <p:nvSpPr>
          <p:cNvPr id="19" name="TextBox 18"/>
          <p:cNvSpPr txBox="1"/>
          <p:nvPr/>
        </p:nvSpPr>
        <p:spPr>
          <a:xfrm>
            <a:off x="838200" y="4455160"/>
            <a:ext cx="4876800" cy="327152"/>
          </a:xfrm>
          <a:prstGeom prst="rect">
            <a:avLst/>
          </a:prstGeom>
          <a:noFill/>
        </p:spPr>
        <p:txBody>
          <a:bodyPr wrap="none" lIns="0" rIns="0" tIns="0" bIns="0" anchor="t">
            <a:spAutoFit/>
          </a:bodyPr>
          <a:lstStyle/>
          <a:p>
            <a:pPr>
              <a:spcBef>
                <a:spcPts val="0"/>
              </a:spcBef>
              <a:spcAft>
                <a:spcPts val="0"/>
              </a:spcAft>
            </a:pPr>
            <a:r>
              <a:rPr sz="1700" b="0">
                <a:solidFill>
                  <a:srgbClr val="516978"/>
                </a:solidFill>
                <a:latin typeface="Arial"/>
              </a:rPr>
              <a:t>Hot parent • query concurrency • outage</a:t>
            </a:r>
          </a:p>
        </p:txBody>
      </p:sp>
      <p:sp>
        <p:nvSpPr>
          <p:cNvPr id="20" name="Rounded Rectangle 19"/>
          <p:cNvSpPr/>
          <p:nvPr/>
        </p:nvSpPr>
        <p:spPr>
          <a:xfrm>
            <a:off x="6223000" y="3581400"/>
            <a:ext cx="5359400" cy="18034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23000" y="3581400"/>
            <a:ext cx="50800" cy="18034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51600" y="3771900"/>
            <a:ext cx="49276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Evidence and accounting</a:t>
            </a:r>
          </a:p>
        </p:txBody>
      </p:sp>
      <p:sp>
        <p:nvSpPr>
          <p:cNvPr id="23" name="TextBox 22"/>
          <p:cNvSpPr txBox="1"/>
          <p:nvPr/>
        </p:nvSpPr>
        <p:spPr>
          <a:xfrm>
            <a:off x="6451600" y="4178808"/>
            <a:ext cx="4927600" cy="327152"/>
          </a:xfrm>
          <a:prstGeom prst="rect">
            <a:avLst/>
          </a:prstGeom>
          <a:noFill/>
        </p:spPr>
        <p:txBody>
          <a:bodyPr wrap="none" lIns="0" rIns="0" tIns="0" bIns="0" anchor="t">
            <a:spAutoFit/>
          </a:bodyPr>
          <a:lstStyle/>
          <a:p>
            <a:pPr>
              <a:spcBef>
                <a:spcPts val="0"/>
              </a:spcBef>
              <a:spcAft>
                <a:spcPts val="0"/>
              </a:spcAft>
            </a:pPr>
            <a:r>
              <a:rPr sz="1700" b="0">
                <a:solidFill>
                  <a:srgbClr val="516978"/>
                </a:solidFill>
                <a:latin typeface="Arial"/>
              </a:rPr>
              <a:t>Native task logs + stream progress</a:t>
            </a:r>
          </a:p>
        </p:txBody>
      </p:sp>
      <p:sp>
        <p:nvSpPr>
          <p:cNvPr id="24" name="TextBox 23"/>
          <p:cNvSpPr txBox="1"/>
          <p:nvPr/>
        </p:nvSpPr>
        <p:spPr>
          <a:xfrm>
            <a:off x="6451600" y="4455160"/>
            <a:ext cx="4927600" cy="327152"/>
          </a:xfrm>
          <a:prstGeom prst="rect">
            <a:avLst/>
          </a:prstGeom>
          <a:noFill/>
        </p:spPr>
        <p:txBody>
          <a:bodyPr wrap="none" lIns="0" rIns="0" tIns="0" bIns="0" anchor="t">
            <a:spAutoFit/>
          </a:bodyPr>
          <a:lstStyle/>
          <a:p>
            <a:pPr>
              <a:spcBef>
                <a:spcPts val="0"/>
              </a:spcBef>
              <a:spcAft>
                <a:spcPts val="0"/>
              </a:spcAft>
            </a:pPr>
            <a:r>
              <a:rPr sz="1700" b="0">
                <a:solidFill>
                  <a:srgbClr val="516978"/>
                </a:solidFill>
                <a:latin typeface="Arial"/>
              </a:rPr>
              <a:t>Unique Kafka coordinates + publication counts</a:t>
            </a:r>
          </a:p>
        </p:txBody>
      </p:sp>
      <p:sp>
        <p:nvSpPr>
          <p:cNvPr id="25" name="TextBox 24"/>
          <p:cNvSpPr txBox="1"/>
          <p:nvPr/>
        </p:nvSpPr>
        <p:spPr>
          <a:xfrm>
            <a:off x="609600" y="5765800"/>
            <a:ext cx="10972800" cy="327152"/>
          </a:xfrm>
          <a:prstGeom prst="rect">
            <a:avLst/>
          </a:prstGeom>
          <a:noFill/>
        </p:spPr>
        <p:txBody>
          <a:bodyPr wrap="none" lIns="0" rIns="0" tIns="0" bIns="0" anchor="t">
            <a:spAutoFit/>
          </a:bodyPr>
          <a:lstStyle/>
          <a:p>
            <a:pPr>
              <a:spcBef>
                <a:spcPts val="0"/>
              </a:spcBef>
              <a:spcAft>
                <a:spcPts val="0"/>
              </a:spcAft>
            </a:pPr>
            <a:r>
              <a:rPr sz="1700" b="1">
                <a:solidFill>
                  <a:srgbClr val="007F78"/>
                </a:solidFill>
                <a:latin typeface="Arial"/>
              </a:rPr>
              <a:t>Synthetic data; short steps; actual rates reported; no production SLA inferred.</a:t>
            </a:r>
          </a:p>
        </p:txBody>
      </p:sp>
      <p:cxnSp>
        <p:nvCxnSpPr>
          <p:cNvPr id="26" name="Connector 25"/>
          <p:cNvCxnSpPr/>
          <p:nvPr/>
        </p:nvCxnSpPr>
        <p:spPr>
          <a:xfrm>
            <a:off x="609600" y="6324600"/>
            <a:ext cx="10972800" cy="0"/>
          </a:xfrm>
          <a:prstGeom prst="line">
            <a:avLst/>
          </a:prstGeom>
          <a:ln w="8890">
            <a:solidFill>
              <a:srgbClr val="E5EBEF"/>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09600" y="6451600"/>
            <a:ext cx="10058400" cy="198729"/>
          </a:xfrm>
          <a:prstGeom prst="rect">
            <a:avLst/>
          </a:prstGeom>
          <a:noFill/>
        </p:spPr>
        <p:txBody>
          <a:bodyPr wrap="none" lIns="0" rIns="0" tIns="0" bIns="0" anchor="t">
            <a:spAutoFit/>
          </a:bodyPr>
          <a:lstStyle/>
          <a:p>
            <a:pPr>
              <a:spcBef>
                <a:spcPts val="0"/>
              </a:spcBef>
              <a:spcAft>
                <a:spcPts val="0"/>
              </a:spcAft>
            </a:pPr>
            <a:r>
              <a:rPr sz="910" b="0">
                <a:solidFill>
                  <a:srgbClr val="516978"/>
                </a:solidFill>
                <a:latin typeface="Arial"/>
                <a:hlinkClick r:id="rId2"/>
              </a:rPr>
              <a:t>Sources: tests/test_pipeline.py | docs/evidence/README.md</a:t>
            </a:r>
          </a:p>
        </p:txBody>
      </p:sp>
      <p:sp>
        <p:nvSpPr>
          <p:cNvPr id="28" name="TextBox 27"/>
          <p:cNvSpPr txBox="1"/>
          <p:nvPr/>
        </p:nvSpPr>
        <p:spPr>
          <a:xfrm>
            <a:off x="10985500" y="6451600"/>
            <a:ext cx="609600" cy="213360"/>
          </a:xfrm>
          <a:prstGeom prst="rect">
            <a:avLst/>
          </a:prstGeom>
          <a:noFill/>
        </p:spPr>
        <p:txBody>
          <a:bodyPr wrap="none" lIns="0" rIns="0" tIns="0" bIns="0" anchor="t">
            <a:spAutoFit/>
          </a:bodyPr>
          <a:lstStyle/>
          <a:p>
            <a:pPr>
              <a:spcBef>
                <a:spcPts val="0"/>
              </a:spcBef>
              <a:spcAft>
                <a:spcPts val="0"/>
              </a:spcAft>
            </a:pPr>
            <a:r>
              <a:rPr sz="1000" b="1">
                <a:solidFill>
                  <a:srgbClr val="516978"/>
                </a:solidFill>
                <a:latin typeface="Arial"/>
              </a:rPr>
              <a:t>10 / 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42900"/>
            <a:ext cx="10972800" cy="213360"/>
          </a:xfrm>
          <a:prstGeom prst="rect">
            <a:avLst/>
          </a:prstGeom>
          <a:noFill/>
        </p:spPr>
        <p:txBody>
          <a:bodyPr wrap="none" lIns="0" rIns="0" tIns="0" bIns="0" anchor="t">
            <a:spAutoFit/>
          </a:bodyPr>
          <a:lstStyle/>
          <a:p>
            <a:pPr>
              <a:spcBef>
                <a:spcPts val="0"/>
              </a:spcBef>
              <a:spcAft>
                <a:spcPts val="0"/>
              </a:spcAft>
            </a:pPr>
            <a:r>
              <a:rPr sz="1000" b="1">
                <a:solidFill>
                  <a:srgbClr val="007F78"/>
                </a:solidFill>
                <a:latin typeface="Arial"/>
              </a:rPr>
              <a:t>PERFORMANCE / BULK</a:t>
            </a:r>
          </a:p>
        </p:txBody>
      </p:sp>
      <p:sp>
        <p:nvSpPr>
          <p:cNvPr id="4" name="TextBox 3"/>
          <p:cNvSpPr txBox="1"/>
          <p:nvPr/>
        </p:nvSpPr>
        <p:spPr>
          <a:xfrm>
            <a:off x="609600" y="673100"/>
            <a:ext cx="10972800" cy="505968"/>
          </a:xfrm>
          <a:prstGeom prst="rect">
            <a:avLst/>
          </a:prstGeom>
          <a:noFill/>
        </p:spPr>
        <p:txBody>
          <a:bodyPr wrap="none" lIns="0" rIns="0" tIns="0" bIns="0" anchor="t">
            <a:spAutoFit/>
          </a:bodyPr>
          <a:lstStyle/>
          <a:p>
            <a:pPr>
              <a:spcBef>
                <a:spcPts val="0"/>
              </a:spcBef>
              <a:spcAft>
                <a:spcPts val="0"/>
              </a:spcAft>
            </a:pPr>
            <a:r>
              <a:rPr sz="2800" b="1">
                <a:solidFill>
                  <a:srgbClr val="122B3B"/>
                </a:solidFill>
                <a:latin typeface="Arial"/>
              </a:rPr>
              <a:t>Gold dominates as retained state grows</a:t>
            </a:r>
          </a:p>
        </p:txBody>
      </p:sp>
      <p:pic>
        <p:nvPicPr>
          <p:cNvPr id="5" name="Picture 4" descr="materialization.png"/>
          <p:cNvPicPr>
            <a:picLocks noChangeAspect="1"/>
          </p:cNvPicPr>
          <p:nvPr/>
        </p:nvPicPr>
        <p:blipFill>
          <a:blip r:embed="rId2"/>
          <a:stretch>
            <a:fillRect/>
          </a:stretch>
        </p:blipFill>
        <p:spPr>
          <a:xfrm>
            <a:off x="609600" y="1498600"/>
            <a:ext cx="7556500" cy="3987800"/>
          </a:xfrm>
          <a:prstGeom prst="rect">
            <a:avLst/>
          </a:prstGeom>
        </p:spPr>
      </p:pic>
      <p:sp>
        <p:nvSpPr>
          <p:cNvPr id="6" name="Rounded Rectangle 5"/>
          <p:cNvSpPr/>
          <p:nvPr/>
        </p:nvSpPr>
        <p:spPr>
          <a:xfrm>
            <a:off x="8445500" y="1511300"/>
            <a:ext cx="3136900" cy="1397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48700" y="1638300"/>
            <a:ext cx="2755900" cy="554736"/>
          </a:xfrm>
          <a:prstGeom prst="rect">
            <a:avLst/>
          </a:prstGeom>
          <a:noFill/>
        </p:spPr>
        <p:txBody>
          <a:bodyPr wrap="none" lIns="0" rIns="0" tIns="0" bIns="0" anchor="t">
            <a:spAutoFit/>
          </a:bodyPr>
          <a:lstStyle/>
          <a:p>
            <a:pPr>
              <a:spcBef>
                <a:spcPts val="0"/>
              </a:spcBef>
              <a:spcAft>
                <a:spcPts val="0"/>
              </a:spcAft>
            </a:pPr>
            <a:r>
              <a:rPr sz="3100" b="1">
                <a:solidFill>
                  <a:srgbClr val="007F78"/>
                </a:solidFill>
                <a:latin typeface="Arial"/>
              </a:rPr>
              <a:t>370.5s</a:t>
            </a:r>
          </a:p>
        </p:txBody>
      </p:sp>
      <p:sp>
        <p:nvSpPr>
          <p:cNvPr id="8" name="TextBox 7"/>
          <p:cNvSpPr txBox="1"/>
          <p:nvPr/>
        </p:nvSpPr>
        <p:spPr>
          <a:xfrm>
            <a:off x="8648700" y="2133600"/>
            <a:ext cx="2755900" cy="294640"/>
          </a:xfrm>
          <a:prstGeom prst="rect">
            <a:avLst/>
          </a:prstGeom>
          <a:noFill/>
        </p:spPr>
        <p:txBody>
          <a:bodyPr wrap="none" lIns="0" rIns="0" tIns="0" bIns="0" anchor="t">
            <a:spAutoFit/>
          </a:bodyPr>
          <a:lstStyle/>
          <a:p>
            <a:pPr>
              <a:spcBef>
                <a:spcPts val="0"/>
              </a:spcBef>
              <a:spcAft>
                <a:spcPts val="0"/>
              </a:spcAft>
            </a:pPr>
            <a:r>
              <a:rPr sz="1500" b="1">
                <a:solidFill>
                  <a:srgbClr val="183342"/>
                </a:solidFill>
                <a:latin typeface="Arial"/>
              </a:rPr>
              <a:t>6,000,200 input events</a:t>
            </a:r>
          </a:p>
        </p:txBody>
      </p:sp>
      <p:sp>
        <p:nvSpPr>
          <p:cNvPr id="9" name="TextBox 8"/>
          <p:cNvSpPr txBox="1"/>
          <p:nvPr/>
        </p:nvSpPr>
        <p:spPr>
          <a:xfrm>
            <a:off x="8648700" y="2451100"/>
            <a:ext cx="2755900" cy="245872"/>
          </a:xfrm>
          <a:prstGeom prst="rect">
            <a:avLst/>
          </a:prstGeom>
          <a:noFill/>
        </p:spPr>
        <p:txBody>
          <a:bodyPr wrap="none" lIns="0" rIns="0" tIns="0" bIns="0" anchor="t">
            <a:spAutoFit/>
          </a:bodyPr>
          <a:lstStyle/>
          <a:p>
            <a:pPr>
              <a:spcBef>
                <a:spcPts val="0"/>
              </a:spcBef>
              <a:spcAft>
                <a:spcPts val="0"/>
              </a:spcAft>
            </a:pPr>
            <a:r>
              <a:rPr sz="1200" b="0">
                <a:solidFill>
                  <a:srgbClr val="516978"/>
                </a:solidFill>
                <a:latin typeface="Arial"/>
              </a:rPr>
              <a:t>Initial materialization</a:t>
            </a:r>
          </a:p>
        </p:txBody>
      </p:sp>
      <p:sp>
        <p:nvSpPr>
          <p:cNvPr id="10" name="Rounded Rectangle 9"/>
          <p:cNvSpPr/>
          <p:nvPr/>
        </p:nvSpPr>
        <p:spPr>
          <a:xfrm>
            <a:off x="8445500" y="3136900"/>
            <a:ext cx="3136900" cy="1397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48700" y="3263900"/>
            <a:ext cx="2755900" cy="554736"/>
          </a:xfrm>
          <a:prstGeom prst="rect">
            <a:avLst/>
          </a:prstGeom>
          <a:noFill/>
        </p:spPr>
        <p:txBody>
          <a:bodyPr wrap="none" lIns="0" rIns="0" tIns="0" bIns="0" anchor="t">
            <a:spAutoFit/>
          </a:bodyPr>
          <a:lstStyle/>
          <a:p>
            <a:pPr>
              <a:spcBef>
                <a:spcPts val="0"/>
              </a:spcBef>
              <a:spcAft>
                <a:spcPts val="0"/>
              </a:spcAft>
            </a:pPr>
            <a:r>
              <a:rPr sz="3100" b="1">
                <a:solidFill>
                  <a:srgbClr val="007F78"/>
                </a:solidFill>
                <a:latin typeface="Arial"/>
              </a:rPr>
              <a:t>63%</a:t>
            </a:r>
          </a:p>
        </p:txBody>
      </p:sp>
      <p:sp>
        <p:nvSpPr>
          <p:cNvPr id="12" name="TextBox 11"/>
          <p:cNvSpPr txBox="1"/>
          <p:nvPr/>
        </p:nvSpPr>
        <p:spPr>
          <a:xfrm>
            <a:off x="8648700" y="3759200"/>
            <a:ext cx="2755900" cy="294640"/>
          </a:xfrm>
          <a:prstGeom prst="rect">
            <a:avLst/>
          </a:prstGeom>
          <a:noFill/>
        </p:spPr>
        <p:txBody>
          <a:bodyPr wrap="none" lIns="0" rIns="0" tIns="0" bIns="0" anchor="t">
            <a:spAutoFit/>
          </a:bodyPr>
          <a:lstStyle/>
          <a:p>
            <a:pPr>
              <a:spcBef>
                <a:spcPts val="0"/>
              </a:spcBef>
              <a:spcAft>
                <a:spcPts val="0"/>
              </a:spcAft>
            </a:pPr>
            <a:r>
              <a:rPr sz="1500" b="1">
                <a:solidFill>
                  <a:srgbClr val="183342"/>
                </a:solidFill>
                <a:latin typeface="Arial"/>
              </a:rPr>
              <a:t>Time in Gold refresh</a:t>
            </a:r>
          </a:p>
        </p:txBody>
      </p:sp>
      <p:sp>
        <p:nvSpPr>
          <p:cNvPr id="13" name="TextBox 12"/>
          <p:cNvSpPr txBox="1"/>
          <p:nvPr/>
        </p:nvSpPr>
        <p:spPr>
          <a:xfrm>
            <a:off x="8648700" y="4076700"/>
            <a:ext cx="2755900" cy="245872"/>
          </a:xfrm>
          <a:prstGeom prst="rect">
            <a:avLst/>
          </a:prstGeom>
          <a:noFill/>
        </p:spPr>
        <p:txBody>
          <a:bodyPr wrap="none" lIns="0" rIns="0" tIns="0" bIns="0" anchor="t">
            <a:spAutoFit/>
          </a:bodyPr>
          <a:lstStyle/>
          <a:p>
            <a:pPr>
              <a:spcBef>
                <a:spcPts val="0"/>
              </a:spcBef>
              <a:spcAft>
                <a:spcPts val="0"/>
              </a:spcAft>
            </a:pPr>
            <a:r>
              <a:rPr sz="1200" b="0">
                <a:solidFill>
                  <a:srgbClr val="516978"/>
                </a:solidFill>
                <a:latin typeface="Arial"/>
              </a:rPr>
              <a:t>232.5s of 370.5s</a:t>
            </a:r>
          </a:p>
        </p:txBody>
      </p:sp>
      <p:sp>
        <p:nvSpPr>
          <p:cNvPr id="14" name="TextBox 13"/>
          <p:cNvSpPr txBox="1"/>
          <p:nvPr/>
        </p:nvSpPr>
        <p:spPr>
          <a:xfrm>
            <a:off x="8445500" y="4851400"/>
            <a:ext cx="3136900" cy="327152"/>
          </a:xfrm>
          <a:prstGeom prst="rect">
            <a:avLst/>
          </a:prstGeom>
          <a:noFill/>
        </p:spPr>
        <p:txBody>
          <a:bodyPr wrap="none" lIns="0" rIns="0" tIns="0" bIns="0" anchor="t">
            <a:spAutoFit/>
          </a:bodyPr>
          <a:lstStyle/>
          <a:p>
            <a:pPr>
              <a:spcBef>
                <a:spcPts val="0"/>
              </a:spcBef>
              <a:spcAft>
                <a:spcPts val="0"/>
              </a:spcAft>
            </a:pPr>
            <a:r>
              <a:rPr sz="1700" b="1">
                <a:solidFill>
                  <a:srgbClr val="AD4D3D"/>
                </a:solidFill>
                <a:latin typeface="Arial"/>
              </a:rPr>
              <a:t>846 MB disk spill</a:t>
            </a:r>
          </a:p>
        </p:txBody>
      </p:sp>
      <p:sp>
        <p:nvSpPr>
          <p:cNvPr id="15" name="TextBox 14"/>
          <p:cNvSpPr txBox="1"/>
          <p:nvPr/>
        </p:nvSpPr>
        <p:spPr>
          <a:xfrm>
            <a:off x="8445500" y="5127752"/>
            <a:ext cx="3136900" cy="327152"/>
          </a:xfrm>
          <a:prstGeom prst="rect">
            <a:avLst/>
          </a:prstGeom>
          <a:noFill/>
        </p:spPr>
        <p:txBody>
          <a:bodyPr wrap="none" lIns="0" rIns="0" tIns="0" bIns="0" anchor="t">
            <a:spAutoFit/>
          </a:bodyPr>
          <a:lstStyle/>
          <a:p>
            <a:pPr>
              <a:spcBef>
                <a:spcPts val="0"/>
              </a:spcBef>
              <a:spcAft>
                <a:spcPts val="0"/>
              </a:spcAft>
            </a:pPr>
            <a:r>
              <a:rPr sz="1700" b="1">
                <a:solidFill>
                  <a:srgbClr val="AD4D3D"/>
                </a:solidFill>
                <a:latin typeface="Arial"/>
              </a:rPr>
              <a:t>Memory pressure near cap</a:t>
            </a:r>
          </a:p>
        </p:txBody>
      </p:sp>
      <p:sp>
        <p:nvSpPr>
          <p:cNvPr id="16" name="TextBox 15"/>
          <p:cNvSpPr txBox="1"/>
          <p:nvPr/>
        </p:nvSpPr>
        <p:spPr>
          <a:xfrm>
            <a:off x="8445500" y="5404104"/>
            <a:ext cx="3136900" cy="327152"/>
          </a:xfrm>
          <a:prstGeom prst="rect">
            <a:avLst/>
          </a:prstGeom>
          <a:noFill/>
        </p:spPr>
        <p:txBody>
          <a:bodyPr wrap="none" lIns="0" rIns="0" tIns="0" bIns="0" anchor="t">
            <a:spAutoFit/>
          </a:bodyPr>
          <a:lstStyle/>
          <a:p>
            <a:pPr>
              <a:spcBef>
                <a:spcPts val="0"/>
              </a:spcBef>
              <a:spcAft>
                <a:spcPts val="0"/>
              </a:spcAft>
            </a:pPr>
            <a:r>
              <a:rPr sz="1700" b="1">
                <a:solidFill>
                  <a:srgbClr val="AD4D3D"/>
                </a:solidFill>
                <a:latin typeface="Arial"/>
              </a:rPr>
              <a:t>0 failed task attempts</a:t>
            </a:r>
          </a:p>
        </p:txBody>
      </p:sp>
      <p:sp>
        <p:nvSpPr>
          <p:cNvPr id="17" name="TextBox 16"/>
          <p:cNvSpPr txBox="1"/>
          <p:nvPr/>
        </p:nvSpPr>
        <p:spPr>
          <a:xfrm>
            <a:off x="609600" y="5854700"/>
            <a:ext cx="10972800" cy="310896"/>
          </a:xfrm>
          <a:prstGeom prst="rect">
            <a:avLst/>
          </a:prstGeom>
          <a:noFill/>
        </p:spPr>
        <p:txBody>
          <a:bodyPr wrap="none" lIns="0" rIns="0" tIns="0" bIns="0" anchor="t">
            <a:spAutoFit/>
          </a:bodyPr>
          <a:lstStyle/>
          <a:p>
            <a:pPr>
              <a:spcBef>
                <a:spcPts val="0"/>
              </a:spcBef>
              <a:spcAft>
                <a:spcPts val="0"/>
              </a:spcAft>
            </a:pPr>
            <a:r>
              <a:rPr sz="1600" b="1">
                <a:solidFill>
                  <a:srgbClr val="007F78"/>
                </a:solidFill>
                <a:latin typeface="Arial"/>
              </a:rPr>
              <a:t>Doubling ~3m → ~6m events increased initial materialization time by 2.66×.</a:t>
            </a:r>
          </a:p>
        </p:txBody>
      </p:sp>
      <p:cxnSp>
        <p:nvCxnSpPr>
          <p:cNvPr id="18" name="Connector 17"/>
          <p:cNvCxnSpPr/>
          <p:nvPr/>
        </p:nvCxnSpPr>
        <p:spPr>
          <a:xfrm>
            <a:off x="609600" y="6324600"/>
            <a:ext cx="10972800" cy="0"/>
          </a:xfrm>
          <a:prstGeom prst="line">
            <a:avLst/>
          </a:prstGeom>
          <a:ln w="8890">
            <a:solidFill>
              <a:srgbClr val="E5EBEF"/>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09600" y="6451600"/>
            <a:ext cx="10058400" cy="198729"/>
          </a:xfrm>
          <a:prstGeom prst="rect">
            <a:avLst/>
          </a:prstGeom>
          <a:noFill/>
        </p:spPr>
        <p:txBody>
          <a:bodyPr wrap="none" lIns="0" rIns="0" tIns="0" bIns="0" anchor="t">
            <a:spAutoFit/>
          </a:bodyPr>
          <a:lstStyle/>
          <a:p>
            <a:pPr>
              <a:spcBef>
                <a:spcPts val="0"/>
              </a:spcBef>
              <a:spcAft>
                <a:spcPts val="0"/>
              </a:spcAft>
            </a:pPr>
            <a:r>
              <a:rPr sz="910" b="0">
                <a:solidFill>
                  <a:srgbClr val="516978"/>
                </a:solidFill>
                <a:latin typeface="Arial"/>
                <a:hlinkClick r:id="rId3"/>
              </a:rPr>
              <a:t>Sources: docs/evidence/stress/materialization.json | docs/evidence/stress/scale-1m-spark-metrics.json</a:t>
            </a:r>
          </a:p>
        </p:txBody>
      </p:sp>
      <p:sp>
        <p:nvSpPr>
          <p:cNvPr id="20" name="TextBox 19"/>
          <p:cNvSpPr txBox="1"/>
          <p:nvPr/>
        </p:nvSpPr>
        <p:spPr>
          <a:xfrm>
            <a:off x="10985500" y="6451600"/>
            <a:ext cx="609600" cy="213360"/>
          </a:xfrm>
          <a:prstGeom prst="rect">
            <a:avLst/>
          </a:prstGeom>
          <a:noFill/>
        </p:spPr>
        <p:txBody>
          <a:bodyPr wrap="none" lIns="0" rIns="0" tIns="0" bIns="0" anchor="t">
            <a:spAutoFit/>
          </a:bodyPr>
          <a:lstStyle/>
          <a:p>
            <a:pPr>
              <a:spcBef>
                <a:spcPts val="0"/>
              </a:spcBef>
              <a:spcAft>
                <a:spcPts val="0"/>
              </a:spcAft>
            </a:pPr>
            <a:r>
              <a:rPr sz="1000" b="1">
                <a:solidFill>
                  <a:srgbClr val="516978"/>
                </a:solidFill>
                <a:latin typeface="Arial"/>
              </a:rPr>
              <a:t>11 / 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42900"/>
            <a:ext cx="10972800" cy="213360"/>
          </a:xfrm>
          <a:prstGeom prst="rect">
            <a:avLst/>
          </a:prstGeom>
          <a:noFill/>
        </p:spPr>
        <p:txBody>
          <a:bodyPr wrap="none" lIns="0" rIns="0" tIns="0" bIns="0" anchor="t">
            <a:spAutoFit/>
          </a:bodyPr>
          <a:lstStyle/>
          <a:p>
            <a:pPr>
              <a:spcBef>
                <a:spcPts val="0"/>
              </a:spcBef>
              <a:spcAft>
                <a:spcPts val="0"/>
              </a:spcAft>
            </a:pPr>
            <a:r>
              <a:rPr sz="1000" b="1">
                <a:solidFill>
                  <a:srgbClr val="007F78"/>
                </a:solidFill>
                <a:latin typeface="Arial"/>
              </a:rPr>
              <a:t>PERFORMANCE / STREAMING</a:t>
            </a:r>
          </a:p>
        </p:txBody>
      </p:sp>
      <p:sp>
        <p:nvSpPr>
          <p:cNvPr id="4" name="TextBox 3"/>
          <p:cNvSpPr txBox="1"/>
          <p:nvPr/>
        </p:nvSpPr>
        <p:spPr>
          <a:xfrm>
            <a:off x="609600" y="673100"/>
            <a:ext cx="10972800" cy="505968"/>
          </a:xfrm>
          <a:prstGeom prst="rect">
            <a:avLst/>
          </a:prstGeom>
          <a:noFill/>
        </p:spPr>
        <p:txBody>
          <a:bodyPr wrap="none" lIns="0" rIns="0" tIns="0" bIns="0" anchor="t">
            <a:spAutoFit/>
          </a:bodyPr>
          <a:lstStyle/>
          <a:p>
            <a:pPr>
              <a:spcBef>
                <a:spcPts val="0"/>
              </a:spcBef>
              <a:spcAft>
                <a:spcPts val="0"/>
              </a:spcAft>
            </a:pPr>
            <a:r>
              <a:rPr sz="2800" b="1">
                <a:solidFill>
                  <a:srgbClr val="122B3B"/>
                </a:solidFill>
                <a:latin typeface="Arial"/>
              </a:rPr>
              <a:t>Freshness degrades without container failures</a:t>
            </a:r>
          </a:p>
        </p:txBody>
      </p:sp>
      <p:pic>
        <p:nvPicPr>
          <p:cNvPr id="5" name="Picture 4" descr="freshness.png"/>
          <p:cNvPicPr>
            <a:picLocks noChangeAspect="1"/>
          </p:cNvPicPr>
          <p:nvPr/>
        </p:nvPicPr>
        <p:blipFill>
          <a:blip r:embed="rId2"/>
          <a:stretch>
            <a:fillRect/>
          </a:stretch>
        </p:blipFill>
        <p:spPr>
          <a:xfrm>
            <a:off x="609600" y="1485900"/>
            <a:ext cx="7556500" cy="3987800"/>
          </a:xfrm>
          <a:prstGeom prst="rect">
            <a:avLst/>
          </a:prstGeom>
        </p:spPr>
      </p:pic>
      <p:sp>
        <p:nvSpPr>
          <p:cNvPr id="6" name="Rounded Rectangle 5"/>
          <p:cNvSpPr/>
          <p:nvPr/>
        </p:nvSpPr>
        <p:spPr>
          <a:xfrm>
            <a:off x="8445500" y="1511300"/>
            <a:ext cx="3136900" cy="18161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445500" y="1511300"/>
            <a:ext cx="50800" cy="1816100"/>
          </a:xfrm>
          <a:prstGeom prst="rect">
            <a:avLst/>
          </a:prstGeom>
          <a:solidFill>
            <a:srgbClr val="D49C3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74100" y="1701800"/>
            <a:ext cx="27051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Reference breached</a:t>
            </a:r>
          </a:p>
        </p:txBody>
      </p:sp>
      <p:sp>
        <p:nvSpPr>
          <p:cNvPr id="9" name="TextBox 8"/>
          <p:cNvSpPr txBox="1"/>
          <p:nvPr/>
        </p:nvSpPr>
        <p:spPr>
          <a:xfrm>
            <a:off x="8674100" y="2108708"/>
            <a:ext cx="27051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235 events/s: largest batch</a:t>
            </a:r>
          </a:p>
        </p:txBody>
      </p:sp>
      <p:sp>
        <p:nvSpPr>
          <p:cNvPr id="10" name="TextBox 9"/>
          <p:cNvSpPr txBox="1"/>
          <p:nvPr/>
        </p:nvSpPr>
        <p:spPr>
          <a:xfrm>
            <a:off x="8674100" y="2368804"/>
            <a:ext cx="27051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p95 = 32.5s</a:t>
            </a:r>
          </a:p>
        </p:txBody>
      </p:sp>
      <p:sp>
        <p:nvSpPr>
          <p:cNvPr id="11" name="TextBox 10"/>
          <p:cNvSpPr txBox="1"/>
          <p:nvPr/>
        </p:nvSpPr>
        <p:spPr>
          <a:xfrm>
            <a:off x="8674100" y="2628900"/>
            <a:ext cx="27051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2,587 events/s: 112.5s</a:t>
            </a:r>
          </a:p>
        </p:txBody>
      </p:sp>
      <p:sp>
        <p:nvSpPr>
          <p:cNvPr id="12" name="Rounded Rectangle 11"/>
          <p:cNvSpPr/>
          <p:nvPr/>
        </p:nvSpPr>
        <p:spPr>
          <a:xfrm>
            <a:off x="8445500" y="3594100"/>
            <a:ext cx="3136900" cy="18161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445500" y="3594100"/>
            <a:ext cx="50800" cy="18161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74100" y="3784600"/>
            <a:ext cx="27051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Catch-up observed</a:t>
            </a:r>
          </a:p>
        </p:txBody>
      </p:sp>
      <p:sp>
        <p:nvSpPr>
          <p:cNvPr id="15" name="TextBox 14"/>
          <p:cNvSpPr txBox="1"/>
          <p:nvPr/>
        </p:nvSpPr>
        <p:spPr>
          <a:xfrm>
            <a:off x="8674100" y="4191508"/>
            <a:ext cx="27051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All four steps drained.</a:t>
            </a:r>
          </a:p>
        </p:txBody>
      </p:sp>
      <p:sp>
        <p:nvSpPr>
          <p:cNvPr id="16" name="TextBox 15"/>
          <p:cNvSpPr txBox="1"/>
          <p:nvPr/>
        </p:nvSpPr>
        <p:spPr>
          <a:xfrm>
            <a:off x="8674100" y="4451604"/>
            <a:ext cx="27051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Highest two steps: ~66s and</a:t>
            </a:r>
          </a:p>
        </p:txBody>
      </p:sp>
      <p:sp>
        <p:nvSpPr>
          <p:cNvPr id="17" name="TextBox 16"/>
          <p:cNvSpPr txBox="1"/>
          <p:nvPr/>
        </p:nvSpPr>
        <p:spPr>
          <a:xfrm>
            <a:off x="8674100" y="4711700"/>
            <a:ext cx="27051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~70s after load stopped.</a:t>
            </a:r>
          </a:p>
        </p:txBody>
      </p:sp>
      <p:sp>
        <p:nvSpPr>
          <p:cNvPr id="18" name="TextBox 17"/>
          <p:cNvSpPr txBox="1"/>
          <p:nvPr/>
        </p:nvSpPr>
        <p:spPr>
          <a:xfrm>
            <a:off x="609600" y="5740400"/>
            <a:ext cx="10972800" cy="278384"/>
          </a:xfrm>
          <a:prstGeom prst="rect">
            <a:avLst/>
          </a:prstGeom>
          <a:noFill/>
        </p:spPr>
        <p:txBody>
          <a:bodyPr wrap="none" lIns="0" rIns="0" tIns="0" bIns="0" anchor="t">
            <a:spAutoFit/>
          </a:bodyPr>
          <a:lstStyle/>
          <a:p>
            <a:pPr>
              <a:spcBef>
                <a:spcPts val="0"/>
              </a:spcBef>
              <a:spcAft>
                <a:spcPts val="0"/>
              </a:spcAft>
            </a:pPr>
            <a:r>
              <a:rPr sz="1400" b="0">
                <a:solidFill>
                  <a:srgbClr val="516978"/>
                </a:solidFill>
                <a:latin typeface="Arial"/>
              </a:rPr>
              <a:t>Per-batch age summaries—not global event p95. Steps ~2 minutes; nominal 6k/s was not reached.</a:t>
            </a:r>
          </a:p>
        </p:txBody>
      </p:sp>
      <p:cxnSp>
        <p:nvCxnSpPr>
          <p:cNvPr id="19" name="Connector 18"/>
          <p:cNvCxnSpPr/>
          <p:nvPr/>
        </p:nvCxnSpPr>
        <p:spPr>
          <a:xfrm>
            <a:off x="609600" y="6324600"/>
            <a:ext cx="10972800" cy="0"/>
          </a:xfrm>
          <a:prstGeom prst="line">
            <a:avLst/>
          </a:prstGeom>
          <a:ln w="8890">
            <a:solidFill>
              <a:srgbClr val="E5EBEF"/>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09600" y="6451600"/>
            <a:ext cx="10058400" cy="198729"/>
          </a:xfrm>
          <a:prstGeom prst="rect">
            <a:avLst/>
          </a:prstGeom>
          <a:noFill/>
        </p:spPr>
        <p:txBody>
          <a:bodyPr wrap="none" lIns="0" rIns="0" tIns="0" bIns="0" anchor="t">
            <a:spAutoFit/>
          </a:bodyPr>
          <a:lstStyle/>
          <a:p>
            <a:pPr>
              <a:spcBef>
                <a:spcPts val="0"/>
              </a:spcBef>
              <a:spcAft>
                <a:spcPts val="0"/>
              </a:spcAft>
            </a:pPr>
            <a:r>
              <a:rPr sz="910" b="0">
                <a:solidFill>
                  <a:srgbClr val="516978"/>
                </a:solidFill>
                <a:latin typeface="Arial"/>
                <a:hlinkClick r:id="rId3"/>
              </a:rPr>
              <a:t>Sources: docs/evidence/stress/streaming-levels.json | docs/evidence/stress/streaming-batches.json</a:t>
            </a:r>
          </a:p>
        </p:txBody>
      </p:sp>
      <p:sp>
        <p:nvSpPr>
          <p:cNvPr id="21" name="TextBox 20"/>
          <p:cNvSpPr txBox="1"/>
          <p:nvPr/>
        </p:nvSpPr>
        <p:spPr>
          <a:xfrm>
            <a:off x="10985500" y="6451600"/>
            <a:ext cx="609600" cy="213360"/>
          </a:xfrm>
          <a:prstGeom prst="rect">
            <a:avLst/>
          </a:prstGeom>
          <a:noFill/>
        </p:spPr>
        <p:txBody>
          <a:bodyPr wrap="none" lIns="0" rIns="0" tIns="0" bIns="0" anchor="t">
            <a:spAutoFit/>
          </a:bodyPr>
          <a:lstStyle/>
          <a:p>
            <a:pPr>
              <a:spcBef>
                <a:spcPts val="0"/>
              </a:spcBef>
              <a:spcAft>
                <a:spcPts val="0"/>
              </a:spcAft>
            </a:pPr>
            <a:r>
              <a:rPr sz="1000" b="1">
                <a:solidFill>
                  <a:srgbClr val="516978"/>
                </a:solidFill>
                <a:latin typeface="Arial"/>
              </a:rPr>
              <a:t>12 / 22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42900"/>
            <a:ext cx="10972800" cy="213360"/>
          </a:xfrm>
          <a:prstGeom prst="rect">
            <a:avLst/>
          </a:prstGeom>
          <a:noFill/>
        </p:spPr>
        <p:txBody>
          <a:bodyPr wrap="none" lIns="0" rIns="0" tIns="0" bIns="0" anchor="t">
            <a:spAutoFit/>
          </a:bodyPr>
          <a:lstStyle/>
          <a:p>
            <a:pPr>
              <a:spcBef>
                <a:spcPts val="0"/>
              </a:spcBef>
              <a:spcAft>
                <a:spcPts val="0"/>
              </a:spcAft>
            </a:pPr>
            <a:r>
              <a:rPr sz="1000" b="1">
                <a:solidFill>
                  <a:srgbClr val="007F78"/>
                </a:solidFill>
                <a:latin typeface="Arial"/>
              </a:rPr>
              <a:t>INTEGRITY / RECOVERY</a:t>
            </a:r>
          </a:p>
        </p:txBody>
      </p:sp>
      <p:sp>
        <p:nvSpPr>
          <p:cNvPr id="4" name="TextBox 3"/>
          <p:cNvSpPr txBox="1"/>
          <p:nvPr/>
        </p:nvSpPr>
        <p:spPr>
          <a:xfrm>
            <a:off x="609600" y="673100"/>
            <a:ext cx="10972800" cy="505968"/>
          </a:xfrm>
          <a:prstGeom prst="rect">
            <a:avLst/>
          </a:prstGeom>
          <a:noFill/>
        </p:spPr>
        <p:txBody>
          <a:bodyPr wrap="none" lIns="0" rIns="0" tIns="0" bIns="0" anchor="t">
            <a:spAutoFit/>
          </a:bodyPr>
          <a:lstStyle/>
          <a:p>
            <a:pPr>
              <a:spcBef>
                <a:spcPts val="0"/>
              </a:spcBef>
              <a:spcAft>
                <a:spcPts val="0"/>
              </a:spcAft>
            </a:pPr>
            <a:r>
              <a:rPr sz="2800" b="1">
                <a:solidFill>
                  <a:srgbClr val="122B3B"/>
                </a:solidFill>
                <a:latin typeface="Arial"/>
              </a:rPr>
              <a:t>Correctness survives a temporary broker outage</a:t>
            </a:r>
          </a:p>
        </p:txBody>
      </p:sp>
      <p:sp>
        <p:nvSpPr>
          <p:cNvPr id="5" name="Rounded Rectangle 4"/>
          <p:cNvSpPr/>
          <p:nvPr/>
        </p:nvSpPr>
        <p:spPr>
          <a:xfrm>
            <a:off x="609600" y="1498600"/>
            <a:ext cx="3454400" cy="1397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12800" y="1625600"/>
            <a:ext cx="3073400" cy="554736"/>
          </a:xfrm>
          <a:prstGeom prst="rect">
            <a:avLst/>
          </a:prstGeom>
          <a:noFill/>
        </p:spPr>
        <p:txBody>
          <a:bodyPr wrap="none" lIns="0" rIns="0" tIns="0" bIns="0" anchor="t">
            <a:spAutoFit/>
          </a:bodyPr>
          <a:lstStyle/>
          <a:p>
            <a:pPr>
              <a:spcBef>
                <a:spcPts val="0"/>
              </a:spcBef>
              <a:spcAft>
                <a:spcPts val="0"/>
              </a:spcAft>
            </a:pPr>
            <a:r>
              <a:rPr sz="3100" b="1">
                <a:solidFill>
                  <a:srgbClr val="007F78"/>
                </a:solidFill>
                <a:latin typeface="Arial"/>
              </a:rPr>
              <a:t>774,001</a:t>
            </a:r>
          </a:p>
        </p:txBody>
      </p:sp>
      <p:sp>
        <p:nvSpPr>
          <p:cNvPr id="7" name="TextBox 6"/>
          <p:cNvSpPr txBox="1"/>
          <p:nvPr/>
        </p:nvSpPr>
        <p:spPr>
          <a:xfrm>
            <a:off x="812800" y="2120900"/>
            <a:ext cx="3073400" cy="294640"/>
          </a:xfrm>
          <a:prstGeom prst="rect">
            <a:avLst/>
          </a:prstGeom>
          <a:noFill/>
        </p:spPr>
        <p:txBody>
          <a:bodyPr wrap="none" lIns="0" rIns="0" tIns="0" bIns="0" anchor="t">
            <a:spAutoFit/>
          </a:bodyPr>
          <a:lstStyle/>
          <a:p>
            <a:pPr>
              <a:spcBef>
                <a:spcPts val="0"/>
              </a:spcBef>
              <a:spcAft>
                <a:spcPts val="0"/>
              </a:spcAft>
            </a:pPr>
            <a:r>
              <a:rPr sz="1500" b="1">
                <a:solidFill>
                  <a:srgbClr val="183342"/>
                </a:solidFill>
                <a:latin typeface="Arial"/>
              </a:rPr>
              <a:t>Kafka events = Bronze rows</a:t>
            </a:r>
          </a:p>
        </p:txBody>
      </p:sp>
      <p:sp>
        <p:nvSpPr>
          <p:cNvPr id="8" name="TextBox 7"/>
          <p:cNvSpPr txBox="1"/>
          <p:nvPr/>
        </p:nvSpPr>
        <p:spPr>
          <a:xfrm>
            <a:off x="812800" y="2438400"/>
            <a:ext cx="3073400" cy="245872"/>
          </a:xfrm>
          <a:prstGeom prst="rect">
            <a:avLst/>
          </a:prstGeom>
          <a:noFill/>
        </p:spPr>
        <p:txBody>
          <a:bodyPr wrap="none" lIns="0" rIns="0" tIns="0" bIns="0" anchor="t">
            <a:spAutoFit/>
          </a:bodyPr>
          <a:lstStyle/>
          <a:p>
            <a:pPr>
              <a:spcBef>
                <a:spcPts val="0"/>
              </a:spcBef>
              <a:spcAft>
                <a:spcPts val="0"/>
              </a:spcAft>
            </a:pPr>
            <a:r>
              <a:rPr sz="1200" b="0">
                <a:solidFill>
                  <a:srgbClr val="516978"/>
                </a:solidFill>
                <a:latin typeface="Arial"/>
              </a:rPr>
              <a:t>Also unique Kafka coordinates</a:t>
            </a:r>
          </a:p>
        </p:txBody>
      </p:sp>
      <p:sp>
        <p:nvSpPr>
          <p:cNvPr id="9" name="Rounded Rectangle 8"/>
          <p:cNvSpPr/>
          <p:nvPr/>
        </p:nvSpPr>
        <p:spPr>
          <a:xfrm>
            <a:off x="4368800" y="1498600"/>
            <a:ext cx="3454400" cy="1397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625600"/>
            <a:ext cx="3073400" cy="554736"/>
          </a:xfrm>
          <a:prstGeom prst="rect">
            <a:avLst/>
          </a:prstGeom>
          <a:noFill/>
        </p:spPr>
        <p:txBody>
          <a:bodyPr wrap="none" lIns="0" rIns="0" tIns="0" bIns="0" anchor="t">
            <a:spAutoFit/>
          </a:bodyPr>
          <a:lstStyle/>
          <a:p>
            <a:pPr>
              <a:spcBef>
                <a:spcPts val="0"/>
              </a:spcBef>
              <a:spcAft>
                <a:spcPts val="0"/>
              </a:spcAft>
            </a:pPr>
            <a:r>
              <a:rPr sz="3100" b="1">
                <a:solidFill>
                  <a:srgbClr val="007F78"/>
                </a:solidFill>
                <a:latin typeface="Arial"/>
              </a:rPr>
              <a:t>3 / 3</a:t>
            </a:r>
          </a:p>
        </p:txBody>
      </p:sp>
      <p:sp>
        <p:nvSpPr>
          <p:cNvPr id="11" name="TextBox 10"/>
          <p:cNvSpPr txBox="1"/>
          <p:nvPr/>
        </p:nvSpPr>
        <p:spPr>
          <a:xfrm>
            <a:off x="4572000" y="2120900"/>
            <a:ext cx="3073400" cy="294640"/>
          </a:xfrm>
          <a:prstGeom prst="rect">
            <a:avLst/>
          </a:prstGeom>
          <a:noFill/>
        </p:spPr>
        <p:txBody>
          <a:bodyPr wrap="none" lIns="0" rIns="0" tIns="0" bIns="0" anchor="t">
            <a:spAutoFit/>
          </a:bodyPr>
          <a:lstStyle/>
          <a:p>
            <a:pPr>
              <a:spcBef>
                <a:spcPts val="0"/>
              </a:spcBef>
              <a:spcAft>
                <a:spcPts val="0"/>
              </a:spcAft>
            </a:pPr>
            <a:r>
              <a:rPr sz="1500" b="1">
                <a:solidFill>
                  <a:srgbClr val="183342"/>
                </a:solidFill>
                <a:latin typeface="Arial"/>
              </a:rPr>
              <a:t>Metric reconciliations passed</a:t>
            </a:r>
          </a:p>
        </p:txBody>
      </p:sp>
      <p:sp>
        <p:nvSpPr>
          <p:cNvPr id="12" name="TextBox 11"/>
          <p:cNvSpPr txBox="1"/>
          <p:nvPr/>
        </p:nvSpPr>
        <p:spPr>
          <a:xfrm>
            <a:off x="4572000" y="2438400"/>
            <a:ext cx="3073400" cy="245872"/>
          </a:xfrm>
          <a:prstGeom prst="rect">
            <a:avLst/>
          </a:prstGeom>
          <a:noFill/>
        </p:spPr>
        <p:txBody>
          <a:bodyPr wrap="none" lIns="0" rIns="0" tIns="0" bIns="0" anchor="t">
            <a:spAutoFit/>
          </a:bodyPr>
          <a:lstStyle/>
          <a:p>
            <a:pPr>
              <a:spcBef>
                <a:spcPts val="0"/>
              </a:spcBef>
              <a:spcAft>
                <a:spcPts val="0"/>
              </a:spcAft>
            </a:pPr>
            <a:r>
              <a:rPr sz="1200" b="0">
                <a:solidFill>
                  <a:srgbClr val="516978"/>
                </a:solidFill>
                <a:latin typeface="Arial"/>
              </a:rPr>
              <a:t>All four business questions</a:t>
            </a:r>
          </a:p>
        </p:txBody>
      </p:sp>
      <p:sp>
        <p:nvSpPr>
          <p:cNvPr id="13" name="Rounded Rectangle 12"/>
          <p:cNvSpPr/>
          <p:nvPr/>
        </p:nvSpPr>
        <p:spPr>
          <a:xfrm>
            <a:off x="8128000" y="1498600"/>
            <a:ext cx="3454400" cy="1397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31200" y="1625600"/>
            <a:ext cx="3073400" cy="554736"/>
          </a:xfrm>
          <a:prstGeom prst="rect">
            <a:avLst/>
          </a:prstGeom>
          <a:noFill/>
        </p:spPr>
        <p:txBody>
          <a:bodyPr wrap="none" lIns="0" rIns="0" tIns="0" bIns="0" anchor="t">
            <a:spAutoFit/>
          </a:bodyPr>
          <a:lstStyle/>
          <a:p>
            <a:pPr>
              <a:spcBef>
                <a:spcPts val="0"/>
              </a:spcBef>
              <a:spcAft>
                <a:spcPts val="0"/>
              </a:spcAft>
            </a:pPr>
            <a:r>
              <a:rPr sz="3100" b="1">
                <a:solidFill>
                  <a:srgbClr val="007F78"/>
                </a:solidFill>
                <a:latin typeface="Arial"/>
              </a:rPr>
              <a:t>53.5s</a:t>
            </a:r>
          </a:p>
        </p:txBody>
      </p:sp>
      <p:sp>
        <p:nvSpPr>
          <p:cNvPr id="15" name="TextBox 14"/>
          <p:cNvSpPr txBox="1"/>
          <p:nvPr/>
        </p:nvSpPr>
        <p:spPr>
          <a:xfrm>
            <a:off x="8331200" y="2120900"/>
            <a:ext cx="3073400" cy="294640"/>
          </a:xfrm>
          <a:prstGeom prst="rect">
            <a:avLst/>
          </a:prstGeom>
          <a:noFill/>
        </p:spPr>
        <p:txBody>
          <a:bodyPr wrap="none" lIns="0" rIns="0" tIns="0" bIns="0" anchor="t">
            <a:spAutoFit/>
          </a:bodyPr>
          <a:lstStyle/>
          <a:p>
            <a:pPr>
              <a:spcBef>
                <a:spcPts val="0"/>
              </a:spcBef>
              <a:spcAft>
                <a:spcPts val="0"/>
              </a:spcAft>
            </a:pPr>
            <a:r>
              <a:rPr sz="1500" b="1">
                <a:solidFill>
                  <a:srgbClr val="183342"/>
                </a:solidFill>
                <a:latin typeface="Arial"/>
              </a:rPr>
              <a:t>Observed recovery interval</a:t>
            </a:r>
          </a:p>
        </p:txBody>
      </p:sp>
      <p:sp>
        <p:nvSpPr>
          <p:cNvPr id="16" name="TextBox 15"/>
          <p:cNvSpPr txBox="1"/>
          <p:nvPr/>
        </p:nvSpPr>
        <p:spPr>
          <a:xfrm>
            <a:off x="8331200" y="2438400"/>
            <a:ext cx="3073400" cy="245872"/>
          </a:xfrm>
          <a:prstGeom prst="rect">
            <a:avLst/>
          </a:prstGeom>
          <a:noFill/>
        </p:spPr>
        <p:txBody>
          <a:bodyPr wrap="none" lIns="0" rIns="0" tIns="0" bIns="0" anchor="t">
            <a:spAutoFit/>
          </a:bodyPr>
          <a:lstStyle/>
          <a:p>
            <a:pPr>
              <a:spcBef>
                <a:spcPts val="0"/>
              </a:spcBef>
              <a:spcAft>
                <a:spcPts val="0"/>
              </a:spcAft>
            </a:pPr>
            <a:r>
              <a:rPr sz="1200" b="0">
                <a:solidFill>
                  <a:srgbClr val="516978"/>
                </a:solidFill>
                <a:latin typeface="Arial"/>
              </a:rPr>
              <a:t>Stop → restart → catch-up → poll</a:t>
            </a:r>
          </a:p>
        </p:txBody>
      </p:sp>
      <p:sp>
        <p:nvSpPr>
          <p:cNvPr id="17" name="Rounded Rectangle 16"/>
          <p:cNvSpPr/>
          <p:nvPr/>
        </p:nvSpPr>
        <p:spPr>
          <a:xfrm>
            <a:off x="609600" y="3340100"/>
            <a:ext cx="5308600" cy="21717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9600" y="3340100"/>
            <a:ext cx="50800" cy="21717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8200" y="3530600"/>
            <a:ext cx="48768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Mutations exercised</a:t>
            </a:r>
          </a:p>
        </p:txBody>
      </p:sp>
      <p:sp>
        <p:nvSpPr>
          <p:cNvPr id="20" name="TextBox 19"/>
          <p:cNvSpPr txBox="1"/>
          <p:nvPr/>
        </p:nvSpPr>
        <p:spPr>
          <a:xfrm>
            <a:off x="838200" y="3937508"/>
            <a:ext cx="4876800" cy="327152"/>
          </a:xfrm>
          <a:prstGeom prst="rect">
            <a:avLst/>
          </a:prstGeom>
          <a:noFill/>
        </p:spPr>
        <p:txBody>
          <a:bodyPr wrap="none" lIns="0" rIns="0" tIns="0" bIns="0" anchor="t">
            <a:spAutoFit/>
          </a:bodyPr>
          <a:lstStyle/>
          <a:p>
            <a:pPr>
              <a:spcBef>
                <a:spcPts val="0"/>
              </a:spcBef>
              <a:spcAft>
                <a:spcPts val="0"/>
              </a:spcAft>
            </a:pPr>
            <a:r>
              <a:rPr sz="1700" b="0">
                <a:solidFill>
                  <a:srgbClr val="516978"/>
                </a:solidFill>
                <a:latin typeface="Arial"/>
              </a:rPr>
              <a:t>12,375 order updates</a:t>
            </a:r>
          </a:p>
        </p:txBody>
      </p:sp>
      <p:sp>
        <p:nvSpPr>
          <p:cNvPr id="21" name="TextBox 20"/>
          <p:cNvSpPr txBox="1"/>
          <p:nvPr/>
        </p:nvSpPr>
        <p:spPr>
          <a:xfrm>
            <a:off x="838200" y="4213860"/>
            <a:ext cx="4876800" cy="327152"/>
          </a:xfrm>
          <a:prstGeom prst="rect">
            <a:avLst/>
          </a:prstGeom>
          <a:noFill/>
        </p:spPr>
        <p:txBody>
          <a:bodyPr wrap="none" lIns="0" rIns="0" tIns="0" bIns="0" anchor="t">
            <a:spAutoFit/>
          </a:bodyPr>
          <a:lstStyle/>
          <a:p>
            <a:pPr>
              <a:spcBef>
                <a:spcPts val="0"/>
              </a:spcBef>
              <a:spcAft>
                <a:spcPts val="0"/>
              </a:spcAft>
            </a:pPr>
            <a:r>
              <a:rPr sz="1700" b="0">
                <a:solidFill>
                  <a:srgbClr val="516978"/>
                </a:solidFill>
                <a:latin typeface="Arial"/>
              </a:rPr>
              <a:t>6,378 item deletes + tombstones</a:t>
            </a:r>
          </a:p>
        </p:txBody>
      </p:sp>
      <p:sp>
        <p:nvSpPr>
          <p:cNvPr id="22" name="TextBox 21"/>
          <p:cNvSpPr txBox="1"/>
          <p:nvPr/>
        </p:nvSpPr>
        <p:spPr>
          <a:xfrm>
            <a:off x="838200" y="4490212"/>
            <a:ext cx="4876800" cy="327152"/>
          </a:xfrm>
          <a:prstGeom prst="rect">
            <a:avLst/>
          </a:prstGeom>
          <a:noFill/>
        </p:spPr>
        <p:txBody>
          <a:bodyPr wrap="none" lIns="0" rIns="0" tIns="0" bIns="0" anchor="t">
            <a:spAutoFit/>
          </a:bodyPr>
          <a:lstStyle/>
          <a:p>
            <a:pPr>
              <a:spcBef>
                <a:spcPts val="0"/>
              </a:spcBef>
              <a:spcAft>
                <a:spcPts val="0"/>
              </a:spcAft>
            </a:pPr>
            <a:r>
              <a:rPr sz="1700" b="0">
                <a:solidFill>
                  <a:srgbClr val="516978"/>
                </a:solidFill>
                <a:latin typeface="Arial"/>
              </a:rPr>
              <a:t>6,000 source events while Kafka was down</a:t>
            </a:r>
          </a:p>
        </p:txBody>
      </p:sp>
      <p:sp>
        <p:nvSpPr>
          <p:cNvPr id="23" name="Rounded Rectangle 22"/>
          <p:cNvSpPr/>
          <p:nvPr/>
        </p:nvSpPr>
        <p:spPr>
          <a:xfrm>
            <a:off x="6223000" y="3340100"/>
            <a:ext cx="5359400" cy="21717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223000" y="3340100"/>
            <a:ext cx="50800" cy="21717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51600" y="3530600"/>
            <a:ext cx="49276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Final source / Gold agreement</a:t>
            </a:r>
          </a:p>
        </p:txBody>
      </p:sp>
      <p:sp>
        <p:nvSpPr>
          <p:cNvPr id="26" name="TextBox 25"/>
          <p:cNvSpPr txBox="1"/>
          <p:nvPr/>
        </p:nvSpPr>
        <p:spPr>
          <a:xfrm>
            <a:off x="6451600" y="3937508"/>
            <a:ext cx="4927600" cy="327152"/>
          </a:xfrm>
          <a:prstGeom prst="rect">
            <a:avLst/>
          </a:prstGeom>
          <a:noFill/>
        </p:spPr>
        <p:txBody>
          <a:bodyPr wrap="none" lIns="0" rIns="0" tIns="0" bIns="0" anchor="t">
            <a:spAutoFit/>
          </a:bodyPr>
          <a:lstStyle/>
          <a:p>
            <a:pPr>
              <a:spcBef>
                <a:spcPts val="0"/>
              </a:spcBef>
              <a:spcAft>
                <a:spcPts val="0"/>
              </a:spcAft>
            </a:pPr>
            <a:r>
              <a:rPr sz="1700" b="0">
                <a:solidFill>
                  <a:srgbClr val="516978"/>
                </a:solidFill>
                <a:latin typeface="Arial"/>
              </a:rPr>
              <a:t>124,756 orders</a:t>
            </a:r>
          </a:p>
        </p:txBody>
      </p:sp>
      <p:sp>
        <p:nvSpPr>
          <p:cNvPr id="27" name="TextBox 26"/>
          <p:cNvSpPr txBox="1"/>
          <p:nvPr/>
        </p:nvSpPr>
        <p:spPr>
          <a:xfrm>
            <a:off x="6451600" y="4213860"/>
            <a:ext cx="4927600" cy="327152"/>
          </a:xfrm>
          <a:prstGeom prst="rect">
            <a:avLst/>
          </a:prstGeom>
          <a:noFill/>
        </p:spPr>
        <p:txBody>
          <a:bodyPr wrap="none" lIns="0" rIns="0" tIns="0" bIns="0" anchor="t">
            <a:spAutoFit/>
          </a:bodyPr>
          <a:lstStyle/>
          <a:p>
            <a:pPr>
              <a:spcBef>
                <a:spcPts val="0"/>
              </a:spcBef>
              <a:spcAft>
                <a:spcPts val="0"/>
              </a:spcAft>
            </a:pPr>
            <a:r>
              <a:rPr sz="1700" b="0">
                <a:solidFill>
                  <a:srgbClr val="516978"/>
                </a:solidFill>
                <a:latin typeface="Arial"/>
              </a:rPr>
              <a:t>617,528 active items</a:t>
            </a:r>
          </a:p>
        </p:txBody>
      </p:sp>
      <p:sp>
        <p:nvSpPr>
          <p:cNvPr id="28" name="TextBox 27"/>
          <p:cNvSpPr txBox="1"/>
          <p:nvPr/>
        </p:nvSpPr>
        <p:spPr>
          <a:xfrm>
            <a:off x="6451600" y="4490212"/>
            <a:ext cx="4927600" cy="327152"/>
          </a:xfrm>
          <a:prstGeom prst="rect">
            <a:avLst/>
          </a:prstGeom>
          <a:noFill/>
        </p:spPr>
        <p:txBody>
          <a:bodyPr wrap="none" lIns="0" rIns="0" tIns="0" bIns="0" anchor="t">
            <a:spAutoFit/>
          </a:bodyPr>
          <a:lstStyle/>
          <a:p>
            <a:pPr>
              <a:spcBef>
                <a:spcPts val="0"/>
              </a:spcBef>
              <a:spcAft>
                <a:spcPts val="0"/>
              </a:spcAft>
            </a:pPr>
            <a:r>
              <a:rPr sz="1700" b="0">
                <a:solidFill>
                  <a:srgbClr val="516978"/>
                </a:solidFill>
                <a:latin typeface="Arial"/>
              </a:rPr>
              <a:t>3,167,520 units</a:t>
            </a:r>
          </a:p>
        </p:txBody>
      </p:sp>
      <p:sp>
        <p:nvSpPr>
          <p:cNvPr id="29" name="TextBox 28"/>
          <p:cNvSpPr txBox="1"/>
          <p:nvPr/>
        </p:nvSpPr>
        <p:spPr>
          <a:xfrm>
            <a:off x="609600" y="5829300"/>
            <a:ext cx="10972800" cy="294640"/>
          </a:xfrm>
          <a:prstGeom prst="rect">
            <a:avLst/>
          </a:prstGeom>
          <a:noFill/>
        </p:spPr>
        <p:txBody>
          <a:bodyPr wrap="none" lIns="0" rIns="0" tIns="0" bIns="0" anchor="t">
            <a:spAutoFit/>
          </a:bodyPr>
          <a:lstStyle/>
          <a:p>
            <a:pPr>
              <a:spcBef>
                <a:spcPts val="0"/>
              </a:spcBef>
              <a:spcAft>
                <a:spcPts val="0"/>
              </a:spcAft>
            </a:pPr>
            <a:r>
              <a:rPr sz="1500" b="1">
                <a:solidFill>
                  <a:srgbClr val="007F78"/>
                </a:solidFill>
                <a:latin typeface="Arial"/>
              </a:rPr>
              <a:t>Retained volumes / offsets / checkpoints. This is recovery evidence, not single-broker HA.</a:t>
            </a:r>
          </a:p>
        </p:txBody>
      </p:sp>
      <p:cxnSp>
        <p:nvCxnSpPr>
          <p:cNvPr id="30" name="Connector 29"/>
          <p:cNvCxnSpPr/>
          <p:nvPr/>
        </p:nvCxnSpPr>
        <p:spPr>
          <a:xfrm>
            <a:off x="609600" y="6324600"/>
            <a:ext cx="10972800" cy="0"/>
          </a:xfrm>
          <a:prstGeom prst="line">
            <a:avLst/>
          </a:prstGeom>
          <a:ln w="8890">
            <a:solidFill>
              <a:srgbClr val="E5EBEF"/>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09600" y="6451600"/>
            <a:ext cx="10058400" cy="198729"/>
          </a:xfrm>
          <a:prstGeom prst="rect">
            <a:avLst/>
          </a:prstGeom>
          <a:noFill/>
        </p:spPr>
        <p:txBody>
          <a:bodyPr wrap="none" lIns="0" rIns="0" tIns="0" bIns="0" anchor="t">
            <a:spAutoFit/>
          </a:bodyPr>
          <a:lstStyle/>
          <a:p>
            <a:pPr>
              <a:spcBef>
                <a:spcPts val="0"/>
              </a:spcBef>
              <a:spcAft>
                <a:spcPts val="0"/>
              </a:spcAft>
            </a:pPr>
            <a:r>
              <a:rPr sz="910" b="0">
                <a:solidFill>
                  <a:srgbClr val="516978"/>
                </a:solidFill>
                <a:latin typeface="Arial"/>
                <a:hlinkClick r:id="rId2"/>
              </a:rPr>
              <a:t>Sources: docs/evidence/stress/final-integrity.json | docs/evidence/stress/broker-outage.jsonl</a:t>
            </a:r>
          </a:p>
        </p:txBody>
      </p:sp>
      <p:sp>
        <p:nvSpPr>
          <p:cNvPr id="32" name="TextBox 31"/>
          <p:cNvSpPr txBox="1"/>
          <p:nvPr/>
        </p:nvSpPr>
        <p:spPr>
          <a:xfrm>
            <a:off x="10985500" y="6451600"/>
            <a:ext cx="609600" cy="213360"/>
          </a:xfrm>
          <a:prstGeom prst="rect">
            <a:avLst/>
          </a:prstGeom>
          <a:noFill/>
        </p:spPr>
        <p:txBody>
          <a:bodyPr wrap="none" lIns="0" rIns="0" tIns="0" bIns="0" anchor="t">
            <a:spAutoFit/>
          </a:bodyPr>
          <a:lstStyle/>
          <a:p>
            <a:pPr>
              <a:spcBef>
                <a:spcPts val="0"/>
              </a:spcBef>
              <a:spcAft>
                <a:spcPts val="0"/>
              </a:spcAft>
            </a:pPr>
            <a:r>
              <a:rPr sz="1000" b="1">
                <a:solidFill>
                  <a:srgbClr val="516978"/>
                </a:solidFill>
                <a:latin typeface="Arial"/>
              </a:rPr>
              <a:t>13 / 22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42900"/>
            <a:ext cx="10972800" cy="213360"/>
          </a:xfrm>
          <a:prstGeom prst="rect">
            <a:avLst/>
          </a:prstGeom>
          <a:noFill/>
        </p:spPr>
        <p:txBody>
          <a:bodyPr wrap="none" lIns="0" rIns="0" tIns="0" bIns="0" anchor="t">
            <a:spAutoFit/>
          </a:bodyPr>
          <a:lstStyle/>
          <a:p>
            <a:pPr>
              <a:spcBef>
                <a:spcPts val="0"/>
              </a:spcBef>
              <a:spcAft>
                <a:spcPts val="0"/>
              </a:spcAft>
            </a:pPr>
            <a:r>
              <a:rPr sz="1000" b="1">
                <a:solidFill>
                  <a:srgbClr val="007F78"/>
                </a:solidFill>
                <a:latin typeface="Arial"/>
              </a:rPr>
              <a:t>NEXT EXPERIMENTS</a:t>
            </a:r>
          </a:p>
        </p:txBody>
      </p:sp>
      <p:sp>
        <p:nvSpPr>
          <p:cNvPr id="4" name="TextBox 3"/>
          <p:cNvSpPr txBox="1"/>
          <p:nvPr/>
        </p:nvSpPr>
        <p:spPr>
          <a:xfrm>
            <a:off x="609600" y="673100"/>
            <a:ext cx="10972800" cy="505968"/>
          </a:xfrm>
          <a:prstGeom prst="rect">
            <a:avLst/>
          </a:prstGeom>
          <a:noFill/>
        </p:spPr>
        <p:txBody>
          <a:bodyPr wrap="none" lIns="0" rIns="0" tIns="0" bIns="0" anchor="t">
            <a:spAutoFit/>
          </a:bodyPr>
          <a:lstStyle/>
          <a:p>
            <a:pPr>
              <a:spcBef>
                <a:spcPts val="0"/>
              </a:spcBef>
              <a:spcAft>
                <a:spcPts val="0"/>
              </a:spcAft>
            </a:pPr>
            <a:r>
              <a:rPr sz="2800" b="1">
                <a:solidFill>
                  <a:srgbClr val="122B3B"/>
                </a:solidFill>
                <a:latin typeface="Arial"/>
              </a:rPr>
              <a:t>Scale the measured constraint first</a:t>
            </a:r>
          </a:p>
        </p:txBody>
      </p:sp>
      <p:sp>
        <p:nvSpPr>
          <p:cNvPr id="5" name="Rectangle 4"/>
          <p:cNvSpPr/>
          <p:nvPr/>
        </p:nvSpPr>
        <p:spPr>
          <a:xfrm>
            <a:off x="609600" y="1485900"/>
            <a:ext cx="10972800" cy="457200"/>
          </a:xfrm>
          <a:prstGeom prst="rect">
            <a:avLst/>
          </a:prstGeom>
          <a:solidFill>
            <a:srgbClr val="122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600" y="1587500"/>
            <a:ext cx="2540000" cy="270256"/>
          </a:xfrm>
          <a:prstGeom prst="rect">
            <a:avLst/>
          </a:prstGeom>
          <a:noFill/>
        </p:spPr>
        <p:txBody>
          <a:bodyPr wrap="none" lIns="0" rIns="0" tIns="0" bIns="0" anchor="t">
            <a:spAutoFit/>
          </a:bodyPr>
          <a:lstStyle/>
          <a:p>
            <a:pPr>
              <a:spcBef>
                <a:spcPts val="0"/>
              </a:spcBef>
              <a:spcAft>
                <a:spcPts val="0"/>
              </a:spcAft>
            </a:pPr>
            <a:r>
              <a:rPr sz="1350" b="1">
                <a:solidFill>
                  <a:srgbClr val="FFFFFF"/>
                </a:solidFill>
                <a:latin typeface="Arial"/>
              </a:rPr>
              <a:t>Observed constraint</a:t>
            </a:r>
          </a:p>
        </p:txBody>
      </p:sp>
      <p:sp>
        <p:nvSpPr>
          <p:cNvPr id="7" name="TextBox 6"/>
          <p:cNvSpPr txBox="1"/>
          <p:nvPr/>
        </p:nvSpPr>
        <p:spPr>
          <a:xfrm>
            <a:off x="3530600" y="1587500"/>
            <a:ext cx="3937000" cy="270256"/>
          </a:xfrm>
          <a:prstGeom prst="rect">
            <a:avLst/>
          </a:prstGeom>
          <a:noFill/>
        </p:spPr>
        <p:txBody>
          <a:bodyPr wrap="none" lIns="0" rIns="0" tIns="0" bIns="0" anchor="t">
            <a:spAutoFit/>
          </a:bodyPr>
          <a:lstStyle/>
          <a:p>
            <a:pPr>
              <a:spcBef>
                <a:spcPts val="0"/>
              </a:spcBef>
              <a:spcAft>
                <a:spcPts val="0"/>
              </a:spcAft>
            </a:pPr>
            <a:r>
              <a:rPr sz="1350" b="1">
                <a:solidFill>
                  <a:srgbClr val="FFFFFF"/>
                </a:solidFill>
                <a:latin typeface="Arial"/>
              </a:rPr>
              <a:t>Candidate action—not yet validated</a:t>
            </a:r>
          </a:p>
        </p:txBody>
      </p:sp>
      <p:sp>
        <p:nvSpPr>
          <p:cNvPr id="8" name="TextBox 7"/>
          <p:cNvSpPr txBox="1"/>
          <p:nvPr/>
        </p:nvSpPr>
        <p:spPr>
          <a:xfrm>
            <a:off x="7721600" y="1587500"/>
            <a:ext cx="3733800" cy="270256"/>
          </a:xfrm>
          <a:prstGeom prst="rect">
            <a:avLst/>
          </a:prstGeom>
          <a:noFill/>
        </p:spPr>
        <p:txBody>
          <a:bodyPr wrap="none" lIns="0" rIns="0" tIns="0" bIns="0" anchor="t">
            <a:spAutoFit/>
          </a:bodyPr>
          <a:lstStyle/>
          <a:p>
            <a:pPr>
              <a:spcBef>
                <a:spcPts val="0"/>
              </a:spcBef>
              <a:spcAft>
                <a:spcPts val="0"/>
              </a:spcAft>
            </a:pPr>
            <a:r>
              <a:rPr sz="1350" b="1">
                <a:solidFill>
                  <a:srgbClr val="FFFFFF"/>
                </a:solidFill>
                <a:latin typeface="Arial"/>
              </a:rPr>
              <a:t>Acceptance measurement</a:t>
            </a:r>
          </a:p>
        </p:txBody>
      </p:sp>
      <p:sp>
        <p:nvSpPr>
          <p:cNvPr id="9" name="Rectangle 8"/>
          <p:cNvSpPr/>
          <p:nvPr/>
        </p:nvSpPr>
        <p:spPr>
          <a:xfrm>
            <a:off x="609600" y="1943100"/>
            <a:ext cx="10972800" cy="838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6600" y="2044700"/>
            <a:ext cx="25400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Gold / target work dominates</a:t>
            </a:r>
          </a:p>
        </p:txBody>
      </p:sp>
      <p:sp>
        <p:nvSpPr>
          <p:cNvPr id="11" name="TextBox 10"/>
          <p:cNvSpPr txBox="1"/>
          <p:nvPr/>
        </p:nvSpPr>
        <p:spPr>
          <a:xfrm>
            <a:off x="3530600" y="2044700"/>
            <a:ext cx="39370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Benchmark layout, compaction and</a:t>
            </a:r>
          </a:p>
        </p:txBody>
      </p:sp>
      <p:sp>
        <p:nvSpPr>
          <p:cNvPr id="12" name="TextBox 11"/>
          <p:cNvSpPr txBox="1"/>
          <p:nvPr/>
        </p:nvSpPr>
        <p:spPr>
          <a:xfrm>
            <a:off x="3530600" y="2280412"/>
            <a:ext cx="39370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affected-row access</a:t>
            </a:r>
          </a:p>
        </p:txBody>
      </p:sp>
      <p:sp>
        <p:nvSpPr>
          <p:cNvPr id="13" name="TextBox 12"/>
          <p:cNvSpPr txBox="1"/>
          <p:nvPr/>
        </p:nvSpPr>
        <p:spPr>
          <a:xfrm>
            <a:off x="7721600" y="2044700"/>
            <a:ext cx="37338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Files scanned + batch time + correctness</a:t>
            </a:r>
          </a:p>
        </p:txBody>
      </p:sp>
      <p:sp>
        <p:nvSpPr>
          <p:cNvPr id="14" name="Rectangle 13"/>
          <p:cNvSpPr/>
          <p:nvPr/>
        </p:nvSpPr>
        <p:spPr>
          <a:xfrm>
            <a:off x="609600" y="2781300"/>
            <a:ext cx="10972800" cy="838200"/>
          </a:xfrm>
          <a:prstGeom prst="rect">
            <a:avLst/>
          </a:prstGeom>
          <a:solidFill>
            <a:srgbClr val="EA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2882900"/>
            <a:ext cx="25400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Heap / CPU pressure</a:t>
            </a:r>
          </a:p>
        </p:txBody>
      </p:sp>
      <p:sp>
        <p:nvSpPr>
          <p:cNvPr id="16" name="TextBox 15"/>
          <p:cNvSpPr txBox="1"/>
          <p:nvPr/>
        </p:nvSpPr>
        <p:spPr>
          <a:xfrm>
            <a:off x="3530600" y="2882900"/>
            <a:ext cx="39370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Compare task input, memory, cores and shuffle</a:t>
            </a:r>
          </a:p>
        </p:txBody>
      </p:sp>
      <p:sp>
        <p:nvSpPr>
          <p:cNvPr id="17" name="TextBox 16"/>
          <p:cNvSpPr txBox="1"/>
          <p:nvPr/>
        </p:nvSpPr>
        <p:spPr>
          <a:xfrm>
            <a:off x="3530600" y="3118612"/>
            <a:ext cx="39370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count</a:t>
            </a:r>
          </a:p>
        </p:txBody>
      </p:sp>
      <p:sp>
        <p:nvSpPr>
          <p:cNvPr id="18" name="TextBox 17"/>
          <p:cNvSpPr txBox="1"/>
          <p:nvPr/>
        </p:nvSpPr>
        <p:spPr>
          <a:xfrm>
            <a:off x="7721600" y="2882900"/>
            <a:ext cx="37338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Spill, GC, queued tasks and freshness</a:t>
            </a:r>
          </a:p>
        </p:txBody>
      </p:sp>
      <p:sp>
        <p:nvSpPr>
          <p:cNvPr id="19" name="Rectangle 18"/>
          <p:cNvSpPr/>
          <p:nvPr/>
        </p:nvSpPr>
        <p:spPr>
          <a:xfrm>
            <a:off x="609600" y="3619500"/>
            <a:ext cx="10972800" cy="838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6600" y="3721100"/>
            <a:ext cx="25400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Backlog and shared slots</a:t>
            </a:r>
          </a:p>
        </p:txBody>
      </p:sp>
      <p:sp>
        <p:nvSpPr>
          <p:cNvPr id="21" name="TextBox 20"/>
          <p:cNvSpPr txBox="1"/>
          <p:nvPr/>
        </p:nvSpPr>
        <p:spPr>
          <a:xfrm>
            <a:off x="3530600" y="3721100"/>
            <a:ext cx="39370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Tune intake with downstream capacity; isolate</a:t>
            </a:r>
          </a:p>
        </p:txBody>
      </p:sp>
      <p:sp>
        <p:nvSpPr>
          <p:cNvPr id="22" name="TextBox 21"/>
          <p:cNvSpPr txBox="1"/>
          <p:nvPr/>
        </p:nvSpPr>
        <p:spPr>
          <a:xfrm>
            <a:off x="3530600" y="3956812"/>
            <a:ext cx="39370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resources</a:t>
            </a:r>
          </a:p>
        </p:txBody>
      </p:sp>
      <p:sp>
        <p:nvSpPr>
          <p:cNvPr id="23" name="TextBox 22"/>
          <p:cNvSpPr txBox="1"/>
          <p:nvPr/>
        </p:nvSpPr>
        <p:spPr>
          <a:xfrm>
            <a:off x="7721600" y="3721100"/>
            <a:ext cx="37338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Stable lag and catch-up within target R</a:t>
            </a:r>
          </a:p>
        </p:txBody>
      </p:sp>
      <p:sp>
        <p:nvSpPr>
          <p:cNvPr id="24" name="Rectangle 23"/>
          <p:cNvSpPr/>
          <p:nvPr/>
        </p:nvSpPr>
        <p:spPr>
          <a:xfrm>
            <a:off x="609600" y="4457700"/>
            <a:ext cx="10972800" cy="838200"/>
          </a:xfrm>
          <a:prstGeom prst="rect">
            <a:avLst/>
          </a:prstGeom>
          <a:solidFill>
            <a:srgbClr val="EA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6600" y="4559300"/>
            <a:ext cx="25400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Production durability / serving</a:t>
            </a:r>
          </a:p>
        </p:txBody>
      </p:sp>
      <p:sp>
        <p:nvSpPr>
          <p:cNvPr id="26" name="TextBox 25"/>
          <p:cNvSpPr txBox="1"/>
          <p:nvPr/>
        </p:nvSpPr>
        <p:spPr>
          <a:xfrm>
            <a:off x="3530600" y="4559300"/>
            <a:ext cx="39370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Shared lake, replicated Kafka; persistent</a:t>
            </a:r>
          </a:p>
        </p:txBody>
      </p:sp>
      <p:sp>
        <p:nvSpPr>
          <p:cNvPr id="27" name="TextBox 26"/>
          <p:cNvSpPr txBox="1"/>
          <p:nvPr/>
        </p:nvSpPr>
        <p:spPr>
          <a:xfrm>
            <a:off x="3530600" y="4795012"/>
            <a:ext cx="39370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serving</a:t>
            </a:r>
          </a:p>
        </p:txBody>
      </p:sp>
      <p:sp>
        <p:nvSpPr>
          <p:cNvPr id="28" name="TextBox 27"/>
          <p:cNvSpPr txBox="1"/>
          <p:nvPr/>
        </p:nvSpPr>
        <p:spPr>
          <a:xfrm>
            <a:off x="7721600" y="4559300"/>
            <a:ext cx="37338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Outage tests and latency under concurrency</a:t>
            </a:r>
          </a:p>
        </p:txBody>
      </p:sp>
      <p:sp>
        <p:nvSpPr>
          <p:cNvPr id="29" name="TextBox 28"/>
          <p:cNvSpPr txBox="1"/>
          <p:nvPr/>
        </p:nvSpPr>
        <p:spPr>
          <a:xfrm>
            <a:off x="609600" y="5791200"/>
            <a:ext cx="10972800" cy="294640"/>
          </a:xfrm>
          <a:prstGeom prst="rect">
            <a:avLst/>
          </a:prstGeom>
          <a:noFill/>
        </p:spPr>
        <p:txBody>
          <a:bodyPr wrap="none" lIns="0" rIns="0" tIns="0" bIns="0" anchor="t">
            <a:spAutoFit/>
          </a:bodyPr>
          <a:lstStyle/>
          <a:p>
            <a:pPr>
              <a:spcBef>
                <a:spcPts val="0"/>
              </a:spcBef>
              <a:spcAft>
                <a:spcPts val="0"/>
              </a:spcAft>
            </a:pPr>
            <a:r>
              <a:rPr sz="1500" b="1">
                <a:solidFill>
                  <a:srgbClr val="007F78"/>
                </a:solidFill>
                <a:latin typeface="Arial"/>
              </a:rPr>
              <a:t>One parent update refreshed 1m children in 14.1s: event count alone does not size the workload.</a:t>
            </a:r>
          </a:p>
        </p:txBody>
      </p:sp>
      <p:cxnSp>
        <p:nvCxnSpPr>
          <p:cNvPr id="30" name="Connector 29"/>
          <p:cNvCxnSpPr/>
          <p:nvPr/>
        </p:nvCxnSpPr>
        <p:spPr>
          <a:xfrm>
            <a:off x="609600" y="6324600"/>
            <a:ext cx="10972800" cy="0"/>
          </a:xfrm>
          <a:prstGeom prst="line">
            <a:avLst/>
          </a:prstGeom>
          <a:ln w="8890">
            <a:solidFill>
              <a:srgbClr val="E5EBEF"/>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09600" y="6451600"/>
            <a:ext cx="10058400" cy="198729"/>
          </a:xfrm>
          <a:prstGeom prst="rect">
            <a:avLst/>
          </a:prstGeom>
          <a:noFill/>
        </p:spPr>
        <p:txBody>
          <a:bodyPr wrap="none" lIns="0" rIns="0" tIns="0" bIns="0" anchor="t">
            <a:spAutoFit/>
          </a:bodyPr>
          <a:lstStyle/>
          <a:p>
            <a:pPr>
              <a:spcBef>
                <a:spcPts val="0"/>
              </a:spcBef>
              <a:spcAft>
                <a:spcPts val="0"/>
              </a:spcAft>
            </a:pPr>
            <a:r>
              <a:rPr sz="910" b="0">
                <a:solidFill>
                  <a:srgbClr val="516978"/>
                </a:solidFill>
                <a:latin typeface="Arial"/>
                <a:hlinkClick r:id="rId2"/>
              </a:rPr>
              <a:t>Sources: docs/performance-stress.md | docs/performance.md</a:t>
            </a:r>
          </a:p>
        </p:txBody>
      </p:sp>
      <p:sp>
        <p:nvSpPr>
          <p:cNvPr id="32" name="TextBox 31"/>
          <p:cNvSpPr txBox="1"/>
          <p:nvPr/>
        </p:nvSpPr>
        <p:spPr>
          <a:xfrm>
            <a:off x="10985500" y="6451600"/>
            <a:ext cx="609600" cy="213360"/>
          </a:xfrm>
          <a:prstGeom prst="rect">
            <a:avLst/>
          </a:prstGeom>
          <a:noFill/>
        </p:spPr>
        <p:txBody>
          <a:bodyPr wrap="none" lIns="0" rIns="0" tIns="0" bIns="0" anchor="t">
            <a:spAutoFit/>
          </a:bodyPr>
          <a:lstStyle/>
          <a:p>
            <a:pPr>
              <a:spcBef>
                <a:spcPts val="0"/>
              </a:spcBef>
              <a:spcAft>
                <a:spcPts val="0"/>
              </a:spcAft>
            </a:pPr>
            <a:r>
              <a:rPr sz="1000" b="1">
                <a:solidFill>
                  <a:srgbClr val="516978"/>
                </a:solidFill>
                <a:latin typeface="Arial"/>
              </a:rPr>
              <a:t>14 / 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42900"/>
            <a:ext cx="10972800" cy="213360"/>
          </a:xfrm>
          <a:prstGeom prst="rect">
            <a:avLst/>
          </a:prstGeom>
          <a:noFill/>
        </p:spPr>
        <p:txBody>
          <a:bodyPr wrap="none" lIns="0" rIns="0" tIns="0" bIns="0" anchor="t">
            <a:spAutoFit/>
          </a:bodyPr>
          <a:lstStyle/>
          <a:p>
            <a:pPr>
              <a:spcBef>
                <a:spcPts val="0"/>
              </a:spcBef>
              <a:spcAft>
                <a:spcPts val="0"/>
              </a:spcAft>
            </a:pPr>
            <a:r>
              <a:rPr sz="1000" b="1">
                <a:solidFill>
                  <a:srgbClr val="007F78"/>
                </a:solidFill>
                <a:latin typeface="Arial"/>
              </a:rPr>
              <a:t>HANDOVER / DEMO</a:t>
            </a:r>
          </a:p>
        </p:txBody>
      </p:sp>
      <p:sp>
        <p:nvSpPr>
          <p:cNvPr id="4" name="TextBox 3"/>
          <p:cNvSpPr txBox="1"/>
          <p:nvPr/>
        </p:nvSpPr>
        <p:spPr>
          <a:xfrm>
            <a:off x="609600" y="673100"/>
            <a:ext cx="10972800" cy="505968"/>
          </a:xfrm>
          <a:prstGeom prst="rect">
            <a:avLst/>
          </a:prstGeom>
          <a:noFill/>
        </p:spPr>
        <p:txBody>
          <a:bodyPr wrap="none" lIns="0" rIns="0" tIns="0" bIns="0" anchor="t">
            <a:spAutoFit/>
          </a:bodyPr>
          <a:lstStyle/>
          <a:p>
            <a:pPr>
              <a:spcBef>
                <a:spcPts val="0"/>
              </a:spcBef>
              <a:spcAft>
                <a:spcPts val="0"/>
              </a:spcAft>
            </a:pPr>
            <a:r>
              <a:rPr sz="2800" b="1">
                <a:solidFill>
                  <a:srgbClr val="122B3B"/>
                </a:solidFill>
                <a:latin typeface="Arial"/>
              </a:rPr>
              <a:t>Inspect, reproduce and discuss</a:t>
            </a:r>
          </a:p>
        </p:txBody>
      </p:sp>
      <p:sp>
        <p:nvSpPr>
          <p:cNvPr id="5" name="Rounded Rectangle 4"/>
          <p:cNvSpPr/>
          <p:nvPr/>
        </p:nvSpPr>
        <p:spPr>
          <a:xfrm>
            <a:off x="609600" y="1511300"/>
            <a:ext cx="10972800" cy="2235200"/>
          </a:xfrm>
          <a:prstGeom prst="roundRect">
            <a:avLst>
              <a:gd name="adj" fmla="val 12000"/>
            </a:avLst>
          </a:prstGeom>
          <a:solidFill>
            <a:srgbClr val="122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3600" y="1727200"/>
            <a:ext cx="10464800" cy="343408"/>
          </a:xfrm>
          <a:prstGeom prst="rect">
            <a:avLst/>
          </a:prstGeom>
          <a:noFill/>
        </p:spPr>
        <p:txBody>
          <a:bodyPr wrap="none" lIns="0" rIns="0" tIns="0" bIns="0" anchor="t">
            <a:spAutoFit/>
          </a:bodyPr>
          <a:lstStyle/>
          <a:p>
            <a:pPr>
              <a:spcBef>
                <a:spcPts val="0"/>
              </a:spcBef>
              <a:spcAft>
                <a:spcPts val="0"/>
              </a:spcAft>
            </a:pPr>
            <a:r>
              <a:rPr sz="1800" b="0">
                <a:solidFill>
                  <a:srgbClr val="FFFFFF"/>
                </a:solidFill>
                <a:latin typeface="Arial"/>
              </a:rPr>
              <a:t>python3 scripts/setup.py</a:t>
            </a:r>
          </a:p>
        </p:txBody>
      </p:sp>
      <p:sp>
        <p:nvSpPr>
          <p:cNvPr id="7" name="TextBox 6"/>
          <p:cNvSpPr txBox="1"/>
          <p:nvPr/>
        </p:nvSpPr>
        <p:spPr>
          <a:xfrm>
            <a:off x="863600" y="2273300"/>
            <a:ext cx="10464800" cy="343408"/>
          </a:xfrm>
          <a:prstGeom prst="rect">
            <a:avLst/>
          </a:prstGeom>
          <a:noFill/>
        </p:spPr>
        <p:txBody>
          <a:bodyPr wrap="none" lIns="0" rIns="0" tIns="0" bIns="0" anchor="t">
            <a:spAutoFit/>
          </a:bodyPr>
          <a:lstStyle/>
          <a:p>
            <a:pPr>
              <a:spcBef>
                <a:spcPts val="0"/>
              </a:spcBef>
              <a:spcAft>
                <a:spcPts val="0"/>
              </a:spcAft>
            </a:pPr>
            <a:r>
              <a:rPr sz="1800" b="0">
                <a:solidFill>
                  <a:srgbClr val="FFFFFF"/>
                </a:solidFill>
                <a:latin typeface="Arial"/>
              </a:rPr>
              <a:t>docker compose up -d --build</a:t>
            </a:r>
          </a:p>
        </p:txBody>
      </p:sp>
      <p:sp>
        <p:nvSpPr>
          <p:cNvPr id="8" name="TextBox 7"/>
          <p:cNvSpPr txBox="1"/>
          <p:nvPr/>
        </p:nvSpPr>
        <p:spPr>
          <a:xfrm>
            <a:off x="863600" y="2819400"/>
            <a:ext cx="10464800" cy="343408"/>
          </a:xfrm>
          <a:prstGeom prst="rect">
            <a:avLst/>
          </a:prstGeom>
          <a:noFill/>
        </p:spPr>
        <p:txBody>
          <a:bodyPr wrap="none" lIns="0" rIns="0" tIns="0" bIns="0" anchor="t">
            <a:spAutoFit/>
          </a:bodyPr>
          <a:lstStyle/>
          <a:p>
            <a:pPr>
              <a:spcBef>
                <a:spcPts val="0"/>
              </a:spcBef>
              <a:spcAft>
                <a:spcPts val="0"/>
              </a:spcAft>
            </a:pPr>
            <a:r>
              <a:rPr sz="1800" b="0">
                <a:solidFill>
                  <a:srgbClr val="6DE0C6"/>
                </a:solidFill>
                <a:latin typeface="Arial"/>
              </a:rPr>
              <a:t>docker compose run --rm --no-deps query metrics all</a:t>
            </a:r>
          </a:p>
        </p:txBody>
      </p:sp>
      <p:sp>
        <p:nvSpPr>
          <p:cNvPr id="9" name="TextBox 8"/>
          <p:cNvSpPr txBox="1"/>
          <p:nvPr/>
        </p:nvSpPr>
        <p:spPr>
          <a:xfrm>
            <a:off x="609600" y="4114800"/>
            <a:ext cx="10972800" cy="343408"/>
          </a:xfrm>
          <a:prstGeom prst="rect">
            <a:avLst/>
          </a:prstGeom>
          <a:noFill/>
        </p:spPr>
        <p:txBody>
          <a:bodyPr wrap="none" lIns="0" rIns="0" tIns="0" bIns="0" anchor="t">
            <a:spAutoFit/>
          </a:bodyPr>
          <a:lstStyle/>
          <a:p>
            <a:pPr>
              <a:spcBef>
                <a:spcPts val="0"/>
              </a:spcBef>
              <a:spcAft>
                <a:spcPts val="0"/>
              </a:spcAft>
            </a:pPr>
            <a:r>
              <a:rPr sz="1800" b="0">
                <a:solidFill>
                  <a:srgbClr val="183342"/>
                </a:solidFill>
                <a:latin typeface="Arial"/>
              </a:rPr>
              <a:t>Wait for the first published batch, then inspect the four metrics and publication timestamp.</a:t>
            </a:r>
          </a:p>
        </p:txBody>
      </p:sp>
      <p:sp>
        <p:nvSpPr>
          <p:cNvPr id="10" name="TextBox 9"/>
          <p:cNvSpPr txBox="1"/>
          <p:nvPr/>
        </p:nvSpPr>
        <p:spPr>
          <a:xfrm>
            <a:off x="609600" y="4787900"/>
            <a:ext cx="10972800" cy="408431"/>
          </a:xfrm>
          <a:prstGeom prst="rect">
            <a:avLst/>
          </a:prstGeom>
          <a:noFill/>
        </p:spPr>
        <p:txBody>
          <a:bodyPr wrap="none" lIns="0" rIns="0" tIns="0" bIns="0" anchor="t">
            <a:spAutoFit/>
          </a:bodyPr>
          <a:lstStyle/>
          <a:p>
            <a:pPr>
              <a:spcBef>
                <a:spcPts val="0"/>
              </a:spcBef>
              <a:spcAft>
                <a:spcPts val="0"/>
              </a:spcAft>
            </a:pPr>
            <a:r>
              <a:rPr sz="2200" b="1">
                <a:solidFill>
                  <a:srgbClr val="007F78"/>
                </a:solidFill>
                <a:latin typeface="Arial"/>
              </a:rPr>
              <a:t>Working system + measurable limits + a defensible path to production sizing.</a:t>
            </a:r>
          </a:p>
        </p:txBody>
      </p:sp>
      <p:sp>
        <p:nvSpPr>
          <p:cNvPr id="11" name="TextBox 10"/>
          <p:cNvSpPr txBox="1"/>
          <p:nvPr/>
        </p:nvSpPr>
        <p:spPr>
          <a:xfrm>
            <a:off x="609600" y="5486400"/>
            <a:ext cx="10972800" cy="327152"/>
          </a:xfrm>
          <a:prstGeom prst="rect">
            <a:avLst/>
          </a:prstGeom>
          <a:noFill/>
        </p:spPr>
        <p:txBody>
          <a:bodyPr wrap="none" lIns="0" rIns="0" tIns="0" bIns="0" anchor="t">
            <a:spAutoFit/>
          </a:bodyPr>
          <a:lstStyle/>
          <a:p>
            <a:pPr>
              <a:spcBef>
                <a:spcPts val="0"/>
              </a:spcBef>
              <a:spcAft>
                <a:spcPts val="0"/>
              </a:spcAft>
            </a:pPr>
            <a:r>
              <a:rPr sz="1700" b="0">
                <a:solidFill>
                  <a:srgbClr val="183342"/>
                </a:solidFill>
                <a:latin typeface="Arial"/>
                <a:hlinkClick r:id="rId2"/>
              </a:rPr>
              <a:t>Code and all retained analysis: fabdutra/deel-data-engineering-task</a:t>
            </a:r>
          </a:p>
        </p:txBody>
      </p:sp>
      <p:sp>
        <p:nvSpPr>
          <p:cNvPr id="12" name="TextBox 11"/>
          <p:cNvSpPr txBox="1"/>
          <p:nvPr/>
        </p:nvSpPr>
        <p:spPr>
          <a:xfrm>
            <a:off x="609600" y="5880100"/>
            <a:ext cx="10972800" cy="278384"/>
          </a:xfrm>
          <a:prstGeom prst="rect">
            <a:avLst/>
          </a:prstGeom>
          <a:noFill/>
        </p:spPr>
        <p:txBody>
          <a:bodyPr wrap="none" lIns="0" rIns="0" tIns="0" bIns="0" anchor="t">
            <a:spAutoFit/>
          </a:bodyPr>
          <a:lstStyle/>
          <a:p>
            <a:pPr>
              <a:spcBef>
                <a:spcPts val="0"/>
              </a:spcBef>
              <a:spcAft>
                <a:spcPts val="0"/>
              </a:spcAft>
            </a:pPr>
            <a:r>
              <a:rPr sz="1400" b="0">
                <a:solidFill>
                  <a:srgbClr val="516978"/>
                </a:solidFill>
                <a:latin typeface="Arial"/>
              </a:rPr>
              <a:t>Appendix: CDC semantics, failure handling, intake / serving, native metrics and evidence.</a:t>
            </a:r>
          </a:p>
        </p:txBody>
      </p:sp>
      <p:cxnSp>
        <p:nvCxnSpPr>
          <p:cNvPr id="13" name="Connector 12"/>
          <p:cNvCxnSpPr/>
          <p:nvPr/>
        </p:nvCxnSpPr>
        <p:spPr>
          <a:xfrm>
            <a:off x="609600" y="6324600"/>
            <a:ext cx="10972800" cy="0"/>
          </a:xfrm>
          <a:prstGeom prst="line">
            <a:avLst/>
          </a:prstGeom>
          <a:ln w="8890">
            <a:solidFill>
              <a:srgbClr val="E5EBEF"/>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09600" y="6451600"/>
            <a:ext cx="10058400" cy="198729"/>
          </a:xfrm>
          <a:prstGeom prst="rect">
            <a:avLst/>
          </a:prstGeom>
          <a:noFill/>
        </p:spPr>
        <p:txBody>
          <a:bodyPr wrap="none" lIns="0" rIns="0" tIns="0" bIns="0" anchor="t">
            <a:spAutoFit/>
          </a:bodyPr>
          <a:lstStyle/>
          <a:p>
            <a:pPr>
              <a:spcBef>
                <a:spcPts val="0"/>
              </a:spcBef>
              <a:spcAft>
                <a:spcPts val="0"/>
              </a:spcAft>
            </a:pPr>
            <a:r>
              <a:rPr sz="910" b="0">
                <a:solidFill>
                  <a:srgbClr val="516978"/>
                </a:solidFill>
                <a:latin typeface="Arial"/>
                <a:hlinkClick r:id="rId3"/>
              </a:rPr>
              <a:t>Sources: README.md | docs/evidence/README.md</a:t>
            </a:r>
          </a:p>
        </p:txBody>
      </p:sp>
      <p:sp>
        <p:nvSpPr>
          <p:cNvPr id="15" name="TextBox 14"/>
          <p:cNvSpPr txBox="1"/>
          <p:nvPr/>
        </p:nvSpPr>
        <p:spPr>
          <a:xfrm>
            <a:off x="10985500" y="6451600"/>
            <a:ext cx="609600" cy="213360"/>
          </a:xfrm>
          <a:prstGeom prst="rect">
            <a:avLst/>
          </a:prstGeom>
          <a:noFill/>
        </p:spPr>
        <p:txBody>
          <a:bodyPr wrap="none" lIns="0" rIns="0" tIns="0" bIns="0" anchor="t">
            <a:spAutoFit/>
          </a:bodyPr>
          <a:lstStyle/>
          <a:p>
            <a:pPr>
              <a:spcBef>
                <a:spcPts val="0"/>
              </a:spcBef>
              <a:spcAft>
                <a:spcPts val="0"/>
              </a:spcAft>
            </a:pPr>
            <a:r>
              <a:rPr sz="1000" b="1">
                <a:solidFill>
                  <a:srgbClr val="516978"/>
                </a:solidFill>
                <a:latin typeface="Arial"/>
              </a:rPr>
              <a:t>15 / 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42900"/>
            <a:ext cx="10972800" cy="213360"/>
          </a:xfrm>
          <a:prstGeom prst="rect">
            <a:avLst/>
          </a:prstGeom>
          <a:noFill/>
        </p:spPr>
        <p:txBody>
          <a:bodyPr wrap="none" lIns="0" rIns="0" tIns="0" bIns="0" anchor="t">
            <a:spAutoFit/>
          </a:bodyPr>
          <a:lstStyle/>
          <a:p>
            <a:pPr>
              <a:spcBef>
                <a:spcPts val="0"/>
              </a:spcBef>
              <a:spcAft>
                <a:spcPts val="0"/>
              </a:spcAft>
            </a:pPr>
            <a:r>
              <a:rPr sz="1000" b="1">
                <a:solidFill>
                  <a:srgbClr val="007F78"/>
                </a:solidFill>
                <a:latin typeface="Arial"/>
              </a:rPr>
              <a:t>APPENDIX A / CDC</a:t>
            </a:r>
          </a:p>
        </p:txBody>
      </p:sp>
      <p:sp>
        <p:nvSpPr>
          <p:cNvPr id="4" name="TextBox 3"/>
          <p:cNvSpPr txBox="1"/>
          <p:nvPr/>
        </p:nvSpPr>
        <p:spPr>
          <a:xfrm>
            <a:off x="609600" y="673100"/>
            <a:ext cx="10972800" cy="505968"/>
          </a:xfrm>
          <a:prstGeom prst="rect">
            <a:avLst/>
          </a:prstGeom>
          <a:noFill/>
        </p:spPr>
        <p:txBody>
          <a:bodyPr wrap="none" lIns="0" rIns="0" tIns="0" bIns="0" anchor="t">
            <a:spAutoFit/>
          </a:bodyPr>
          <a:lstStyle/>
          <a:p>
            <a:pPr>
              <a:spcBef>
                <a:spcPts val="0"/>
              </a:spcBef>
              <a:spcAft>
                <a:spcPts val="0"/>
              </a:spcAft>
            </a:pPr>
            <a:r>
              <a:rPr sz="2800" b="1">
                <a:solidFill>
                  <a:srgbClr val="122B3B"/>
                </a:solidFill>
                <a:latin typeface="Arial"/>
              </a:rPr>
              <a:t>Upserts and deletes preserve ordering</a:t>
            </a:r>
          </a:p>
        </p:txBody>
      </p:sp>
      <p:sp>
        <p:nvSpPr>
          <p:cNvPr id="5" name="Rectangle 4"/>
          <p:cNvSpPr/>
          <p:nvPr/>
        </p:nvSpPr>
        <p:spPr>
          <a:xfrm>
            <a:off x="609600" y="1473200"/>
            <a:ext cx="10972800" cy="457200"/>
          </a:xfrm>
          <a:prstGeom prst="rect">
            <a:avLst/>
          </a:prstGeom>
          <a:solidFill>
            <a:srgbClr val="122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600" y="1574800"/>
            <a:ext cx="1905000" cy="262128"/>
          </a:xfrm>
          <a:prstGeom prst="rect">
            <a:avLst/>
          </a:prstGeom>
          <a:noFill/>
        </p:spPr>
        <p:txBody>
          <a:bodyPr wrap="none" lIns="0" rIns="0" tIns="0" bIns="0" anchor="t">
            <a:spAutoFit/>
          </a:bodyPr>
          <a:lstStyle/>
          <a:p>
            <a:pPr>
              <a:spcBef>
                <a:spcPts val="0"/>
              </a:spcBef>
              <a:spcAft>
                <a:spcPts val="0"/>
              </a:spcAft>
            </a:pPr>
            <a:r>
              <a:rPr sz="1300" b="1">
                <a:solidFill>
                  <a:srgbClr val="FFFFFF"/>
                </a:solidFill>
                <a:latin typeface="Arial"/>
              </a:rPr>
              <a:t>Layer / table</a:t>
            </a:r>
          </a:p>
        </p:txBody>
      </p:sp>
      <p:sp>
        <p:nvSpPr>
          <p:cNvPr id="7" name="TextBox 6"/>
          <p:cNvSpPr txBox="1"/>
          <p:nvPr/>
        </p:nvSpPr>
        <p:spPr>
          <a:xfrm>
            <a:off x="2895600" y="1574800"/>
            <a:ext cx="2413000" cy="262128"/>
          </a:xfrm>
          <a:prstGeom prst="rect">
            <a:avLst/>
          </a:prstGeom>
          <a:noFill/>
        </p:spPr>
        <p:txBody>
          <a:bodyPr wrap="none" lIns="0" rIns="0" tIns="0" bIns="0" anchor="t">
            <a:spAutoFit/>
          </a:bodyPr>
          <a:lstStyle/>
          <a:p>
            <a:pPr>
              <a:spcBef>
                <a:spcPts val="0"/>
              </a:spcBef>
              <a:spcAft>
                <a:spcPts val="0"/>
              </a:spcAft>
            </a:pPr>
            <a:r>
              <a:rPr sz="1300" b="1">
                <a:solidFill>
                  <a:srgbClr val="FFFFFF"/>
                </a:solidFill>
                <a:latin typeface="Arial"/>
              </a:rPr>
              <a:t>Identity</a:t>
            </a:r>
          </a:p>
        </p:txBody>
      </p:sp>
      <p:sp>
        <p:nvSpPr>
          <p:cNvPr id="8" name="TextBox 7"/>
          <p:cNvSpPr txBox="1"/>
          <p:nvPr/>
        </p:nvSpPr>
        <p:spPr>
          <a:xfrm>
            <a:off x="5562600" y="1574800"/>
            <a:ext cx="3175000" cy="262128"/>
          </a:xfrm>
          <a:prstGeom prst="rect">
            <a:avLst/>
          </a:prstGeom>
          <a:noFill/>
        </p:spPr>
        <p:txBody>
          <a:bodyPr wrap="none" lIns="0" rIns="0" tIns="0" bIns="0" anchor="t">
            <a:spAutoFit/>
          </a:bodyPr>
          <a:lstStyle/>
          <a:p>
            <a:pPr>
              <a:spcBef>
                <a:spcPts val="0"/>
              </a:spcBef>
              <a:spcAft>
                <a:spcPts val="0"/>
              </a:spcAft>
            </a:pPr>
            <a:r>
              <a:rPr sz="1300" b="1">
                <a:solidFill>
                  <a:srgbClr val="FFFFFF"/>
                </a:solidFill>
                <a:latin typeface="Arial"/>
              </a:rPr>
              <a:t>Mutation behavior</a:t>
            </a:r>
          </a:p>
        </p:txBody>
      </p:sp>
      <p:sp>
        <p:nvSpPr>
          <p:cNvPr id="9" name="TextBox 8"/>
          <p:cNvSpPr txBox="1"/>
          <p:nvPr/>
        </p:nvSpPr>
        <p:spPr>
          <a:xfrm>
            <a:off x="8991600" y="1574800"/>
            <a:ext cx="2463800" cy="262128"/>
          </a:xfrm>
          <a:prstGeom prst="rect">
            <a:avLst/>
          </a:prstGeom>
          <a:noFill/>
        </p:spPr>
        <p:txBody>
          <a:bodyPr wrap="none" lIns="0" rIns="0" tIns="0" bIns="0" anchor="t">
            <a:spAutoFit/>
          </a:bodyPr>
          <a:lstStyle/>
          <a:p>
            <a:pPr>
              <a:spcBef>
                <a:spcPts val="0"/>
              </a:spcBef>
              <a:spcAft>
                <a:spcPts val="0"/>
              </a:spcAft>
            </a:pPr>
            <a:r>
              <a:rPr sz="1300" b="1">
                <a:solidFill>
                  <a:srgbClr val="FFFFFF"/>
                </a:solidFill>
                <a:latin typeface="Arial"/>
              </a:rPr>
              <a:t>Delete behavior</a:t>
            </a:r>
          </a:p>
        </p:txBody>
      </p:sp>
      <p:sp>
        <p:nvSpPr>
          <p:cNvPr id="10" name="Rectangle 9"/>
          <p:cNvSpPr/>
          <p:nvPr/>
        </p:nvSpPr>
        <p:spPr>
          <a:xfrm>
            <a:off x="609600" y="1930400"/>
            <a:ext cx="10972800" cy="660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6600" y="2032000"/>
            <a:ext cx="19050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Silver: 4 entities</a:t>
            </a:r>
          </a:p>
        </p:txBody>
      </p:sp>
      <p:sp>
        <p:nvSpPr>
          <p:cNvPr id="12" name="TextBox 11"/>
          <p:cNvSpPr txBox="1"/>
          <p:nvPr/>
        </p:nvSpPr>
        <p:spPr>
          <a:xfrm>
            <a:off x="2895600" y="2032000"/>
            <a:ext cx="24130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Source primary key</a:t>
            </a:r>
          </a:p>
        </p:txBody>
      </p:sp>
      <p:sp>
        <p:nvSpPr>
          <p:cNvPr id="13" name="TextBox 12"/>
          <p:cNvSpPr txBox="1"/>
          <p:nvPr/>
        </p:nvSpPr>
        <p:spPr>
          <a:xfrm>
            <a:off x="5562600" y="2032000"/>
            <a:ext cx="31750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Latest LSN / offset; conditional MERGE</a:t>
            </a:r>
          </a:p>
        </p:txBody>
      </p:sp>
      <p:sp>
        <p:nvSpPr>
          <p:cNvPr id="14" name="TextBox 13"/>
          <p:cNvSpPr txBox="1"/>
          <p:nvPr/>
        </p:nvSpPr>
        <p:spPr>
          <a:xfrm>
            <a:off x="8991600" y="2032000"/>
            <a:ext cx="24638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Retain _deleted ordering guard</a:t>
            </a:r>
          </a:p>
        </p:txBody>
      </p:sp>
      <p:sp>
        <p:nvSpPr>
          <p:cNvPr id="15" name="Rectangle 14"/>
          <p:cNvSpPr/>
          <p:nvPr/>
        </p:nvSpPr>
        <p:spPr>
          <a:xfrm>
            <a:off x="609600" y="2590800"/>
            <a:ext cx="10972800" cy="660400"/>
          </a:xfrm>
          <a:prstGeom prst="rect">
            <a:avLst/>
          </a:prstGeom>
          <a:solidFill>
            <a:srgbClr val="EA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6600" y="2692400"/>
            <a:ext cx="19050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Gold: fact_order</a:t>
            </a:r>
          </a:p>
        </p:txBody>
      </p:sp>
      <p:sp>
        <p:nvSpPr>
          <p:cNvPr id="17" name="TextBox 16"/>
          <p:cNvSpPr txBox="1"/>
          <p:nvPr/>
        </p:nvSpPr>
        <p:spPr>
          <a:xfrm>
            <a:off x="2895600" y="2692400"/>
            <a:ext cx="24130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order_id</a:t>
            </a:r>
          </a:p>
        </p:txBody>
      </p:sp>
      <p:sp>
        <p:nvSpPr>
          <p:cNvPr id="18" name="TextBox 17"/>
          <p:cNvSpPr txBox="1"/>
          <p:nvPr/>
        </p:nvSpPr>
        <p:spPr>
          <a:xfrm>
            <a:off x="5562600" y="2692400"/>
            <a:ext cx="31750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Refresh changed orders</a:t>
            </a:r>
          </a:p>
        </p:txBody>
      </p:sp>
      <p:sp>
        <p:nvSpPr>
          <p:cNvPr id="19" name="TextBox 18"/>
          <p:cNvSpPr txBox="1"/>
          <p:nvPr/>
        </p:nvSpPr>
        <p:spPr>
          <a:xfrm>
            <a:off x="8991600" y="2692400"/>
            <a:ext cx="24638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Logical deletion; CLI filters</a:t>
            </a:r>
          </a:p>
        </p:txBody>
      </p:sp>
      <p:sp>
        <p:nvSpPr>
          <p:cNvPr id="20" name="Rectangle 19"/>
          <p:cNvSpPr/>
          <p:nvPr/>
        </p:nvSpPr>
        <p:spPr>
          <a:xfrm>
            <a:off x="609600" y="3251200"/>
            <a:ext cx="10972800" cy="683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3352800"/>
            <a:ext cx="19050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Gold: fact_order_item</a:t>
            </a:r>
          </a:p>
        </p:txBody>
      </p:sp>
      <p:sp>
        <p:nvSpPr>
          <p:cNvPr id="22" name="TextBox 21"/>
          <p:cNvSpPr txBox="1"/>
          <p:nvPr/>
        </p:nvSpPr>
        <p:spPr>
          <a:xfrm>
            <a:off x="2895600" y="3352800"/>
            <a:ext cx="24130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order_item_id</a:t>
            </a:r>
          </a:p>
        </p:txBody>
      </p:sp>
      <p:sp>
        <p:nvSpPr>
          <p:cNvPr id="23" name="TextBox 22"/>
          <p:cNvSpPr txBox="1"/>
          <p:nvPr/>
        </p:nvSpPr>
        <p:spPr>
          <a:xfrm>
            <a:off x="5562600" y="3352800"/>
            <a:ext cx="31750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Changed items + stored children of</a:t>
            </a:r>
          </a:p>
        </p:txBody>
      </p:sp>
      <p:sp>
        <p:nvSpPr>
          <p:cNvPr id="24" name="TextBox 23"/>
          <p:cNvSpPr txBox="1"/>
          <p:nvPr/>
        </p:nvSpPr>
        <p:spPr>
          <a:xfrm>
            <a:off x="5562600" y="3580384"/>
            <a:ext cx="31750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changed parents</a:t>
            </a:r>
          </a:p>
        </p:txBody>
      </p:sp>
      <p:sp>
        <p:nvSpPr>
          <p:cNvPr id="25" name="TextBox 24"/>
          <p:cNvSpPr txBox="1"/>
          <p:nvPr/>
        </p:nvSpPr>
        <p:spPr>
          <a:xfrm>
            <a:off x="8991600" y="3352800"/>
            <a:ext cx="24638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Parent/item state drives</a:t>
            </a:r>
          </a:p>
        </p:txBody>
      </p:sp>
      <p:sp>
        <p:nvSpPr>
          <p:cNvPr id="26" name="TextBox 25"/>
          <p:cNvSpPr txBox="1"/>
          <p:nvPr/>
        </p:nvSpPr>
        <p:spPr>
          <a:xfrm>
            <a:off x="8991600" y="3580384"/>
            <a:ext cx="24638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visibility</a:t>
            </a:r>
          </a:p>
        </p:txBody>
      </p:sp>
      <p:sp>
        <p:nvSpPr>
          <p:cNvPr id="27" name="Rectangle 26"/>
          <p:cNvSpPr/>
          <p:nvPr/>
        </p:nvSpPr>
        <p:spPr>
          <a:xfrm>
            <a:off x="609600" y="3934968"/>
            <a:ext cx="10972800" cy="683768"/>
          </a:xfrm>
          <a:prstGeom prst="rect">
            <a:avLst/>
          </a:prstGeom>
          <a:solidFill>
            <a:srgbClr val="EA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6600" y="4036568"/>
            <a:ext cx="19050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Gold: customer /</a:t>
            </a:r>
          </a:p>
        </p:txBody>
      </p:sp>
      <p:sp>
        <p:nvSpPr>
          <p:cNvPr id="29" name="TextBox 28"/>
          <p:cNvSpPr txBox="1"/>
          <p:nvPr/>
        </p:nvSpPr>
        <p:spPr>
          <a:xfrm>
            <a:off x="736600" y="4264152"/>
            <a:ext cx="19050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product</a:t>
            </a:r>
          </a:p>
        </p:txBody>
      </p:sp>
      <p:sp>
        <p:nvSpPr>
          <p:cNvPr id="30" name="TextBox 29"/>
          <p:cNvSpPr txBox="1"/>
          <p:nvPr/>
        </p:nvSpPr>
        <p:spPr>
          <a:xfrm>
            <a:off x="2895600" y="4036568"/>
            <a:ext cx="24130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Stable source key</a:t>
            </a:r>
          </a:p>
        </p:txBody>
      </p:sp>
      <p:sp>
        <p:nvSpPr>
          <p:cNvPr id="31" name="TextBox 30"/>
          <p:cNvSpPr txBox="1"/>
          <p:nvPr/>
        </p:nvSpPr>
        <p:spPr>
          <a:xfrm>
            <a:off x="5562600" y="4036568"/>
            <a:ext cx="31750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SCD1 MERGE</a:t>
            </a:r>
          </a:p>
        </p:txBody>
      </p:sp>
      <p:sp>
        <p:nvSpPr>
          <p:cNvPr id="32" name="TextBox 31"/>
          <p:cNvSpPr txBox="1"/>
          <p:nvPr/>
        </p:nvSpPr>
        <p:spPr>
          <a:xfrm>
            <a:off x="8991600" y="4036568"/>
            <a:ext cx="24638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Retain delete marker</a:t>
            </a:r>
          </a:p>
        </p:txBody>
      </p:sp>
      <p:sp>
        <p:nvSpPr>
          <p:cNvPr id="33" name="Rectangle 32"/>
          <p:cNvSpPr/>
          <p:nvPr/>
        </p:nvSpPr>
        <p:spPr>
          <a:xfrm>
            <a:off x="609600" y="4618736"/>
            <a:ext cx="10972800" cy="6837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36600" y="4720336"/>
            <a:ext cx="19050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Gold: dim_date</a:t>
            </a:r>
          </a:p>
        </p:txBody>
      </p:sp>
      <p:sp>
        <p:nvSpPr>
          <p:cNvPr id="35" name="TextBox 34"/>
          <p:cNvSpPr txBox="1"/>
          <p:nvPr/>
        </p:nvSpPr>
        <p:spPr>
          <a:xfrm>
            <a:off x="2895600" y="4720336"/>
            <a:ext cx="24130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date_key</a:t>
            </a:r>
          </a:p>
        </p:txBody>
      </p:sp>
      <p:sp>
        <p:nvSpPr>
          <p:cNvPr id="36" name="TextBox 35"/>
          <p:cNvSpPr txBox="1"/>
          <p:nvPr/>
        </p:nvSpPr>
        <p:spPr>
          <a:xfrm>
            <a:off x="5562600" y="4720336"/>
            <a:ext cx="31750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Merge affected date members;</a:t>
            </a:r>
          </a:p>
        </p:txBody>
      </p:sp>
      <p:sp>
        <p:nvSpPr>
          <p:cNvPr id="37" name="TextBox 36"/>
          <p:cNvSpPr txBox="1"/>
          <p:nvPr/>
        </p:nvSpPr>
        <p:spPr>
          <a:xfrm>
            <a:off x="5562600" y="4947920"/>
            <a:ext cx="31750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unknown = 0</a:t>
            </a:r>
          </a:p>
        </p:txBody>
      </p:sp>
      <p:sp>
        <p:nvSpPr>
          <p:cNvPr id="38" name="TextBox 37"/>
          <p:cNvSpPr txBox="1"/>
          <p:nvPr/>
        </p:nvSpPr>
        <p:spPr>
          <a:xfrm>
            <a:off x="8991600" y="4720336"/>
            <a:ext cx="24638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Members retained</a:t>
            </a:r>
          </a:p>
        </p:txBody>
      </p:sp>
      <p:sp>
        <p:nvSpPr>
          <p:cNvPr id="39" name="TextBox 38"/>
          <p:cNvSpPr txBox="1"/>
          <p:nvPr/>
        </p:nvSpPr>
        <p:spPr>
          <a:xfrm>
            <a:off x="609600" y="5803900"/>
            <a:ext cx="10972800" cy="278384"/>
          </a:xfrm>
          <a:prstGeom prst="rect">
            <a:avLst/>
          </a:prstGeom>
          <a:noFill/>
        </p:spPr>
        <p:txBody>
          <a:bodyPr wrap="none" lIns="0" rIns="0" tIns="0" bIns="0" anchor="t">
            <a:spAutoFit/>
          </a:bodyPr>
          <a:lstStyle/>
          <a:p>
            <a:pPr>
              <a:spcBef>
                <a:spcPts val="0"/>
              </a:spcBef>
              <a:spcAft>
                <a:spcPts val="0"/>
              </a:spcAft>
            </a:pPr>
            <a:r>
              <a:rPr sz="1400" b="1">
                <a:solidFill>
                  <a:srgbClr val="007F78"/>
                </a:solidFill>
                <a:latin typeface="Arial"/>
              </a:rPr>
              <a:t>Topic repartitioning or source-identity changes require a controlled ordering migration.</a:t>
            </a:r>
          </a:p>
        </p:txBody>
      </p:sp>
      <p:cxnSp>
        <p:nvCxnSpPr>
          <p:cNvPr id="40" name="Connector 39"/>
          <p:cNvCxnSpPr/>
          <p:nvPr/>
        </p:nvCxnSpPr>
        <p:spPr>
          <a:xfrm>
            <a:off x="609600" y="6324600"/>
            <a:ext cx="10972800" cy="0"/>
          </a:xfrm>
          <a:prstGeom prst="line">
            <a:avLst/>
          </a:prstGeom>
          <a:ln w="8890">
            <a:solidFill>
              <a:srgbClr val="E5EBEF"/>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09600" y="6451600"/>
            <a:ext cx="10058400" cy="198729"/>
          </a:xfrm>
          <a:prstGeom prst="rect">
            <a:avLst/>
          </a:prstGeom>
          <a:noFill/>
        </p:spPr>
        <p:txBody>
          <a:bodyPr wrap="none" lIns="0" rIns="0" tIns="0" bIns="0" anchor="t">
            <a:spAutoFit/>
          </a:bodyPr>
          <a:lstStyle/>
          <a:p>
            <a:pPr>
              <a:spcBef>
                <a:spcPts val="0"/>
              </a:spcBef>
              <a:spcAft>
                <a:spcPts val="0"/>
              </a:spcAft>
            </a:pPr>
            <a:r>
              <a:rPr sz="910" b="0">
                <a:solidFill>
                  <a:srgbClr val="516978"/>
                </a:solidFill>
                <a:latin typeface="Arial"/>
                <a:hlinkClick r:id="rId2"/>
              </a:rPr>
              <a:t>Sources: app/cdc.py | app/storage.py</a:t>
            </a:r>
          </a:p>
        </p:txBody>
      </p:sp>
      <p:sp>
        <p:nvSpPr>
          <p:cNvPr id="42" name="TextBox 41"/>
          <p:cNvSpPr txBox="1"/>
          <p:nvPr/>
        </p:nvSpPr>
        <p:spPr>
          <a:xfrm>
            <a:off x="10985500" y="6451600"/>
            <a:ext cx="609600" cy="213360"/>
          </a:xfrm>
          <a:prstGeom prst="rect">
            <a:avLst/>
          </a:prstGeom>
          <a:noFill/>
        </p:spPr>
        <p:txBody>
          <a:bodyPr wrap="none" lIns="0" rIns="0" tIns="0" bIns="0" anchor="t">
            <a:spAutoFit/>
          </a:bodyPr>
          <a:lstStyle/>
          <a:p>
            <a:pPr>
              <a:spcBef>
                <a:spcPts val="0"/>
              </a:spcBef>
              <a:spcAft>
                <a:spcPts val="0"/>
              </a:spcAft>
            </a:pPr>
            <a:r>
              <a:rPr sz="1000" b="1">
                <a:solidFill>
                  <a:srgbClr val="516978"/>
                </a:solidFill>
                <a:latin typeface="Arial"/>
              </a:rPr>
              <a:t>16 / 22</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42900"/>
            <a:ext cx="10972800" cy="213360"/>
          </a:xfrm>
          <a:prstGeom prst="rect">
            <a:avLst/>
          </a:prstGeom>
          <a:noFill/>
        </p:spPr>
        <p:txBody>
          <a:bodyPr wrap="none" lIns="0" rIns="0" tIns="0" bIns="0" anchor="t">
            <a:spAutoFit/>
          </a:bodyPr>
          <a:lstStyle/>
          <a:p>
            <a:pPr>
              <a:spcBef>
                <a:spcPts val="0"/>
              </a:spcBef>
              <a:spcAft>
                <a:spcPts val="0"/>
              </a:spcAft>
            </a:pPr>
            <a:r>
              <a:rPr sz="1000" b="1">
                <a:solidFill>
                  <a:srgbClr val="007F78"/>
                </a:solidFill>
                <a:latin typeface="Arial"/>
              </a:rPr>
              <a:t>APPENDIX B / FAILURES</a:t>
            </a:r>
          </a:p>
        </p:txBody>
      </p:sp>
      <p:sp>
        <p:nvSpPr>
          <p:cNvPr id="4" name="TextBox 3"/>
          <p:cNvSpPr txBox="1"/>
          <p:nvPr/>
        </p:nvSpPr>
        <p:spPr>
          <a:xfrm>
            <a:off x="609600" y="673100"/>
            <a:ext cx="10972800" cy="505968"/>
          </a:xfrm>
          <a:prstGeom prst="rect">
            <a:avLst/>
          </a:prstGeom>
          <a:noFill/>
        </p:spPr>
        <p:txBody>
          <a:bodyPr wrap="none" lIns="0" rIns="0" tIns="0" bIns="0" anchor="t">
            <a:spAutoFit/>
          </a:bodyPr>
          <a:lstStyle/>
          <a:p>
            <a:pPr>
              <a:spcBef>
                <a:spcPts val="0"/>
              </a:spcBef>
              <a:spcAft>
                <a:spcPts val="0"/>
              </a:spcAft>
            </a:pPr>
            <a:r>
              <a:rPr sz="2800" b="1">
                <a:solidFill>
                  <a:srgbClr val="122B3B"/>
                </a:solidFill>
                <a:latin typeface="Arial"/>
              </a:rPr>
              <a:t>Publish a complete read boundary</a:t>
            </a:r>
          </a:p>
        </p:txBody>
      </p:sp>
      <p:sp>
        <p:nvSpPr>
          <p:cNvPr id="5" name="Rectangle 4"/>
          <p:cNvSpPr/>
          <p:nvPr/>
        </p:nvSpPr>
        <p:spPr>
          <a:xfrm>
            <a:off x="609600" y="1498600"/>
            <a:ext cx="10972800" cy="457200"/>
          </a:xfrm>
          <a:prstGeom prst="rect">
            <a:avLst/>
          </a:prstGeom>
          <a:solidFill>
            <a:srgbClr val="122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600" y="1600200"/>
            <a:ext cx="2921000" cy="278384"/>
          </a:xfrm>
          <a:prstGeom prst="rect">
            <a:avLst/>
          </a:prstGeom>
          <a:noFill/>
        </p:spPr>
        <p:txBody>
          <a:bodyPr wrap="none" lIns="0" rIns="0" tIns="0" bIns="0" anchor="t">
            <a:spAutoFit/>
          </a:bodyPr>
          <a:lstStyle/>
          <a:p>
            <a:pPr>
              <a:spcBef>
                <a:spcPts val="0"/>
              </a:spcBef>
              <a:spcAft>
                <a:spcPts val="0"/>
              </a:spcAft>
            </a:pPr>
            <a:r>
              <a:rPr sz="1400" b="1">
                <a:solidFill>
                  <a:srgbClr val="FFFFFF"/>
                </a:solidFill>
                <a:latin typeface="Arial"/>
              </a:rPr>
              <a:t>Failure point</a:t>
            </a:r>
          </a:p>
        </p:txBody>
      </p:sp>
      <p:sp>
        <p:nvSpPr>
          <p:cNvPr id="7" name="TextBox 6"/>
          <p:cNvSpPr txBox="1"/>
          <p:nvPr/>
        </p:nvSpPr>
        <p:spPr>
          <a:xfrm>
            <a:off x="3911600" y="1600200"/>
            <a:ext cx="3556000" cy="278384"/>
          </a:xfrm>
          <a:prstGeom prst="rect">
            <a:avLst/>
          </a:prstGeom>
          <a:noFill/>
        </p:spPr>
        <p:txBody>
          <a:bodyPr wrap="none" lIns="0" rIns="0" tIns="0" bIns="0" anchor="t">
            <a:spAutoFit/>
          </a:bodyPr>
          <a:lstStyle/>
          <a:p>
            <a:pPr>
              <a:spcBef>
                <a:spcPts val="0"/>
              </a:spcBef>
              <a:spcAft>
                <a:spcPts val="0"/>
              </a:spcAft>
            </a:pPr>
            <a:r>
              <a:rPr sz="1400" b="1">
                <a:solidFill>
                  <a:srgbClr val="FFFFFF"/>
                </a:solidFill>
                <a:latin typeface="Arial"/>
              </a:rPr>
              <a:t>What supported readers see</a:t>
            </a:r>
          </a:p>
        </p:txBody>
      </p:sp>
      <p:sp>
        <p:nvSpPr>
          <p:cNvPr id="8" name="TextBox 7"/>
          <p:cNvSpPr txBox="1"/>
          <p:nvPr/>
        </p:nvSpPr>
        <p:spPr>
          <a:xfrm>
            <a:off x="7721600" y="1600200"/>
            <a:ext cx="3733800" cy="278384"/>
          </a:xfrm>
          <a:prstGeom prst="rect">
            <a:avLst/>
          </a:prstGeom>
          <a:noFill/>
        </p:spPr>
        <p:txBody>
          <a:bodyPr wrap="none" lIns="0" rIns="0" tIns="0" bIns="0" anchor="t">
            <a:spAutoFit/>
          </a:bodyPr>
          <a:lstStyle/>
          <a:p>
            <a:pPr>
              <a:spcBef>
                <a:spcPts val="0"/>
              </a:spcBef>
              <a:spcAft>
                <a:spcPts val="0"/>
              </a:spcAft>
            </a:pPr>
            <a:r>
              <a:rPr sz="1400" b="1">
                <a:solidFill>
                  <a:srgbClr val="FFFFFF"/>
                </a:solidFill>
                <a:latin typeface="Arial"/>
              </a:rPr>
              <a:t>Recovery action</a:t>
            </a:r>
          </a:p>
        </p:txBody>
      </p:sp>
      <p:sp>
        <p:nvSpPr>
          <p:cNvPr id="9" name="Rectangle 8"/>
          <p:cNvSpPr/>
          <p:nvPr/>
        </p:nvSpPr>
        <p:spPr>
          <a:xfrm>
            <a:off x="609600" y="1955800"/>
            <a:ext cx="10972800" cy="825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6600" y="2057400"/>
            <a:ext cx="29210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Before / during Silver merge</a:t>
            </a:r>
          </a:p>
        </p:txBody>
      </p:sp>
      <p:sp>
        <p:nvSpPr>
          <p:cNvPr id="11" name="TextBox 10"/>
          <p:cNvSpPr txBox="1"/>
          <p:nvPr/>
        </p:nvSpPr>
        <p:spPr>
          <a:xfrm>
            <a:off x="3911600" y="2057400"/>
            <a:ext cx="35560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Previous complete publication</a:t>
            </a:r>
          </a:p>
        </p:txBody>
      </p:sp>
      <p:sp>
        <p:nvSpPr>
          <p:cNvPr id="12" name="TextBox 11"/>
          <p:cNvSpPr txBox="1"/>
          <p:nvPr/>
        </p:nvSpPr>
        <p:spPr>
          <a:xfrm>
            <a:off x="7721600" y="2057400"/>
            <a:ext cx="37338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Retain checkpoint; correct failure; replay</a:t>
            </a:r>
          </a:p>
        </p:txBody>
      </p:sp>
      <p:sp>
        <p:nvSpPr>
          <p:cNvPr id="13" name="Rectangle 12"/>
          <p:cNvSpPr/>
          <p:nvPr/>
        </p:nvSpPr>
        <p:spPr>
          <a:xfrm>
            <a:off x="609600" y="2781300"/>
            <a:ext cx="10972800" cy="825500"/>
          </a:xfrm>
          <a:prstGeom prst="rect">
            <a:avLst/>
          </a:prstGeom>
          <a:solidFill>
            <a:srgbClr val="EA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6600" y="2882900"/>
            <a:ext cx="29210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After Silver / partial Gold</a:t>
            </a:r>
          </a:p>
        </p:txBody>
      </p:sp>
      <p:sp>
        <p:nvSpPr>
          <p:cNvPr id="15" name="TextBox 14"/>
          <p:cNvSpPr txBox="1"/>
          <p:nvPr/>
        </p:nvSpPr>
        <p:spPr>
          <a:xfrm>
            <a:off x="3911600" y="2882900"/>
            <a:ext cx="35560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Previous published Gold versions</a:t>
            </a:r>
          </a:p>
        </p:txBody>
      </p:sp>
      <p:sp>
        <p:nvSpPr>
          <p:cNvPr id="16" name="TextBox 15"/>
          <p:cNvSpPr txBox="1"/>
          <p:nvPr/>
        </p:nvSpPr>
        <p:spPr>
          <a:xfrm>
            <a:off x="7721600" y="2882900"/>
            <a:ext cx="37338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Recompute affected Gold rows; publish last</a:t>
            </a:r>
          </a:p>
        </p:txBody>
      </p:sp>
      <p:sp>
        <p:nvSpPr>
          <p:cNvPr id="17" name="Rectangle 16"/>
          <p:cNvSpPr/>
          <p:nvPr/>
        </p:nvSpPr>
        <p:spPr>
          <a:xfrm>
            <a:off x="609600" y="3606800"/>
            <a:ext cx="10972800" cy="8255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3708400"/>
            <a:ext cx="29210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After manifest commit</a:t>
            </a:r>
          </a:p>
        </p:txBody>
      </p:sp>
      <p:sp>
        <p:nvSpPr>
          <p:cNvPr id="19" name="TextBox 18"/>
          <p:cNvSpPr txBox="1"/>
          <p:nvPr/>
        </p:nvSpPr>
        <p:spPr>
          <a:xfrm>
            <a:off x="3911600" y="3708400"/>
            <a:ext cx="35560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New complete version set</a:t>
            </a:r>
          </a:p>
        </p:txBody>
      </p:sp>
      <p:sp>
        <p:nvSpPr>
          <p:cNvPr id="20" name="TextBox 19"/>
          <p:cNvSpPr txBox="1"/>
          <p:nvPr/>
        </p:nvSpPr>
        <p:spPr>
          <a:xfrm>
            <a:off x="7721600" y="3708400"/>
            <a:ext cx="37338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Checkpoint replay remains convergent</a:t>
            </a:r>
          </a:p>
        </p:txBody>
      </p:sp>
      <p:sp>
        <p:nvSpPr>
          <p:cNvPr id="21" name="Rectangle 20"/>
          <p:cNvSpPr/>
          <p:nvPr/>
        </p:nvSpPr>
        <p:spPr>
          <a:xfrm>
            <a:off x="609600" y="4432300"/>
            <a:ext cx="10972800" cy="825500"/>
          </a:xfrm>
          <a:prstGeom prst="rect">
            <a:avLst/>
          </a:prstGeom>
          <a:solidFill>
            <a:srgbClr val="EA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36600" y="4533900"/>
            <a:ext cx="29210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Invalid CDC contract</a:t>
            </a:r>
          </a:p>
        </p:txBody>
      </p:sp>
      <p:sp>
        <p:nvSpPr>
          <p:cNvPr id="23" name="TextBox 22"/>
          <p:cNvSpPr txBox="1"/>
          <p:nvPr/>
        </p:nvSpPr>
        <p:spPr>
          <a:xfrm>
            <a:off x="3911600" y="4533900"/>
            <a:ext cx="35560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Previous publication; batch withheld</a:t>
            </a:r>
          </a:p>
        </p:txBody>
      </p:sp>
      <p:sp>
        <p:nvSpPr>
          <p:cNvPr id="24" name="TextBox 23"/>
          <p:cNvSpPr txBox="1"/>
          <p:nvPr/>
        </p:nvSpPr>
        <p:spPr>
          <a:xfrm>
            <a:off x="7721600" y="4533900"/>
            <a:ext cx="37338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Inspect quarantine; fix parser / contract</a:t>
            </a:r>
          </a:p>
        </p:txBody>
      </p:sp>
      <p:sp>
        <p:nvSpPr>
          <p:cNvPr id="25" name="TextBox 24"/>
          <p:cNvSpPr txBox="1"/>
          <p:nvPr/>
        </p:nvSpPr>
        <p:spPr>
          <a:xfrm>
            <a:off x="609600" y="5600700"/>
            <a:ext cx="10972800" cy="294640"/>
          </a:xfrm>
          <a:prstGeom prst="rect">
            <a:avLst/>
          </a:prstGeom>
          <a:noFill/>
        </p:spPr>
        <p:txBody>
          <a:bodyPr wrap="none" lIns="0" rIns="0" tIns="0" bIns="0" anchor="t">
            <a:spAutoFit/>
          </a:bodyPr>
          <a:lstStyle/>
          <a:p>
            <a:pPr>
              <a:spcBef>
                <a:spcPts val="0"/>
              </a:spcBef>
              <a:spcAft>
                <a:spcPts val="0"/>
              </a:spcAft>
            </a:pPr>
            <a:r>
              <a:rPr sz="1500" b="1">
                <a:solidFill>
                  <a:srgbClr val="007F78"/>
                </a:solidFill>
                <a:latin typeface="Arial"/>
              </a:rPr>
              <a:t>No global atomic buffering of source transactions across topics. One materializer owns the tables.</a:t>
            </a:r>
          </a:p>
        </p:txBody>
      </p:sp>
      <p:sp>
        <p:nvSpPr>
          <p:cNvPr id="26" name="TextBox 25"/>
          <p:cNvSpPr txBox="1"/>
          <p:nvPr/>
        </p:nvSpPr>
        <p:spPr>
          <a:xfrm>
            <a:off x="609600" y="5943600"/>
            <a:ext cx="10972800" cy="278384"/>
          </a:xfrm>
          <a:prstGeom prst="rect">
            <a:avLst/>
          </a:prstGeom>
          <a:noFill/>
        </p:spPr>
        <p:txBody>
          <a:bodyPr wrap="none" lIns="0" rIns="0" tIns="0" bIns="0" anchor="t">
            <a:spAutoFit/>
          </a:bodyPr>
          <a:lstStyle/>
          <a:p>
            <a:pPr>
              <a:spcBef>
                <a:spcPts val="0"/>
              </a:spcBef>
              <a:spcAft>
                <a:spcPts val="0"/>
              </a:spcAft>
            </a:pPr>
            <a:r>
              <a:rPr sz="1400" b="0">
                <a:solidFill>
                  <a:srgbClr val="516978"/>
                </a:solidFill>
                <a:latin typeface="Arial"/>
              </a:rPr>
              <a:t>Missing Kafka offsets fail visibly. Checkpoints and raw Parquet metadata must stay intact.</a:t>
            </a:r>
          </a:p>
        </p:txBody>
      </p:sp>
      <p:cxnSp>
        <p:nvCxnSpPr>
          <p:cNvPr id="27" name="Connector 26"/>
          <p:cNvCxnSpPr/>
          <p:nvPr/>
        </p:nvCxnSpPr>
        <p:spPr>
          <a:xfrm>
            <a:off x="609600" y="6324600"/>
            <a:ext cx="10972800" cy="0"/>
          </a:xfrm>
          <a:prstGeom prst="line">
            <a:avLst/>
          </a:prstGeom>
          <a:ln w="8890">
            <a:solidFill>
              <a:srgbClr val="E5EBEF"/>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09600" y="6451600"/>
            <a:ext cx="10058400" cy="198729"/>
          </a:xfrm>
          <a:prstGeom prst="rect">
            <a:avLst/>
          </a:prstGeom>
          <a:noFill/>
        </p:spPr>
        <p:txBody>
          <a:bodyPr wrap="none" lIns="0" rIns="0" tIns="0" bIns="0" anchor="t">
            <a:spAutoFit/>
          </a:bodyPr>
          <a:lstStyle/>
          <a:p>
            <a:pPr>
              <a:spcBef>
                <a:spcPts val="0"/>
              </a:spcBef>
              <a:spcAft>
                <a:spcPts val="0"/>
              </a:spcAft>
            </a:pPr>
            <a:r>
              <a:rPr sz="910" b="0">
                <a:solidFill>
                  <a:srgbClr val="516978"/>
                </a:solidFill>
                <a:latin typeface="Arial"/>
                <a:hlinkClick r:id="rId2"/>
              </a:rPr>
              <a:t>Sources: app/materialize.py | app/metrics.py</a:t>
            </a:r>
          </a:p>
        </p:txBody>
      </p:sp>
      <p:sp>
        <p:nvSpPr>
          <p:cNvPr id="29" name="TextBox 28"/>
          <p:cNvSpPr txBox="1"/>
          <p:nvPr/>
        </p:nvSpPr>
        <p:spPr>
          <a:xfrm>
            <a:off x="10985500" y="6451600"/>
            <a:ext cx="609600" cy="213360"/>
          </a:xfrm>
          <a:prstGeom prst="rect">
            <a:avLst/>
          </a:prstGeom>
          <a:noFill/>
        </p:spPr>
        <p:txBody>
          <a:bodyPr wrap="none" lIns="0" rIns="0" tIns="0" bIns="0" anchor="t">
            <a:spAutoFit/>
          </a:bodyPr>
          <a:lstStyle/>
          <a:p>
            <a:pPr>
              <a:spcBef>
                <a:spcPts val="0"/>
              </a:spcBef>
              <a:spcAft>
                <a:spcPts val="0"/>
              </a:spcAft>
            </a:pPr>
            <a:r>
              <a:rPr sz="1000" b="1">
                <a:solidFill>
                  <a:srgbClr val="516978"/>
                </a:solidFill>
                <a:latin typeface="Arial"/>
              </a:rPr>
              <a:t>17 / 22</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42900"/>
            <a:ext cx="10972800" cy="213360"/>
          </a:xfrm>
          <a:prstGeom prst="rect">
            <a:avLst/>
          </a:prstGeom>
          <a:noFill/>
        </p:spPr>
        <p:txBody>
          <a:bodyPr wrap="none" lIns="0" rIns="0" tIns="0" bIns="0" anchor="t">
            <a:spAutoFit/>
          </a:bodyPr>
          <a:lstStyle/>
          <a:p>
            <a:pPr>
              <a:spcBef>
                <a:spcPts val="0"/>
              </a:spcBef>
              <a:spcAft>
                <a:spcPts val="0"/>
              </a:spcAft>
            </a:pPr>
            <a:r>
              <a:rPr sz="1000" b="1">
                <a:solidFill>
                  <a:srgbClr val="007F78"/>
                </a:solidFill>
                <a:latin typeface="Arial"/>
              </a:rPr>
              <a:t>APPENDIX C / OTHER LOAD TESTS</a:t>
            </a:r>
          </a:p>
        </p:txBody>
      </p:sp>
      <p:sp>
        <p:nvSpPr>
          <p:cNvPr id="4" name="TextBox 3"/>
          <p:cNvSpPr txBox="1"/>
          <p:nvPr/>
        </p:nvSpPr>
        <p:spPr>
          <a:xfrm>
            <a:off x="609600" y="673100"/>
            <a:ext cx="10972800" cy="505968"/>
          </a:xfrm>
          <a:prstGeom prst="rect">
            <a:avLst/>
          </a:prstGeom>
          <a:noFill/>
        </p:spPr>
        <p:txBody>
          <a:bodyPr wrap="none" lIns="0" rIns="0" tIns="0" bIns="0" anchor="t">
            <a:spAutoFit/>
          </a:bodyPr>
          <a:lstStyle/>
          <a:p>
            <a:pPr>
              <a:spcBef>
                <a:spcPts val="0"/>
              </a:spcBef>
              <a:spcAft>
                <a:spcPts val="0"/>
              </a:spcAft>
            </a:pPr>
            <a:r>
              <a:rPr sz="2800" b="1">
                <a:solidFill>
                  <a:srgbClr val="122B3B"/>
                </a:solidFill>
                <a:latin typeface="Arial"/>
              </a:rPr>
              <a:t>Intake and serving have different limits</a:t>
            </a:r>
          </a:p>
        </p:txBody>
      </p:sp>
      <p:sp>
        <p:nvSpPr>
          <p:cNvPr id="5" name="TextBox 4"/>
          <p:cNvSpPr txBox="1"/>
          <p:nvPr/>
        </p:nvSpPr>
        <p:spPr>
          <a:xfrm>
            <a:off x="609600" y="1473200"/>
            <a:ext cx="5308600" cy="375920"/>
          </a:xfrm>
          <a:prstGeom prst="rect">
            <a:avLst/>
          </a:prstGeom>
          <a:noFill/>
        </p:spPr>
        <p:txBody>
          <a:bodyPr wrap="none" lIns="0" rIns="0" tIns="0" bIns="0" anchor="t">
            <a:spAutoFit/>
          </a:bodyPr>
          <a:lstStyle/>
          <a:p>
            <a:pPr>
              <a:spcBef>
                <a:spcPts val="0"/>
              </a:spcBef>
              <a:spcAft>
                <a:spcPts val="0"/>
              </a:spcAft>
            </a:pPr>
            <a:r>
              <a:rPr sz="2000" b="1">
                <a:solidFill>
                  <a:srgbClr val="183342"/>
                </a:solidFill>
                <a:latin typeface="Arial"/>
              </a:rPr>
              <a:t>Kafka → Bronze only</a:t>
            </a:r>
          </a:p>
        </p:txBody>
      </p:sp>
      <p:sp>
        <p:nvSpPr>
          <p:cNvPr id="6" name="Rectangle 5"/>
          <p:cNvSpPr/>
          <p:nvPr/>
        </p:nvSpPr>
        <p:spPr>
          <a:xfrm>
            <a:off x="609600" y="1993900"/>
            <a:ext cx="5308600" cy="457200"/>
          </a:xfrm>
          <a:prstGeom prst="rect">
            <a:avLst/>
          </a:prstGeom>
          <a:solidFill>
            <a:srgbClr val="122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6600" y="2095500"/>
            <a:ext cx="1524000" cy="262128"/>
          </a:xfrm>
          <a:prstGeom prst="rect">
            <a:avLst/>
          </a:prstGeom>
          <a:noFill/>
        </p:spPr>
        <p:txBody>
          <a:bodyPr wrap="none" lIns="0" rIns="0" tIns="0" bIns="0" anchor="t">
            <a:spAutoFit/>
          </a:bodyPr>
          <a:lstStyle/>
          <a:p>
            <a:pPr>
              <a:spcBef>
                <a:spcPts val="0"/>
              </a:spcBef>
              <a:spcAft>
                <a:spcPts val="0"/>
              </a:spcAft>
            </a:pPr>
            <a:r>
              <a:rPr sz="1300" b="1">
                <a:solidFill>
                  <a:srgbClr val="FFFFFF"/>
                </a:solidFill>
                <a:latin typeface="Arial"/>
              </a:rPr>
              <a:t>Payload</a:t>
            </a:r>
          </a:p>
        </p:txBody>
      </p:sp>
      <p:sp>
        <p:nvSpPr>
          <p:cNvPr id="8" name="TextBox 7"/>
          <p:cNvSpPr txBox="1"/>
          <p:nvPr/>
        </p:nvSpPr>
        <p:spPr>
          <a:xfrm>
            <a:off x="2514600" y="2095500"/>
            <a:ext cx="1524000" cy="262128"/>
          </a:xfrm>
          <a:prstGeom prst="rect">
            <a:avLst/>
          </a:prstGeom>
          <a:noFill/>
        </p:spPr>
        <p:txBody>
          <a:bodyPr wrap="none" lIns="0" rIns="0" tIns="0" bIns="0" anchor="t">
            <a:spAutoFit/>
          </a:bodyPr>
          <a:lstStyle/>
          <a:p>
            <a:pPr>
              <a:spcBef>
                <a:spcPts val="0"/>
              </a:spcBef>
              <a:spcAft>
                <a:spcPts val="0"/>
              </a:spcAft>
            </a:pPr>
            <a:r>
              <a:rPr sz="1300" b="1">
                <a:solidFill>
                  <a:srgbClr val="FFFFFF"/>
                </a:solidFill>
                <a:latin typeface="Arial"/>
              </a:rPr>
              <a:t>20k cap</a:t>
            </a:r>
          </a:p>
        </p:txBody>
      </p:sp>
      <p:sp>
        <p:nvSpPr>
          <p:cNvPr id="9" name="TextBox 8"/>
          <p:cNvSpPr txBox="1"/>
          <p:nvPr/>
        </p:nvSpPr>
        <p:spPr>
          <a:xfrm>
            <a:off x="4292600" y="2095500"/>
            <a:ext cx="1498600" cy="262128"/>
          </a:xfrm>
          <a:prstGeom prst="rect">
            <a:avLst/>
          </a:prstGeom>
          <a:noFill/>
        </p:spPr>
        <p:txBody>
          <a:bodyPr wrap="none" lIns="0" rIns="0" tIns="0" bIns="0" anchor="t">
            <a:spAutoFit/>
          </a:bodyPr>
          <a:lstStyle/>
          <a:p>
            <a:pPr>
              <a:spcBef>
                <a:spcPts val="0"/>
              </a:spcBef>
              <a:spcAft>
                <a:spcPts val="0"/>
              </a:spcAft>
            </a:pPr>
            <a:r>
              <a:rPr sz="1300" b="1">
                <a:solidFill>
                  <a:srgbClr val="FFFFFF"/>
                </a:solidFill>
                <a:latin typeface="Arial"/>
              </a:rPr>
              <a:t>200k cap</a:t>
            </a:r>
          </a:p>
        </p:txBody>
      </p:sp>
      <p:sp>
        <p:nvSpPr>
          <p:cNvPr id="10" name="Rectangle 9"/>
          <p:cNvSpPr/>
          <p:nvPr/>
        </p:nvSpPr>
        <p:spPr>
          <a:xfrm>
            <a:off x="609600" y="2451100"/>
            <a:ext cx="5308600" cy="7874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6600" y="2552700"/>
            <a:ext cx="15240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500 B / 250k</a:t>
            </a:r>
          </a:p>
        </p:txBody>
      </p:sp>
      <p:sp>
        <p:nvSpPr>
          <p:cNvPr id="12" name="TextBox 11"/>
          <p:cNvSpPr txBox="1"/>
          <p:nvPr/>
        </p:nvSpPr>
        <p:spPr>
          <a:xfrm>
            <a:off x="2514600" y="2552700"/>
            <a:ext cx="15240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127.8s</a:t>
            </a:r>
          </a:p>
        </p:txBody>
      </p:sp>
      <p:sp>
        <p:nvSpPr>
          <p:cNvPr id="13" name="TextBox 12"/>
          <p:cNvSpPr txBox="1"/>
          <p:nvPr/>
        </p:nvSpPr>
        <p:spPr>
          <a:xfrm>
            <a:off x="4292600" y="2552700"/>
            <a:ext cx="14986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20.9s</a:t>
            </a:r>
          </a:p>
        </p:txBody>
      </p:sp>
      <p:sp>
        <p:nvSpPr>
          <p:cNvPr id="14" name="Rectangle 13"/>
          <p:cNvSpPr/>
          <p:nvPr/>
        </p:nvSpPr>
        <p:spPr>
          <a:xfrm>
            <a:off x="609600" y="3238500"/>
            <a:ext cx="5308600" cy="787400"/>
          </a:xfrm>
          <a:prstGeom prst="rect">
            <a:avLst/>
          </a:prstGeom>
          <a:solidFill>
            <a:srgbClr val="EA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3340100"/>
            <a:ext cx="15240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5k B / 100k</a:t>
            </a:r>
          </a:p>
        </p:txBody>
      </p:sp>
      <p:sp>
        <p:nvSpPr>
          <p:cNvPr id="16" name="TextBox 15"/>
          <p:cNvSpPr txBox="1"/>
          <p:nvPr/>
        </p:nvSpPr>
        <p:spPr>
          <a:xfrm>
            <a:off x="2514600" y="3340100"/>
            <a:ext cx="15240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57.6s</a:t>
            </a:r>
          </a:p>
        </p:txBody>
      </p:sp>
      <p:sp>
        <p:nvSpPr>
          <p:cNvPr id="17" name="TextBox 16"/>
          <p:cNvSpPr txBox="1"/>
          <p:nvPr/>
        </p:nvSpPr>
        <p:spPr>
          <a:xfrm>
            <a:off x="4292600" y="3340100"/>
            <a:ext cx="14986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20.4s</a:t>
            </a:r>
          </a:p>
        </p:txBody>
      </p:sp>
      <p:sp>
        <p:nvSpPr>
          <p:cNvPr id="18" name="TextBox 17"/>
          <p:cNvSpPr txBox="1"/>
          <p:nvPr/>
        </p:nvSpPr>
        <p:spPr>
          <a:xfrm>
            <a:off x="6223000" y="1473200"/>
            <a:ext cx="5359400" cy="375920"/>
          </a:xfrm>
          <a:prstGeom prst="rect">
            <a:avLst/>
          </a:prstGeom>
          <a:noFill/>
        </p:spPr>
        <p:txBody>
          <a:bodyPr wrap="none" lIns="0" rIns="0" tIns="0" bIns="0" anchor="t">
            <a:spAutoFit/>
          </a:bodyPr>
          <a:lstStyle/>
          <a:p>
            <a:pPr>
              <a:spcBef>
                <a:spcPts val="0"/>
              </a:spcBef>
              <a:spcAft>
                <a:spcPts val="0"/>
              </a:spcAft>
            </a:pPr>
            <a:r>
              <a:rPr sz="2000" b="1">
                <a:solidFill>
                  <a:srgbClr val="183342"/>
                </a:solidFill>
                <a:latin typeface="Arial"/>
              </a:rPr>
              <a:t>Fresh query containers</a:t>
            </a:r>
          </a:p>
        </p:txBody>
      </p:sp>
      <p:sp>
        <p:nvSpPr>
          <p:cNvPr id="19" name="Rectangle 18"/>
          <p:cNvSpPr/>
          <p:nvPr/>
        </p:nvSpPr>
        <p:spPr>
          <a:xfrm>
            <a:off x="6223000" y="1993900"/>
            <a:ext cx="5359400" cy="457200"/>
          </a:xfrm>
          <a:prstGeom prst="rect">
            <a:avLst/>
          </a:prstGeom>
          <a:solidFill>
            <a:srgbClr val="122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0000" y="2095500"/>
            <a:ext cx="2438400" cy="278384"/>
          </a:xfrm>
          <a:prstGeom prst="rect">
            <a:avLst/>
          </a:prstGeom>
          <a:noFill/>
        </p:spPr>
        <p:txBody>
          <a:bodyPr wrap="none" lIns="0" rIns="0" tIns="0" bIns="0" anchor="t">
            <a:spAutoFit/>
          </a:bodyPr>
          <a:lstStyle/>
          <a:p>
            <a:pPr>
              <a:spcBef>
                <a:spcPts val="0"/>
              </a:spcBef>
              <a:spcAft>
                <a:spcPts val="0"/>
              </a:spcAft>
            </a:pPr>
            <a:r>
              <a:rPr sz="1400" b="1">
                <a:solidFill>
                  <a:srgbClr val="FFFFFF"/>
                </a:solidFill>
                <a:latin typeface="Arial"/>
              </a:rPr>
              <a:t>Concurrent processes</a:t>
            </a:r>
          </a:p>
        </p:txBody>
      </p:sp>
      <p:sp>
        <p:nvSpPr>
          <p:cNvPr id="21" name="TextBox 20"/>
          <p:cNvSpPr txBox="1"/>
          <p:nvPr/>
        </p:nvSpPr>
        <p:spPr>
          <a:xfrm>
            <a:off x="9042400" y="2095500"/>
            <a:ext cx="2413000" cy="278384"/>
          </a:xfrm>
          <a:prstGeom prst="rect">
            <a:avLst/>
          </a:prstGeom>
          <a:noFill/>
        </p:spPr>
        <p:txBody>
          <a:bodyPr wrap="none" lIns="0" rIns="0" tIns="0" bIns="0" anchor="t">
            <a:spAutoFit/>
          </a:bodyPr>
          <a:lstStyle/>
          <a:p>
            <a:pPr>
              <a:spcBef>
                <a:spcPts val="0"/>
              </a:spcBef>
              <a:spcAft>
                <a:spcPts val="0"/>
              </a:spcAft>
            </a:pPr>
            <a:r>
              <a:rPr sz="1400" b="1">
                <a:solidFill>
                  <a:srgbClr val="FFFFFF"/>
                </a:solidFill>
                <a:latin typeface="Arial"/>
              </a:rPr>
              <a:t>Group time</a:t>
            </a:r>
          </a:p>
        </p:txBody>
      </p:sp>
      <p:sp>
        <p:nvSpPr>
          <p:cNvPr id="22" name="Rectangle 21"/>
          <p:cNvSpPr/>
          <p:nvPr/>
        </p:nvSpPr>
        <p:spPr>
          <a:xfrm>
            <a:off x="6223000" y="2451100"/>
            <a:ext cx="5359400" cy="596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0000" y="2552700"/>
            <a:ext cx="24384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1</a:t>
            </a:r>
          </a:p>
        </p:txBody>
      </p:sp>
      <p:sp>
        <p:nvSpPr>
          <p:cNvPr id="24" name="TextBox 23"/>
          <p:cNvSpPr txBox="1"/>
          <p:nvPr/>
        </p:nvSpPr>
        <p:spPr>
          <a:xfrm>
            <a:off x="9042400" y="2552700"/>
            <a:ext cx="24130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24.6s</a:t>
            </a:r>
          </a:p>
        </p:txBody>
      </p:sp>
      <p:sp>
        <p:nvSpPr>
          <p:cNvPr id="25" name="Rectangle 24"/>
          <p:cNvSpPr/>
          <p:nvPr/>
        </p:nvSpPr>
        <p:spPr>
          <a:xfrm>
            <a:off x="6223000" y="3048000"/>
            <a:ext cx="5359400" cy="596900"/>
          </a:xfrm>
          <a:prstGeom prst="rect">
            <a:avLst/>
          </a:prstGeom>
          <a:solidFill>
            <a:srgbClr val="EA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50000" y="3149600"/>
            <a:ext cx="24384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2</a:t>
            </a:r>
          </a:p>
        </p:txBody>
      </p:sp>
      <p:sp>
        <p:nvSpPr>
          <p:cNvPr id="27" name="TextBox 26"/>
          <p:cNvSpPr txBox="1"/>
          <p:nvPr/>
        </p:nvSpPr>
        <p:spPr>
          <a:xfrm>
            <a:off x="9042400" y="3149600"/>
            <a:ext cx="24130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37.9s</a:t>
            </a:r>
          </a:p>
        </p:txBody>
      </p:sp>
      <p:sp>
        <p:nvSpPr>
          <p:cNvPr id="28" name="Rectangle 27"/>
          <p:cNvSpPr/>
          <p:nvPr/>
        </p:nvSpPr>
        <p:spPr>
          <a:xfrm>
            <a:off x="6223000" y="3644900"/>
            <a:ext cx="5359400" cy="5969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50000" y="3746500"/>
            <a:ext cx="24384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4</a:t>
            </a:r>
          </a:p>
        </p:txBody>
      </p:sp>
      <p:sp>
        <p:nvSpPr>
          <p:cNvPr id="30" name="TextBox 29"/>
          <p:cNvSpPr txBox="1"/>
          <p:nvPr/>
        </p:nvSpPr>
        <p:spPr>
          <a:xfrm>
            <a:off x="9042400" y="3746500"/>
            <a:ext cx="2413000" cy="294640"/>
          </a:xfrm>
          <a:prstGeom prst="rect">
            <a:avLst/>
          </a:prstGeom>
          <a:noFill/>
        </p:spPr>
        <p:txBody>
          <a:bodyPr wrap="none" lIns="0" rIns="0" tIns="0" bIns="0" anchor="t">
            <a:spAutoFit/>
          </a:bodyPr>
          <a:lstStyle/>
          <a:p>
            <a:pPr>
              <a:spcBef>
                <a:spcPts val="0"/>
              </a:spcBef>
              <a:spcAft>
                <a:spcPts val="0"/>
              </a:spcAft>
            </a:pPr>
            <a:r>
              <a:rPr sz="1500" b="0">
                <a:solidFill>
                  <a:srgbClr val="183342"/>
                </a:solidFill>
                <a:latin typeface="Arial"/>
              </a:rPr>
              <a:t>65.2s</a:t>
            </a:r>
          </a:p>
        </p:txBody>
      </p:sp>
      <p:sp>
        <p:nvSpPr>
          <p:cNvPr id="31" name="Rounded Rectangle 30"/>
          <p:cNvSpPr/>
          <p:nvPr/>
        </p:nvSpPr>
        <p:spPr>
          <a:xfrm>
            <a:off x="609600" y="4495800"/>
            <a:ext cx="5308600" cy="1397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09600" y="4495800"/>
            <a:ext cx="50800" cy="13970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38200" y="4686300"/>
            <a:ext cx="48768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What this demonstrates</a:t>
            </a:r>
          </a:p>
        </p:txBody>
      </p:sp>
      <p:sp>
        <p:nvSpPr>
          <p:cNvPr id="34" name="TextBox 33"/>
          <p:cNvSpPr txBox="1"/>
          <p:nvPr/>
        </p:nvSpPr>
        <p:spPr>
          <a:xfrm>
            <a:off x="838200" y="5093208"/>
            <a:ext cx="48768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The original admission cap limits these bursts; larger</a:t>
            </a:r>
          </a:p>
        </p:txBody>
      </p:sp>
      <p:sp>
        <p:nvSpPr>
          <p:cNvPr id="35" name="TextBox 34"/>
          <p:cNvSpPr txBox="1"/>
          <p:nvPr/>
        </p:nvSpPr>
        <p:spPr>
          <a:xfrm>
            <a:off x="838200" y="5337048"/>
            <a:ext cx="48768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intake is not a Gold fix.</a:t>
            </a:r>
          </a:p>
        </p:txBody>
      </p:sp>
      <p:sp>
        <p:nvSpPr>
          <p:cNvPr id="36" name="Rounded Rectangle 35"/>
          <p:cNvSpPr/>
          <p:nvPr/>
        </p:nvSpPr>
        <p:spPr>
          <a:xfrm>
            <a:off x="6223000" y="4495800"/>
            <a:ext cx="5359400" cy="1397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23000" y="4495800"/>
            <a:ext cx="50800" cy="13970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451600" y="4686300"/>
            <a:ext cx="49276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What remains open</a:t>
            </a:r>
          </a:p>
        </p:txBody>
      </p:sp>
      <p:sp>
        <p:nvSpPr>
          <p:cNvPr id="39" name="TextBox 38"/>
          <p:cNvSpPr txBox="1"/>
          <p:nvPr/>
        </p:nvSpPr>
        <p:spPr>
          <a:xfrm>
            <a:off x="6451600" y="5093208"/>
            <a:ext cx="4927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Query concurrency at peak write load and an always-on</a:t>
            </a:r>
          </a:p>
        </p:txBody>
      </p:sp>
      <p:sp>
        <p:nvSpPr>
          <p:cNvPr id="40" name="TextBox 39"/>
          <p:cNvSpPr txBox="1"/>
          <p:nvPr/>
        </p:nvSpPr>
        <p:spPr>
          <a:xfrm>
            <a:off x="6451600" y="5337048"/>
            <a:ext cx="4927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serving comparison.</a:t>
            </a:r>
          </a:p>
        </p:txBody>
      </p:sp>
      <p:cxnSp>
        <p:nvCxnSpPr>
          <p:cNvPr id="41" name="Connector 40"/>
          <p:cNvCxnSpPr/>
          <p:nvPr/>
        </p:nvCxnSpPr>
        <p:spPr>
          <a:xfrm>
            <a:off x="609600" y="6324600"/>
            <a:ext cx="10972800" cy="0"/>
          </a:xfrm>
          <a:prstGeom prst="line">
            <a:avLst/>
          </a:prstGeom>
          <a:ln w="8890">
            <a:solidFill>
              <a:srgbClr val="E5EBEF"/>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09600" y="6451600"/>
            <a:ext cx="10058400" cy="198729"/>
          </a:xfrm>
          <a:prstGeom prst="rect">
            <a:avLst/>
          </a:prstGeom>
          <a:noFill/>
        </p:spPr>
        <p:txBody>
          <a:bodyPr wrap="none" lIns="0" rIns="0" tIns="0" bIns="0" anchor="t">
            <a:spAutoFit/>
          </a:bodyPr>
          <a:lstStyle/>
          <a:p>
            <a:pPr>
              <a:spcBef>
                <a:spcPts val="0"/>
              </a:spcBef>
              <a:spcAft>
                <a:spcPts val="0"/>
              </a:spcAft>
            </a:pPr>
            <a:r>
              <a:rPr sz="910" b="0">
                <a:solidFill>
                  <a:srgbClr val="516978"/>
                </a:solidFill>
                <a:latin typeface="Arial"/>
                <a:hlinkClick r:id="rId2"/>
              </a:rPr>
              <a:t>Sources: docs/evidence/stress/bronze-load-levels.jsonl | docs/evidence/stress/query-concurrency.jsonl</a:t>
            </a:r>
          </a:p>
        </p:txBody>
      </p:sp>
      <p:sp>
        <p:nvSpPr>
          <p:cNvPr id="43" name="TextBox 42"/>
          <p:cNvSpPr txBox="1"/>
          <p:nvPr/>
        </p:nvSpPr>
        <p:spPr>
          <a:xfrm>
            <a:off x="10985500" y="6451600"/>
            <a:ext cx="609600" cy="213360"/>
          </a:xfrm>
          <a:prstGeom prst="rect">
            <a:avLst/>
          </a:prstGeom>
          <a:noFill/>
        </p:spPr>
        <p:txBody>
          <a:bodyPr wrap="none" lIns="0" rIns="0" tIns="0" bIns="0" anchor="t">
            <a:spAutoFit/>
          </a:bodyPr>
          <a:lstStyle/>
          <a:p>
            <a:pPr>
              <a:spcBef>
                <a:spcPts val="0"/>
              </a:spcBef>
              <a:spcAft>
                <a:spcPts val="0"/>
              </a:spcAft>
            </a:pPr>
            <a:r>
              <a:rPr sz="1000" b="1">
                <a:solidFill>
                  <a:srgbClr val="516978"/>
                </a:solidFill>
                <a:latin typeface="Arial"/>
              </a:rPr>
              <a:t>18 / 22</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42900"/>
            <a:ext cx="10972800" cy="213360"/>
          </a:xfrm>
          <a:prstGeom prst="rect">
            <a:avLst/>
          </a:prstGeom>
          <a:noFill/>
        </p:spPr>
        <p:txBody>
          <a:bodyPr wrap="none" lIns="0" rIns="0" tIns="0" bIns="0" anchor="t">
            <a:spAutoFit/>
          </a:bodyPr>
          <a:lstStyle/>
          <a:p>
            <a:pPr>
              <a:spcBef>
                <a:spcPts val="0"/>
              </a:spcBef>
              <a:spcAft>
                <a:spcPts val="0"/>
              </a:spcAft>
            </a:pPr>
            <a:r>
              <a:rPr sz="1000" b="1">
                <a:solidFill>
                  <a:srgbClr val="007F78"/>
                </a:solidFill>
                <a:latin typeface="Arial"/>
              </a:rPr>
              <a:t>APPENDIX D / SPARK METRICS</a:t>
            </a:r>
          </a:p>
        </p:txBody>
      </p:sp>
      <p:sp>
        <p:nvSpPr>
          <p:cNvPr id="4" name="TextBox 3"/>
          <p:cNvSpPr txBox="1"/>
          <p:nvPr/>
        </p:nvSpPr>
        <p:spPr>
          <a:xfrm>
            <a:off x="609600" y="673100"/>
            <a:ext cx="10972800" cy="505968"/>
          </a:xfrm>
          <a:prstGeom prst="rect">
            <a:avLst/>
          </a:prstGeom>
          <a:noFill/>
        </p:spPr>
        <p:txBody>
          <a:bodyPr wrap="none" lIns="0" rIns="0" tIns="0" bIns="0" anchor="t">
            <a:spAutoFit/>
          </a:bodyPr>
          <a:lstStyle/>
          <a:p>
            <a:pPr>
              <a:spcBef>
                <a:spcPts val="0"/>
              </a:spcBef>
              <a:spcAft>
                <a:spcPts val="0"/>
              </a:spcAft>
            </a:pPr>
            <a:r>
              <a:rPr sz="2800" b="1">
                <a:solidFill>
                  <a:srgbClr val="122B3B"/>
                </a:solidFill>
                <a:latin typeface="Arial"/>
              </a:rPr>
              <a:t>Native metrics support the sizing discussion</a:t>
            </a:r>
          </a:p>
        </p:txBody>
      </p:sp>
      <p:sp>
        <p:nvSpPr>
          <p:cNvPr id="5" name="Rectangle 4"/>
          <p:cNvSpPr/>
          <p:nvPr/>
        </p:nvSpPr>
        <p:spPr>
          <a:xfrm>
            <a:off x="609600" y="1498600"/>
            <a:ext cx="10972800" cy="457200"/>
          </a:xfrm>
          <a:prstGeom prst="rect">
            <a:avLst/>
          </a:prstGeom>
          <a:solidFill>
            <a:srgbClr val="122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6600" y="1600200"/>
            <a:ext cx="1841500" cy="262128"/>
          </a:xfrm>
          <a:prstGeom prst="rect">
            <a:avLst/>
          </a:prstGeom>
          <a:noFill/>
        </p:spPr>
        <p:txBody>
          <a:bodyPr wrap="none" lIns="0" rIns="0" tIns="0" bIns="0" anchor="t">
            <a:spAutoFit/>
          </a:bodyPr>
          <a:lstStyle/>
          <a:p>
            <a:pPr>
              <a:spcBef>
                <a:spcPts val="0"/>
              </a:spcBef>
              <a:spcAft>
                <a:spcPts val="0"/>
              </a:spcAft>
            </a:pPr>
            <a:r>
              <a:rPr sz="1300" b="1">
                <a:solidFill>
                  <a:srgbClr val="FFFFFF"/>
                </a:solidFill>
                <a:latin typeface="Arial"/>
              </a:rPr>
              <a:t>Fixture</a:t>
            </a:r>
          </a:p>
        </p:txBody>
      </p:sp>
      <p:sp>
        <p:nvSpPr>
          <p:cNvPr id="7" name="TextBox 6"/>
          <p:cNvSpPr txBox="1"/>
          <p:nvPr/>
        </p:nvSpPr>
        <p:spPr>
          <a:xfrm>
            <a:off x="2832100" y="1600200"/>
            <a:ext cx="1587500" cy="262128"/>
          </a:xfrm>
          <a:prstGeom prst="rect">
            <a:avLst/>
          </a:prstGeom>
          <a:noFill/>
        </p:spPr>
        <p:txBody>
          <a:bodyPr wrap="none" lIns="0" rIns="0" tIns="0" bIns="0" anchor="t">
            <a:spAutoFit/>
          </a:bodyPr>
          <a:lstStyle/>
          <a:p>
            <a:pPr>
              <a:spcBef>
                <a:spcPts val="0"/>
              </a:spcBef>
              <a:spcAft>
                <a:spcPts val="0"/>
              </a:spcAft>
            </a:pPr>
            <a:r>
              <a:rPr sz="1300" b="1">
                <a:solidFill>
                  <a:srgbClr val="FFFFFF"/>
                </a:solidFill>
                <a:latin typeface="Arial"/>
              </a:rPr>
              <a:t>Tasks / fail</a:t>
            </a:r>
          </a:p>
        </p:txBody>
      </p:sp>
      <p:sp>
        <p:nvSpPr>
          <p:cNvPr id="8" name="TextBox 7"/>
          <p:cNvSpPr txBox="1"/>
          <p:nvPr/>
        </p:nvSpPr>
        <p:spPr>
          <a:xfrm>
            <a:off x="4673600" y="1600200"/>
            <a:ext cx="1498600" cy="262128"/>
          </a:xfrm>
          <a:prstGeom prst="rect">
            <a:avLst/>
          </a:prstGeom>
          <a:noFill/>
        </p:spPr>
        <p:txBody>
          <a:bodyPr wrap="none" lIns="0" rIns="0" tIns="0" bIns="0" anchor="t">
            <a:spAutoFit/>
          </a:bodyPr>
          <a:lstStyle/>
          <a:p>
            <a:pPr>
              <a:spcBef>
                <a:spcPts val="0"/>
              </a:spcBef>
              <a:spcAft>
                <a:spcPts val="0"/>
              </a:spcAft>
            </a:pPr>
            <a:r>
              <a:rPr sz="1300" b="1">
                <a:solidFill>
                  <a:srgbClr val="FFFFFF"/>
                </a:solidFill>
                <a:latin typeface="Arial"/>
              </a:rPr>
              <a:t>CPU sum</a:t>
            </a:r>
          </a:p>
        </p:txBody>
      </p:sp>
      <p:sp>
        <p:nvSpPr>
          <p:cNvPr id="9" name="TextBox 8"/>
          <p:cNvSpPr txBox="1"/>
          <p:nvPr/>
        </p:nvSpPr>
        <p:spPr>
          <a:xfrm>
            <a:off x="6426200" y="1600200"/>
            <a:ext cx="1498600" cy="262128"/>
          </a:xfrm>
          <a:prstGeom prst="rect">
            <a:avLst/>
          </a:prstGeom>
          <a:noFill/>
        </p:spPr>
        <p:txBody>
          <a:bodyPr wrap="none" lIns="0" rIns="0" tIns="0" bIns="0" anchor="t">
            <a:spAutoFit/>
          </a:bodyPr>
          <a:lstStyle/>
          <a:p>
            <a:pPr>
              <a:spcBef>
                <a:spcPts val="0"/>
              </a:spcBef>
              <a:spcAft>
                <a:spcPts val="0"/>
              </a:spcAft>
            </a:pPr>
            <a:r>
              <a:rPr sz="1300" b="1">
                <a:solidFill>
                  <a:srgbClr val="FFFFFF"/>
                </a:solidFill>
                <a:latin typeface="Arial"/>
              </a:rPr>
              <a:t>GC sum</a:t>
            </a:r>
          </a:p>
        </p:txBody>
      </p:sp>
      <p:sp>
        <p:nvSpPr>
          <p:cNvPr id="10" name="TextBox 9"/>
          <p:cNvSpPr txBox="1"/>
          <p:nvPr/>
        </p:nvSpPr>
        <p:spPr>
          <a:xfrm>
            <a:off x="8178800" y="1600200"/>
            <a:ext cx="1524000" cy="262128"/>
          </a:xfrm>
          <a:prstGeom prst="rect">
            <a:avLst/>
          </a:prstGeom>
          <a:noFill/>
        </p:spPr>
        <p:txBody>
          <a:bodyPr wrap="none" lIns="0" rIns="0" tIns="0" bIns="0" anchor="t">
            <a:spAutoFit/>
          </a:bodyPr>
          <a:lstStyle/>
          <a:p>
            <a:pPr>
              <a:spcBef>
                <a:spcPts val="0"/>
              </a:spcBef>
              <a:spcAft>
                <a:spcPts val="0"/>
              </a:spcAft>
            </a:pPr>
            <a:r>
              <a:rPr sz="1300" b="1">
                <a:solidFill>
                  <a:srgbClr val="FFFFFF"/>
                </a:solidFill>
                <a:latin typeface="Arial"/>
              </a:rPr>
              <a:t>Disk spill</a:t>
            </a:r>
          </a:p>
        </p:txBody>
      </p:sp>
      <p:sp>
        <p:nvSpPr>
          <p:cNvPr id="11" name="TextBox 10"/>
          <p:cNvSpPr txBox="1"/>
          <p:nvPr/>
        </p:nvSpPr>
        <p:spPr>
          <a:xfrm>
            <a:off x="9956800" y="1600200"/>
            <a:ext cx="1498600" cy="262128"/>
          </a:xfrm>
          <a:prstGeom prst="rect">
            <a:avLst/>
          </a:prstGeom>
          <a:noFill/>
        </p:spPr>
        <p:txBody>
          <a:bodyPr wrap="none" lIns="0" rIns="0" tIns="0" bIns="0" anchor="t">
            <a:spAutoFit/>
          </a:bodyPr>
          <a:lstStyle/>
          <a:p>
            <a:pPr>
              <a:spcBef>
                <a:spcPts val="0"/>
              </a:spcBef>
              <a:spcAft>
                <a:spcPts val="0"/>
              </a:spcAft>
            </a:pPr>
            <a:r>
              <a:rPr sz="1300" b="1">
                <a:solidFill>
                  <a:srgbClr val="FFFFFF"/>
                </a:solidFill>
                <a:latin typeface="Arial"/>
              </a:rPr>
              <a:t>Task p95</a:t>
            </a:r>
          </a:p>
        </p:txBody>
      </p:sp>
      <p:sp>
        <p:nvSpPr>
          <p:cNvPr id="12" name="Rectangle 11"/>
          <p:cNvSpPr/>
          <p:nvPr/>
        </p:nvSpPr>
        <p:spPr>
          <a:xfrm>
            <a:off x="609600" y="1955800"/>
            <a:ext cx="10972800" cy="749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6600" y="2057400"/>
            <a:ext cx="18415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100k orders</a:t>
            </a:r>
          </a:p>
        </p:txBody>
      </p:sp>
      <p:sp>
        <p:nvSpPr>
          <p:cNvPr id="14" name="TextBox 13"/>
          <p:cNvSpPr txBox="1"/>
          <p:nvPr/>
        </p:nvSpPr>
        <p:spPr>
          <a:xfrm>
            <a:off x="2832100" y="2057400"/>
            <a:ext cx="15875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642 / 0</a:t>
            </a:r>
          </a:p>
        </p:txBody>
      </p:sp>
      <p:sp>
        <p:nvSpPr>
          <p:cNvPr id="15" name="TextBox 14"/>
          <p:cNvSpPr txBox="1"/>
          <p:nvPr/>
        </p:nvSpPr>
        <p:spPr>
          <a:xfrm>
            <a:off x="4673600" y="2057400"/>
            <a:ext cx="14986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47.0s</a:t>
            </a:r>
          </a:p>
        </p:txBody>
      </p:sp>
      <p:sp>
        <p:nvSpPr>
          <p:cNvPr id="16" name="TextBox 15"/>
          <p:cNvSpPr txBox="1"/>
          <p:nvPr/>
        </p:nvSpPr>
        <p:spPr>
          <a:xfrm>
            <a:off x="6426200" y="2057400"/>
            <a:ext cx="14986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2.9s</a:t>
            </a:r>
          </a:p>
        </p:txBody>
      </p:sp>
      <p:sp>
        <p:nvSpPr>
          <p:cNvPr id="17" name="TextBox 16"/>
          <p:cNvSpPr txBox="1"/>
          <p:nvPr/>
        </p:nvSpPr>
        <p:spPr>
          <a:xfrm>
            <a:off x="8178800" y="2057400"/>
            <a:ext cx="15240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0.0 MB</a:t>
            </a:r>
          </a:p>
        </p:txBody>
      </p:sp>
      <p:sp>
        <p:nvSpPr>
          <p:cNvPr id="18" name="TextBox 17"/>
          <p:cNvSpPr txBox="1"/>
          <p:nvPr/>
        </p:nvSpPr>
        <p:spPr>
          <a:xfrm>
            <a:off x="9956800" y="2057400"/>
            <a:ext cx="14986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0.497s</a:t>
            </a:r>
          </a:p>
        </p:txBody>
      </p:sp>
      <p:sp>
        <p:nvSpPr>
          <p:cNvPr id="19" name="Rectangle 18"/>
          <p:cNvSpPr/>
          <p:nvPr/>
        </p:nvSpPr>
        <p:spPr>
          <a:xfrm>
            <a:off x="609600" y="2705100"/>
            <a:ext cx="10972800" cy="749300"/>
          </a:xfrm>
          <a:prstGeom prst="rect">
            <a:avLst/>
          </a:prstGeom>
          <a:solidFill>
            <a:srgbClr val="EA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36600" y="2806700"/>
            <a:ext cx="18415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500k orders</a:t>
            </a:r>
          </a:p>
        </p:txBody>
      </p:sp>
      <p:sp>
        <p:nvSpPr>
          <p:cNvPr id="21" name="TextBox 20"/>
          <p:cNvSpPr txBox="1"/>
          <p:nvPr/>
        </p:nvSpPr>
        <p:spPr>
          <a:xfrm>
            <a:off x="2832100" y="2806700"/>
            <a:ext cx="15875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689 / 0</a:t>
            </a:r>
          </a:p>
        </p:txBody>
      </p:sp>
      <p:sp>
        <p:nvSpPr>
          <p:cNvPr id="22" name="TextBox 21"/>
          <p:cNvSpPr txBox="1"/>
          <p:nvPr/>
        </p:nvSpPr>
        <p:spPr>
          <a:xfrm>
            <a:off x="4673600" y="2806700"/>
            <a:ext cx="14986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196.3s</a:t>
            </a:r>
          </a:p>
        </p:txBody>
      </p:sp>
      <p:sp>
        <p:nvSpPr>
          <p:cNvPr id="23" name="TextBox 22"/>
          <p:cNvSpPr txBox="1"/>
          <p:nvPr/>
        </p:nvSpPr>
        <p:spPr>
          <a:xfrm>
            <a:off x="6426200" y="2806700"/>
            <a:ext cx="14986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12.1s</a:t>
            </a:r>
          </a:p>
        </p:txBody>
      </p:sp>
      <p:sp>
        <p:nvSpPr>
          <p:cNvPr id="24" name="TextBox 23"/>
          <p:cNvSpPr txBox="1"/>
          <p:nvPr/>
        </p:nvSpPr>
        <p:spPr>
          <a:xfrm>
            <a:off x="8178800" y="2806700"/>
            <a:ext cx="15240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137.7 MB</a:t>
            </a:r>
          </a:p>
        </p:txBody>
      </p:sp>
      <p:sp>
        <p:nvSpPr>
          <p:cNvPr id="25" name="TextBox 24"/>
          <p:cNvSpPr txBox="1"/>
          <p:nvPr/>
        </p:nvSpPr>
        <p:spPr>
          <a:xfrm>
            <a:off x="9956800" y="2806700"/>
            <a:ext cx="14986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1.631s</a:t>
            </a:r>
          </a:p>
        </p:txBody>
      </p:sp>
      <p:sp>
        <p:nvSpPr>
          <p:cNvPr id="26" name="Rectangle 25"/>
          <p:cNvSpPr/>
          <p:nvPr/>
        </p:nvSpPr>
        <p:spPr>
          <a:xfrm>
            <a:off x="609600" y="3454400"/>
            <a:ext cx="10972800" cy="749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600" y="3556000"/>
            <a:ext cx="18415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1m orders</a:t>
            </a:r>
          </a:p>
        </p:txBody>
      </p:sp>
      <p:sp>
        <p:nvSpPr>
          <p:cNvPr id="28" name="TextBox 27"/>
          <p:cNvSpPr txBox="1"/>
          <p:nvPr/>
        </p:nvSpPr>
        <p:spPr>
          <a:xfrm>
            <a:off x="2832100" y="3556000"/>
            <a:ext cx="15875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680 / 0</a:t>
            </a:r>
          </a:p>
        </p:txBody>
      </p:sp>
      <p:sp>
        <p:nvSpPr>
          <p:cNvPr id="29" name="TextBox 28"/>
          <p:cNvSpPr txBox="1"/>
          <p:nvPr/>
        </p:nvSpPr>
        <p:spPr>
          <a:xfrm>
            <a:off x="4673600" y="3556000"/>
            <a:ext cx="14986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482.8s</a:t>
            </a:r>
          </a:p>
        </p:txBody>
      </p:sp>
      <p:sp>
        <p:nvSpPr>
          <p:cNvPr id="30" name="TextBox 29"/>
          <p:cNvSpPr txBox="1"/>
          <p:nvPr/>
        </p:nvSpPr>
        <p:spPr>
          <a:xfrm>
            <a:off x="6426200" y="3556000"/>
            <a:ext cx="14986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51.3s</a:t>
            </a:r>
          </a:p>
        </p:txBody>
      </p:sp>
      <p:sp>
        <p:nvSpPr>
          <p:cNvPr id="31" name="TextBox 30"/>
          <p:cNvSpPr txBox="1"/>
          <p:nvPr/>
        </p:nvSpPr>
        <p:spPr>
          <a:xfrm>
            <a:off x="8178800" y="3556000"/>
            <a:ext cx="15240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846.0 MB</a:t>
            </a:r>
          </a:p>
        </p:txBody>
      </p:sp>
      <p:sp>
        <p:nvSpPr>
          <p:cNvPr id="32" name="TextBox 31"/>
          <p:cNvSpPr txBox="1"/>
          <p:nvPr/>
        </p:nvSpPr>
        <p:spPr>
          <a:xfrm>
            <a:off x="9956800" y="3556000"/>
            <a:ext cx="1498600" cy="278384"/>
          </a:xfrm>
          <a:prstGeom prst="rect">
            <a:avLst/>
          </a:prstGeom>
          <a:noFill/>
        </p:spPr>
        <p:txBody>
          <a:bodyPr wrap="none" lIns="0" rIns="0" tIns="0" bIns="0" anchor="t">
            <a:spAutoFit/>
          </a:bodyPr>
          <a:lstStyle/>
          <a:p>
            <a:pPr>
              <a:spcBef>
                <a:spcPts val="0"/>
              </a:spcBef>
              <a:spcAft>
                <a:spcPts val="0"/>
              </a:spcAft>
            </a:pPr>
            <a:r>
              <a:rPr sz="1400" b="0">
                <a:solidFill>
                  <a:srgbClr val="183342"/>
                </a:solidFill>
                <a:latin typeface="Arial"/>
              </a:rPr>
              <a:t>6.414s</a:t>
            </a:r>
          </a:p>
        </p:txBody>
      </p:sp>
      <p:sp>
        <p:nvSpPr>
          <p:cNvPr id="33" name="Rounded Rectangle 32"/>
          <p:cNvSpPr/>
          <p:nvPr/>
        </p:nvSpPr>
        <p:spPr>
          <a:xfrm>
            <a:off x="609600" y="4648200"/>
            <a:ext cx="5308600" cy="13335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09600" y="4648200"/>
            <a:ext cx="50800" cy="13335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8200" y="4838700"/>
            <a:ext cx="48768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Largest offline fixture</a:t>
            </a:r>
          </a:p>
        </p:txBody>
      </p:sp>
      <p:sp>
        <p:nvSpPr>
          <p:cNvPr id="36" name="TextBox 35"/>
          <p:cNvSpPr txBox="1"/>
          <p:nvPr/>
        </p:nvSpPr>
        <p:spPr>
          <a:xfrm>
            <a:off x="838200" y="5245608"/>
            <a:ext cx="48768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~3 GiB cgroup peak; CPU throttling</a:t>
            </a:r>
          </a:p>
        </p:txBody>
      </p:sp>
      <p:sp>
        <p:nvSpPr>
          <p:cNvPr id="37" name="TextBox 36"/>
          <p:cNvSpPr txBox="1"/>
          <p:nvPr/>
        </p:nvSpPr>
        <p:spPr>
          <a:xfrm>
            <a:off x="838200" y="5489448"/>
            <a:ext cx="48768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No OOM; measurable memory pressure.</a:t>
            </a:r>
          </a:p>
        </p:txBody>
      </p:sp>
      <p:sp>
        <p:nvSpPr>
          <p:cNvPr id="38" name="Rounded Rectangle 37"/>
          <p:cNvSpPr/>
          <p:nvPr/>
        </p:nvSpPr>
        <p:spPr>
          <a:xfrm>
            <a:off x="6223000" y="4648200"/>
            <a:ext cx="5359400" cy="13335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6223000" y="4648200"/>
            <a:ext cx="50800" cy="13335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451600" y="4838700"/>
            <a:ext cx="49276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Streaming task extract</a:t>
            </a:r>
          </a:p>
        </p:txBody>
      </p:sp>
      <p:sp>
        <p:nvSpPr>
          <p:cNvPr id="41" name="TextBox 40"/>
          <p:cNvSpPr txBox="1"/>
          <p:nvPr/>
        </p:nvSpPr>
        <p:spPr>
          <a:xfrm>
            <a:off x="6451600" y="5245608"/>
            <a:ext cx="4927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11,487 attempts / 0 failures</a:t>
            </a:r>
          </a:p>
        </p:txBody>
      </p:sp>
      <p:sp>
        <p:nvSpPr>
          <p:cNvPr id="42" name="TextBox 41"/>
          <p:cNvSpPr txBox="1"/>
          <p:nvPr/>
        </p:nvSpPr>
        <p:spPr>
          <a:xfrm>
            <a:off x="6451600" y="5489448"/>
            <a:ext cx="4927600" cy="294640"/>
          </a:xfrm>
          <a:prstGeom prst="rect">
            <a:avLst/>
          </a:prstGeom>
          <a:noFill/>
        </p:spPr>
        <p:txBody>
          <a:bodyPr wrap="none" lIns="0" rIns="0" tIns="0" bIns="0" anchor="t">
            <a:spAutoFit/>
          </a:bodyPr>
          <a:lstStyle/>
          <a:p>
            <a:pPr>
              <a:spcBef>
                <a:spcPts val="0"/>
              </a:spcBef>
              <a:spcAft>
                <a:spcPts val="0"/>
              </a:spcAft>
            </a:pPr>
            <a:r>
              <a:rPr sz="1500" b="0">
                <a:solidFill>
                  <a:srgbClr val="516978"/>
                </a:solidFill>
                <a:latin typeface="Arial"/>
              </a:rPr>
              <a:t>337.4s CPU; 22.7s task GC; no spill.</a:t>
            </a:r>
          </a:p>
        </p:txBody>
      </p:sp>
      <p:cxnSp>
        <p:nvCxnSpPr>
          <p:cNvPr id="43" name="Connector 42"/>
          <p:cNvCxnSpPr/>
          <p:nvPr/>
        </p:nvCxnSpPr>
        <p:spPr>
          <a:xfrm>
            <a:off x="609600" y="6324600"/>
            <a:ext cx="10972800" cy="0"/>
          </a:xfrm>
          <a:prstGeom prst="line">
            <a:avLst/>
          </a:prstGeom>
          <a:ln w="8890">
            <a:solidFill>
              <a:srgbClr val="E5EBEF"/>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09600" y="6451600"/>
            <a:ext cx="10058400" cy="198729"/>
          </a:xfrm>
          <a:prstGeom prst="rect">
            <a:avLst/>
          </a:prstGeom>
          <a:noFill/>
        </p:spPr>
        <p:txBody>
          <a:bodyPr wrap="none" lIns="0" rIns="0" tIns="0" bIns="0" anchor="t">
            <a:spAutoFit/>
          </a:bodyPr>
          <a:lstStyle/>
          <a:p>
            <a:pPr>
              <a:spcBef>
                <a:spcPts val="0"/>
              </a:spcBef>
              <a:spcAft>
                <a:spcPts val="0"/>
              </a:spcAft>
            </a:pPr>
            <a:r>
              <a:rPr sz="910" b="0">
                <a:solidFill>
                  <a:srgbClr val="516978"/>
                </a:solidFill>
                <a:latin typeface="Arial"/>
                <a:hlinkClick r:id="rId2"/>
              </a:rPr>
              <a:t>Sources: docs/evidence/stress/scale-1m-spark-metrics.json | docs/evidence/stress/online-spark-metrics.json</a:t>
            </a:r>
          </a:p>
        </p:txBody>
      </p:sp>
      <p:sp>
        <p:nvSpPr>
          <p:cNvPr id="45" name="TextBox 44"/>
          <p:cNvSpPr txBox="1"/>
          <p:nvPr/>
        </p:nvSpPr>
        <p:spPr>
          <a:xfrm>
            <a:off x="10985500" y="6451600"/>
            <a:ext cx="609600" cy="213360"/>
          </a:xfrm>
          <a:prstGeom prst="rect">
            <a:avLst/>
          </a:prstGeom>
          <a:noFill/>
        </p:spPr>
        <p:txBody>
          <a:bodyPr wrap="none" lIns="0" rIns="0" tIns="0" bIns="0" anchor="t">
            <a:spAutoFit/>
          </a:bodyPr>
          <a:lstStyle/>
          <a:p>
            <a:pPr>
              <a:spcBef>
                <a:spcPts val="0"/>
              </a:spcBef>
              <a:spcAft>
                <a:spcPts val="0"/>
              </a:spcAft>
            </a:pPr>
            <a:r>
              <a:rPr sz="1000" b="1">
                <a:solidFill>
                  <a:srgbClr val="516978"/>
                </a:solidFill>
                <a:latin typeface="Arial"/>
              </a:rPr>
              <a:t>19 / 22</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42900"/>
            <a:ext cx="10972800" cy="213360"/>
          </a:xfrm>
          <a:prstGeom prst="rect">
            <a:avLst/>
          </a:prstGeom>
          <a:noFill/>
        </p:spPr>
        <p:txBody>
          <a:bodyPr wrap="none" lIns="0" rIns="0" tIns="0" bIns="0" anchor="t">
            <a:spAutoFit/>
          </a:bodyPr>
          <a:lstStyle/>
          <a:p>
            <a:pPr>
              <a:spcBef>
                <a:spcPts val="0"/>
              </a:spcBef>
              <a:spcAft>
                <a:spcPts val="0"/>
              </a:spcAft>
            </a:pPr>
            <a:r>
              <a:rPr sz="1000" b="1">
                <a:solidFill>
                  <a:srgbClr val="007F78"/>
                </a:solidFill>
                <a:latin typeface="Arial"/>
              </a:rPr>
              <a:t>APPENDIX E / ACTUAL OUTPUT</a:t>
            </a:r>
          </a:p>
        </p:txBody>
      </p:sp>
      <p:sp>
        <p:nvSpPr>
          <p:cNvPr id="4" name="TextBox 3"/>
          <p:cNvSpPr txBox="1"/>
          <p:nvPr/>
        </p:nvSpPr>
        <p:spPr>
          <a:xfrm>
            <a:off x="609600" y="673100"/>
            <a:ext cx="10972800" cy="505968"/>
          </a:xfrm>
          <a:prstGeom prst="rect">
            <a:avLst/>
          </a:prstGeom>
          <a:noFill/>
        </p:spPr>
        <p:txBody>
          <a:bodyPr wrap="none" lIns="0" rIns="0" tIns="0" bIns="0" anchor="t">
            <a:spAutoFit/>
          </a:bodyPr>
          <a:lstStyle/>
          <a:p>
            <a:pPr>
              <a:spcBef>
                <a:spcPts val="0"/>
              </a:spcBef>
              <a:spcAft>
                <a:spcPts val="0"/>
              </a:spcAft>
            </a:pPr>
            <a:r>
              <a:rPr sz="2800" b="1">
                <a:solidFill>
                  <a:srgbClr val="122B3B"/>
                </a:solidFill>
                <a:latin typeface="Arial"/>
              </a:rPr>
              <a:t>Captured business output is inspectable</a:t>
            </a:r>
          </a:p>
        </p:txBody>
      </p:sp>
      <p:sp>
        <p:nvSpPr>
          <p:cNvPr id="5" name="TextBox 4"/>
          <p:cNvSpPr txBox="1"/>
          <p:nvPr/>
        </p:nvSpPr>
        <p:spPr>
          <a:xfrm>
            <a:off x="609600" y="1485900"/>
            <a:ext cx="10972800" cy="310896"/>
          </a:xfrm>
          <a:prstGeom prst="rect">
            <a:avLst/>
          </a:prstGeom>
          <a:noFill/>
        </p:spPr>
        <p:txBody>
          <a:bodyPr wrap="none" lIns="0" rIns="0" tIns="0" bIns="0" anchor="t">
            <a:spAutoFit/>
          </a:bodyPr>
          <a:lstStyle/>
          <a:p>
            <a:pPr>
              <a:spcBef>
                <a:spcPts val="0"/>
              </a:spcBef>
              <a:spcAft>
                <a:spcPts val="0"/>
              </a:spcAft>
            </a:pPr>
            <a:r>
              <a:rPr sz="1600" b="1">
                <a:solidFill>
                  <a:srgbClr val="007F78"/>
                </a:solidFill>
                <a:latin typeface="Arial"/>
              </a:rPr>
              <a:t>Publication batch 39 • 2026-10-20 03:49:33.510811 UTC</a:t>
            </a:r>
          </a:p>
        </p:txBody>
      </p:sp>
      <p:sp>
        <p:nvSpPr>
          <p:cNvPr id="6" name="Rectangle 5"/>
          <p:cNvSpPr/>
          <p:nvPr/>
        </p:nvSpPr>
        <p:spPr>
          <a:xfrm>
            <a:off x="609600" y="2108200"/>
            <a:ext cx="10972800" cy="457200"/>
          </a:xfrm>
          <a:prstGeom prst="rect">
            <a:avLst/>
          </a:prstGeom>
          <a:solidFill>
            <a:srgbClr val="122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6600" y="2209800"/>
            <a:ext cx="2413000" cy="270256"/>
          </a:xfrm>
          <a:prstGeom prst="rect">
            <a:avLst/>
          </a:prstGeom>
          <a:noFill/>
        </p:spPr>
        <p:txBody>
          <a:bodyPr wrap="none" lIns="0" rIns="0" tIns="0" bIns="0" anchor="t">
            <a:spAutoFit/>
          </a:bodyPr>
          <a:lstStyle/>
          <a:p>
            <a:pPr>
              <a:spcBef>
                <a:spcPts val="0"/>
              </a:spcBef>
              <a:spcAft>
                <a:spcPts val="0"/>
              </a:spcAft>
            </a:pPr>
            <a:r>
              <a:rPr sz="1350" b="1">
                <a:solidFill>
                  <a:srgbClr val="FFFFFF"/>
                </a:solidFill>
                <a:latin typeface="Arial"/>
              </a:rPr>
              <a:t>Metric</a:t>
            </a:r>
          </a:p>
        </p:txBody>
      </p:sp>
      <p:sp>
        <p:nvSpPr>
          <p:cNvPr id="8" name="TextBox 7"/>
          <p:cNvSpPr txBox="1"/>
          <p:nvPr/>
        </p:nvSpPr>
        <p:spPr>
          <a:xfrm>
            <a:off x="3403600" y="2209800"/>
            <a:ext cx="5334000" cy="270256"/>
          </a:xfrm>
          <a:prstGeom prst="rect">
            <a:avLst/>
          </a:prstGeom>
          <a:noFill/>
        </p:spPr>
        <p:txBody>
          <a:bodyPr wrap="none" lIns="0" rIns="0" tIns="0" bIns="0" anchor="t">
            <a:spAutoFit/>
          </a:bodyPr>
          <a:lstStyle/>
          <a:p>
            <a:pPr>
              <a:spcBef>
                <a:spcPts val="0"/>
              </a:spcBef>
              <a:spcAft>
                <a:spcPts val="0"/>
              </a:spcAft>
            </a:pPr>
            <a:r>
              <a:rPr sz="1350" b="1">
                <a:solidFill>
                  <a:srgbClr val="FFFFFF"/>
                </a:solidFill>
                <a:latin typeface="Arial"/>
              </a:rPr>
              <a:t>Selected actual group</a:t>
            </a:r>
          </a:p>
        </p:txBody>
      </p:sp>
      <p:sp>
        <p:nvSpPr>
          <p:cNvPr id="9" name="TextBox 8"/>
          <p:cNvSpPr txBox="1"/>
          <p:nvPr/>
        </p:nvSpPr>
        <p:spPr>
          <a:xfrm>
            <a:off x="8991600" y="2209800"/>
            <a:ext cx="2463800" cy="270256"/>
          </a:xfrm>
          <a:prstGeom prst="rect">
            <a:avLst/>
          </a:prstGeom>
          <a:noFill/>
        </p:spPr>
        <p:txBody>
          <a:bodyPr wrap="none" lIns="0" rIns="0" tIns="0" bIns="0" anchor="t">
            <a:spAutoFit/>
          </a:bodyPr>
          <a:lstStyle/>
          <a:p>
            <a:pPr>
              <a:spcBef>
                <a:spcPts val="0"/>
              </a:spcBef>
              <a:spcAft>
                <a:spcPts val="0"/>
              </a:spcAft>
            </a:pPr>
            <a:r>
              <a:rPr sz="1350" b="1">
                <a:solidFill>
                  <a:srgbClr val="FFFFFF"/>
                </a:solidFill>
                <a:latin typeface="Arial"/>
              </a:rPr>
              <a:t>Result</a:t>
            </a:r>
          </a:p>
        </p:txBody>
      </p:sp>
      <p:sp>
        <p:nvSpPr>
          <p:cNvPr id="10" name="Rectangle 9"/>
          <p:cNvSpPr/>
          <p:nvPr/>
        </p:nvSpPr>
        <p:spPr>
          <a:xfrm>
            <a:off x="609600" y="2565400"/>
            <a:ext cx="10972800" cy="749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6600" y="2667000"/>
            <a:ext cx="24130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Open orders</a:t>
            </a:r>
          </a:p>
        </p:txBody>
      </p:sp>
      <p:sp>
        <p:nvSpPr>
          <p:cNvPr id="12" name="TextBox 11"/>
          <p:cNvSpPr txBox="1"/>
          <p:nvPr/>
        </p:nvSpPr>
        <p:spPr>
          <a:xfrm>
            <a:off x="3403600" y="2667000"/>
            <a:ext cx="53340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2026-10-20 / PENDING</a:t>
            </a:r>
          </a:p>
        </p:txBody>
      </p:sp>
      <p:sp>
        <p:nvSpPr>
          <p:cNvPr id="13" name="TextBox 12"/>
          <p:cNvSpPr txBox="1"/>
          <p:nvPr/>
        </p:nvSpPr>
        <p:spPr>
          <a:xfrm>
            <a:off x="8991600" y="2667000"/>
            <a:ext cx="24638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33 orders</a:t>
            </a:r>
          </a:p>
        </p:txBody>
      </p:sp>
      <p:sp>
        <p:nvSpPr>
          <p:cNvPr id="14" name="Rectangle 13"/>
          <p:cNvSpPr/>
          <p:nvPr/>
        </p:nvSpPr>
        <p:spPr>
          <a:xfrm>
            <a:off x="609600" y="3314700"/>
            <a:ext cx="10972800" cy="749300"/>
          </a:xfrm>
          <a:prstGeom prst="rect">
            <a:avLst/>
          </a:prstGeom>
          <a:solidFill>
            <a:srgbClr val="EA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3416300"/>
            <a:ext cx="24130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Top delivery date</a:t>
            </a:r>
          </a:p>
        </p:txBody>
      </p:sp>
      <p:sp>
        <p:nvSpPr>
          <p:cNvPr id="16" name="TextBox 15"/>
          <p:cNvSpPr txBox="1"/>
          <p:nvPr/>
        </p:nvSpPr>
        <p:spPr>
          <a:xfrm>
            <a:off x="3403600" y="3416300"/>
            <a:ext cx="53340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2026-10-31</a:t>
            </a:r>
          </a:p>
        </p:txBody>
      </p:sp>
      <p:sp>
        <p:nvSpPr>
          <p:cNvPr id="17" name="TextBox 16"/>
          <p:cNvSpPr txBox="1"/>
          <p:nvPr/>
        </p:nvSpPr>
        <p:spPr>
          <a:xfrm>
            <a:off x="8991600" y="3416300"/>
            <a:ext cx="24638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4,159 orders</a:t>
            </a:r>
          </a:p>
        </p:txBody>
      </p:sp>
      <p:sp>
        <p:nvSpPr>
          <p:cNvPr id="18" name="Rectangle 17"/>
          <p:cNvSpPr/>
          <p:nvPr/>
        </p:nvSpPr>
        <p:spPr>
          <a:xfrm>
            <a:off x="609600" y="4064000"/>
            <a:ext cx="10972800" cy="7493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6600" y="4165600"/>
            <a:ext cx="24130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Pending items</a:t>
            </a:r>
          </a:p>
        </p:txBody>
      </p:sp>
      <p:sp>
        <p:nvSpPr>
          <p:cNvPr id="20" name="TextBox 19"/>
          <p:cNvSpPr txBox="1"/>
          <p:nvPr/>
        </p:nvSpPr>
        <p:spPr>
          <a:xfrm>
            <a:off x="3403600" y="4165600"/>
            <a:ext cx="53340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Product 1</a:t>
            </a:r>
          </a:p>
        </p:txBody>
      </p:sp>
      <p:sp>
        <p:nvSpPr>
          <p:cNvPr id="21" name="TextBox 20"/>
          <p:cNvSpPr txBox="1"/>
          <p:nvPr/>
        </p:nvSpPr>
        <p:spPr>
          <a:xfrm>
            <a:off x="8991600" y="4165600"/>
            <a:ext cx="24638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556,139 lines</a:t>
            </a:r>
          </a:p>
        </p:txBody>
      </p:sp>
      <p:sp>
        <p:nvSpPr>
          <p:cNvPr id="22" name="TextBox 21"/>
          <p:cNvSpPr txBox="1"/>
          <p:nvPr/>
        </p:nvSpPr>
        <p:spPr>
          <a:xfrm>
            <a:off x="8991600" y="4401312"/>
            <a:ext cx="24638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2,782,894 units</a:t>
            </a:r>
          </a:p>
        </p:txBody>
      </p:sp>
      <p:sp>
        <p:nvSpPr>
          <p:cNvPr id="23" name="Rectangle 22"/>
          <p:cNvSpPr/>
          <p:nvPr/>
        </p:nvSpPr>
        <p:spPr>
          <a:xfrm>
            <a:off x="609600" y="4813300"/>
            <a:ext cx="10972800" cy="749300"/>
          </a:xfrm>
          <a:prstGeom prst="rect">
            <a:avLst/>
          </a:prstGeom>
          <a:solidFill>
            <a:srgbClr val="EA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914900"/>
            <a:ext cx="24130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Top customer</a:t>
            </a:r>
          </a:p>
        </p:txBody>
      </p:sp>
      <p:sp>
        <p:nvSpPr>
          <p:cNvPr id="25" name="TextBox 24"/>
          <p:cNvSpPr txBox="1"/>
          <p:nvPr/>
        </p:nvSpPr>
        <p:spPr>
          <a:xfrm>
            <a:off x="3403600" y="4914900"/>
            <a:ext cx="53340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Customer 1 — Awesome Comapany 2.0</a:t>
            </a:r>
          </a:p>
        </p:txBody>
      </p:sp>
      <p:sp>
        <p:nvSpPr>
          <p:cNvPr id="26" name="TextBox 25"/>
          <p:cNvSpPr txBox="1"/>
          <p:nvPr/>
        </p:nvSpPr>
        <p:spPr>
          <a:xfrm>
            <a:off x="8991600" y="4914900"/>
            <a:ext cx="2463800" cy="286512"/>
          </a:xfrm>
          <a:prstGeom prst="rect">
            <a:avLst/>
          </a:prstGeom>
          <a:noFill/>
        </p:spPr>
        <p:txBody>
          <a:bodyPr wrap="none" lIns="0" rIns="0" tIns="0" bIns="0" anchor="t">
            <a:spAutoFit/>
          </a:bodyPr>
          <a:lstStyle/>
          <a:p>
            <a:pPr>
              <a:spcBef>
                <a:spcPts val="0"/>
              </a:spcBef>
              <a:spcAft>
                <a:spcPts val="0"/>
              </a:spcAft>
            </a:pPr>
            <a:r>
              <a:rPr sz="1450" b="0">
                <a:solidFill>
                  <a:srgbClr val="183342"/>
                </a:solidFill>
                <a:latin typeface="Arial"/>
              </a:rPr>
              <a:t>112,375 orders</a:t>
            </a:r>
          </a:p>
        </p:txBody>
      </p:sp>
      <p:sp>
        <p:nvSpPr>
          <p:cNvPr id="27" name="TextBox 26"/>
          <p:cNvSpPr txBox="1"/>
          <p:nvPr/>
        </p:nvSpPr>
        <p:spPr>
          <a:xfrm>
            <a:off x="609600" y="5880100"/>
            <a:ext cx="10972800" cy="278384"/>
          </a:xfrm>
          <a:prstGeom prst="rect">
            <a:avLst/>
          </a:prstGeom>
          <a:noFill/>
        </p:spPr>
        <p:txBody>
          <a:bodyPr wrap="none" lIns="0" rIns="0" tIns="0" bIns="0" anchor="t">
            <a:spAutoFit/>
          </a:bodyPr>
          <a:lstStyle/>
          <a:p>
            <a:pPr>
              <a:spcBef>
                <a:spcPts val="0"/>
              </a:spcBef>
              <a:spcAft>
                <a:spcPts val="0"/>
              </a:spcAft>
            </a:pPr>
            <a:r>
              <a:rPr sz="1400" b="0">
                <a:solidFill>
                  <a:srgbClr val="516978"/>
                </a:solidFill>
                <a:latin typeface="Arial"/>
              </a:rPr>
              <a:t>Selected rows only. Full outputs and independent source comparisons are retained as JSON.</a:t>
            </a:r>
          </a:p>
        </p:txBody>
      </p:sp>
      <p:cxnSp>
        <p:nvCxnSpPr>
          <p:cNvPr id="28" name="Connector 27"/>
          <p:cNvCxnSpPr/>
          <p:nvPr/>
        </p:nvCxnSpPr>
        <p:spPr>
          <a:xfrm>
            <a:off x="609600" y="6324600"/>
            <a:ext cx="10972800" cy="0"/>
          </a:xfrm>
          <a:prstGeom prst="line">
            <a:avLst/>
          </a:prstGeom>
          <a:ln w="8890">
            <a:solidFill>
              <a:srgbClr val="E5EBEF"/>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09600" y="6451600"/>
            <a:ext cx="10058400" cy="198729"/>
          </a:xfrm>
          <a:prstGeom prst="rect">
            <a:avLst/>
          </a:prstGeom>
          <a:noFill/>
        </p:spPr>
        <p:txBody>
          <a:bodyPr wrap="none" lIns="0" rIns="0" tIns="0" bIns="0" anchor="t">
            <a:spAutoFit/>
          </a:bodyPr>
          <a:lstStyle/>
          <a:p>
            <a:pPr>
              <a:spcBef>
                <a:spcPts val="0"/>
              </a:spcBef>
              <a:spcAft>
                <a:spcPts val="0"/>
              </a:spcAft>
            </a:pPr>
            <a:r>
              <a:rPr sz="910" b="0">
                <a:solidFill>
                  <a:srgbClr val="516978"/>
                </a:solidFill>
                <a:latin typeface="Arial"/>
                <a:hlinkClick r:id="rId2"/>
              </a:rPr>
              <a:t>Sources: docs/evidence/stress/query-output.json | docs/evidence/stress/reconciliation.jsonl</a:t>
            </a:r>
          </a:p>
        </p:txBody>
      </p:sp>
      <p:sp>
        <p:nvSpPr>
          <p:cNvPr id="30" name="TextBox 29"/>
          <p:cNvSpPr txBox="1"/>
          <p:nvPr/>
        </p:nvSpPr>
        <p:spPr>
          <a:xfrm>
            <a:off x="10985500" y="6451600"/>
            <a:ext cx="609600" cy="213360"/>
          </a:xfrm>
          <a:prstGeom prst="rect">
            <a:avLst/>
          </a:prstGeom>
          <a:noFill/>
        </p:spPr>
        <p:txBody>
          <a:bodyPr wrap="none" lIns="0" rIns="0" tIns="0" bIns="0" anchor="t">
            <a:spAutoFit/>
          </a:bodyPr>
          <a:lstStyle/>
          <a:p>
            <a:pPr>
              <a:spcBef>
                <a:spcPts val="0"/>
              </a:spcBef>
              <a:spcAft>
                <a:spcPts val="0"/>
              </a:spcAft>
            </a:pPr>
            <a:r>
              <a:rPr sz="1000" b="1">
                <a:solidFill>
                  <a:srgbClr val="516978"/>
                </a:solidFill>
                <a:latin typeface="Arial"/>
              </a:rPr>
              <a:t>20 / 22</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42900"/>
            <a:ext cx="10972800" cy="213360"/>
          </a:xfrm>
          <a:prstGeom prst="rect">
            <a:avLst/>
          </a:prstGeom>
          <a:noFill/>
        </p:spPr>
        <p:txBody>
          <a:bodyPr wrap="none" lIns="0" rIns="0" tIns="0" bIns="0" anchor="t">
            <a:spAutoFit/>
          </a:bodyPr>
          <a:lstStyle/>
          <a:p>
            <a:pPr>
              <a:spcBef>
                <a:spcPts val="0"/>
              </a:spcBef>
              <a:spcAft>
                <a:spcPts val="0"/>
              </a:spcAft>
            </a:pPr>
            <a:r>
              <a:rPr sz="1000" b="1">
                <a:solidFill>
                  <a:srgbClr val="007F78"/>
                </a:solidFill>
                <a:latin typeface="Arial"/>
              </a:rPr>
              <a:t>APPENDIX F / INTERPRETATION</a:t>
            </a:r>
          </a:p>
        </p:txBody>
      </p:sp>
      <p:sp>
        <p:nvSpPr>
          <p:cNvPr id="4" name="TextBox 3"/>
          <p:cNvSpPr txBox="1"/>
          <p:nvPr/>
        </p:nvSpPr>
        <p:spPr>
          <a:xfrm>
            <a:off x="609600" y="673100"/>
            <a:ext cx="10972800" cy="505968"/>
          </a:xfrm>
          <a:prstGeom prst="rect">
            <a:avLst/>
          </a:prstGeom>
          <a:noFill/>
        </p:spPr>
        <p:txBody>
          <a:bodyPr wrap="none" lIns="0" rIns="0" tIns="0" bIns="0" anchor="t">
            <a:spAutoFit/>
          </a:bodyPr>
          <a:lstStyle/>
          <a:p>
            <a:pPr>
              <a:spcBef>
                <a:spcPts val="0"/>
              </a:spcBef>
              <a:spcAft>
                <a:spcPts val="0"/>
              </a:spcAft>
            </a:pPr>
            <a:r>
              <a:rPr sz="2800" b="1">
                <a:solidFill>
                  <a:srgbClr val="122B3B"/>
                </a:solidFill>
                <a:latin typeface="Arial"/>
              </a:rPr>
              <a:t>Limits are part of the analytical result</a:t>
            </a:r>
          </a:p>
        </p:txBody>
      </p:sp>
      <p:sp>
        <p:nvSpPr>
          <p:cNvPr id="5" name="Rounded Rectangle 4"/>
          <p:cNvSpPr/>
          <p:nvPr/>
        </p:nvSpPr>
        <p:spPr>
          <a:xfrm>
            <a:off x="609600" y="1485900"/>
            <a:ext cx="5308600" cy="1905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09600" y="1485900"/>
            <a:ext cx="50800" cy="19050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38200" y="1676400"/>
            <a:ext cx="48768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Contract limits</a:t>
            </a:r>
          </a:p>
        </p:txBody>
      </p:sp>
      <p:sp>
        <p:nvSpPr>
          <p:cNvPr id="8" name="TextBox 7"/>
          <p:cNvSpPr txBox="1"/>
          <p:nvPr/>
        </p:nvSpPr>
        <p:spPr>
          <a:xfrm>
            <a:off x="838200" y="2083308"/>
            <a:ext cx="48768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Current state, not SCD2</a:t>
            </a:r>
          </a:p>
        </p:txBody>
      </p:sp>
      <p:sp>
        <p:nvSpPr>
          <p:cNvPr id="9" name="TextBox 8"/>
          <p:cNvSpPr txBox="1"/>
          <p:nvPr/>
        </p:nvSpPr>
        <p:spPr>
          <a:xfrm>
            <a:off x="838200" y="2343404"/>
            <a:ext cx="48768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Per-table transactions + manifest reads</a:t>
            </a:r>
          </a:p>
        </p:txBody>
      </p:sp>
      <p:sp>
        <p:nvSpPr>
          <p:cNvPr id="10" name="TextBox 9"/>
          <p:cNvSpPr txBox="1"/>
          <p:nvPr/>
        </p:nvSpPr>
        <p:spPr>
          <a:xfrm>
            <a:off x="838200" y="2603500"/>
            <a:ext cx="48768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Single materializer; local durable volumes</a:t>
            </a:r>
          </a:p>
        </p:txBody>
      </p:sp>
      <p:sp>
        <p:nvSpPr>
          <p:cNvPr id="11" name="Rounded Rectangle 10"/>
          <p:cNvSpPr/>
          <p:nvPr/>
        </p:nvSpPr>
        <p:spPr>
          <a:xfrm>
            <a:off x="6223000" y="1485900"/>
            <a:ext cx="5359400" cy="19050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23000" y="1485900"/>
            <a:ext cx="50800" cy="19050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51600" y="1676400"/>
            <a:ext cx="49276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Measurement limits</a:t>
            </a:r>
          </a:p>
        </p:txBody>
      </p:sp>
      <p:sp>
        <p:nvSpPr>
          <p:cNvPr id="14" name="TextBox 13"/>
          <p:cNvSpPr txBox="1"/>
          <p:nvPr/>
        </p:nvSpPr>
        <p:spPr>
          <a:xfrm>
            <a:off x="6451600" y="2083308"/>
            <a:ext cx="49276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One run / scenario; ~2-minute steps</a:t>
            </a:r>
          </a:p>
        </p:txBody>
      </p:sp>
      <p:sp>
        <p:nvSpPr>
          <p:cNvPr id="15" name="TextBox 14"/>
          <p:cNvSpPr txBox="1"/>
          <p:nvPr/>
        </p:nvSpPr>
        <p:spPr>
          <a:xfrm>
            <a:off x="6451600" y="2343404"/>
            <a:ext cx="49276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Actual peak input ~2.59k/s, not 6k/s</a:t>
            </a:r>
          </a:p>
        </p:txBody>
      </p:sp>
      <p:sp>
        <p:nvSpPr>
          <p:cNvPr id="16" name="TextBox 15"/>
          <p:cNvSpPr txBox="1"/>
          <p:nvPr/>
        </p:nvSpPr>
        <p:spPr>
          <a:xfrm>
            <a:off x="6451600" y="2603500"/>
            <a:ext cx="49276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Batch p95 summaries ≠ global event p95</a:t>
            </a:r>
          </a:p>
        </p:txBody>
      </p:sp>
      <p:sp>
        <p:nvSpPr>
          <p:cNvPr id="17" name="Rounded Rectangle 16"/>
          <p:cNvSpPr/>
          <p:nvPr/>
        </p:nvSpPr>
        <p:spPr>
          <a:xfrm>
            <a:off x="609600" y="3683000"/>
            <a:ext cx="5308600" cy="21844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09600" y="3683000"/>
            <a:ext cx="50800" cy="21844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8200" y="3873500"/>
            <a:ext cx="48768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Replay observed</a:t>
            </a:r>
          </a:p>
        </p:txBody>
      </p:sp>
      <p:sp>
        <p:nvSpPr>
          <p:cNvPr id="20" name="TextBox 19"/>
          <p:cNvSpPr txBox="1"/>
          <p:nvPr/>
        </p:nvSpPr>
        <p:spPr>
          <a:xfrm>
            <a:off x="838200" y="4280408"/>
            <a:ext cx="48768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Initial 185-row snapshot emitted twice.</a:t>
            </a:r>
          </a:p>
        </p:txBody>
      </p:sp>
      <p:sp>
        <p:nvSpPr>
          <p:cNvPr id="21" name="TextBox 20"/>
          <p:cNvSpPr txBox="1"/>
          <p:nvPr/>
        </p:nvSpPr>
        <p:spPr>
          <a:xfrm>
            <a:off x="838200" y="4540504"/>
            <a:ext cx="48768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Bronze retained both coordinate sets.</a:t>
            </a:r>
          </a:p>
        </p:txBody>
      </p:sp>
      <p:sp>
        <p:nvSpPr>
          <p:cNvPr id="22" name="TextBox 21"/>
          <p:cNvSpPr txBox="1"/>
          <p:nvPr/>
        </p:nvSpPr>
        <p:spPr>
          <a:xfrm>
            <a:off x="838200" y="4800600"/>
            <a:ext cx="48768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Final checks used actual offsets; business-state</a:t>
            </a:r>
          </a:p>
        </p:txBody>
      </p:sp>
      <p:sp>
        <p:nvSpPr>
          <p:cNvPr id="23" name="TextBox 22"/>
          <p:cNvSpPr txBox="1"/>
          <p:nvPr/>
        </p:nvSpPr>
        <p:spPr>
          <a:xfrm>
            <a:off x="838200" y="5060696"/>
            <a:ext cx="48768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reconciliation passed.</a:t>
            </a:r>
          </a:p>
        </p:txBody>
      </p:sp>
      <p:sp>
        <p:nvSpPr>
          <p:cNvPr id="24" name="Rounded Rectangle 23"/>
          <p:cNvSpPr/>
          <p:nvPr/>
        </p:nvSpPr>
        <p:spPr>
          <a:xfrm>
            <a:off x="6223000" y="3683000"/>
            <a:ext cx="5359400" cy="2184400"/>
          </a:xfrm>
          <a:prstGeom prst="roundRect">
            <a:avLst>
              <a:gd name="adj" fmla="val 12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223000" y="3683000"/>
            <a:ext cx="50800" cy="2184400"/>
          </a:xfrm>
          <a:prstGeom prst="rect">
            <a:avLst/>
          </a:prstGeom>
          <a:solidFill>
            <a:srgbClr val="007F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51600" y="3873500"/>
            <a:ext cx="4927600" cy="343408"/>
          </a:xfrm>
          <a:prstGeom prst="rect">
            <a:avLst/>
          </a:prstGeom>
          <a:noFill/>
        </p:spPr>
        <p:txBody>
          <a:bodyPr wrap="none" lIns="0" rIns="0" tIns="0" bIns="0" anchor="t">
            <a:spAutoFit/>
          </a:bodyPr>
          <a:lstStyle/>
          <a:p>
            <a:pPr>
              <a:spcBef>
                <a:spcPts val="0"/>
              </a:spcBef>
              <a:spcAft>
                <a:spcPts val="0"/>
              </a:spcAft>
            </a:pPr>
            <a:r>
              <a:rPr sz="1800" b="1">
                <a:solidFill>
                  <a:srgbClr val="183342"/>
                </a:solidFill>
                <a:latin typeface="Arial"/>
              </a:rPr>
              <a:t>Production questions still open</a:t>
            </a:r>
          </a:p>
        </p:txBody>
      </p:sp>
      <p:sp>
        <p:nvSpPr>
          <p:cNvPr id="27" name="TextBox 26"/>
          <p:cNvSpPr txBox="1"/>
          <p:nvPr/>
        </p:nvSpPr>
        <p:spPr>
          <a:xfrm>
            <a:off x="6451600" y="4280408"/>
            <a:ext cx="49276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Long-duration SLA and workload mix</a:t>
            </a:r>
          </a:p>
        </p:txBody>
      </p:sp>
      <p:sp>
        <p:nvSpPr>
          <p:cNvPr id="28" name="TextBox 27"/>
          <p:cNvSpPr txBox="1"/>
          <p:nvPr/>
        </p:nvSpPr>
        <p:spPr>
          <a:xfrm>
            <a:off x="6451600" y="4540504"/>
            <a:ext cx="49276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Distributed executor scaling curve</a:t>
            </a:r>
          </a:p>
        </p:txBody>
      </p:sp>
      <p:sp>
        <p:nvSpPr>
          <p:cNvPr id="29" name="TextBox 28"/>
          <p:cNvSpPr txBox="1"/>
          <p:nvPr/>
        </p:nvSpPr>
        <p:spPr>
          <a:xfrm>
            <a:off x="6451600" y="4800600"/>
            <a:ext cx="49276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Broker / CDC / source saturation</a:t>
            </a:r>
          </a:p>
        </p:txBody>
      </p:sp>
      <p:sp>
        <p:nvSpPr>
          <p:cNvPr id="30" name="TextBox 29"/>
          <p:cNvSpPr txBox="1"/>
          <p:nvPr/>
        </p:nvSpPr>
        <p:spPr>
          <a:xfrm>
            <a:off x="6451600" y="5060696"/>
            <a:ext cx="4927600" cy="310896"/>
          </a:xfrm>
          <a:prstGeom prst="rect">
            <a:avLst/>
          </a:prstGeom>
          <a:noFill/>
        </p:spPr>
        <p:txBody>
          <a:bodyPr wrap="none" lIns="0" rIns="0" tIns="0" bIns="0" anchor="t">
            <a:spAutoFit/>
          </a:bodyPr>
          <a:lstStyle/>
          <a:p>
            <a:pPr>
              <a:spcBef>
                <a:spcPts val="0"/>
              </a:spcBef>
              <a:spcAft>
                <a:spcPts val="0"/>
              </a:spcAft>
            </a:pPr>
            <a:r>
              <a:rPr sz="1600" b="0">
                <a:solidFill>
                  <a:srgbClr val="516978"/>
                </a:solidFill>
                <a:latin typeface="Arial"/>
              </a:rPr>
              <a:t>Remote storage and peak query writes</a:t>
            </a:r>
          </a:p>
        </p:txBody>
      </p:sp>
      <p:cxnSp>
        <p:nvCxnSpPr>
          <p:cNvPr id="31" name="Connector 30"/>
          <p:cNvCxnSpPr/>
          <p:nvPr/>
        </p:nvCxnSpPr>
        <p:spPr>
          <a:xfrm>
            <a:off x="609600" y="6324600"/>
            <a:ext cx="10972800" cy="0"/>
          </a:xfrm>
          <a:prstGeom prst="line">
            <a:avLst/>
          </a:prstGeom>
          <a:ln w="8890">
            <a:solidFill>
              <a:srgbClr val="E5EBEF"/>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09600" y="6451600"/>
            <a:ext cx="10058400" cy="198729"/>
          </a:xfrm>
          <a:prstGeom prst="rect">
            <a:avLst/>
          </a:prstGeom>
          <a:noFill/>
        </p:spPr>
        <p:txBody>
          <a:bodyPr wrap="none" lIns="0" rIns="0" tIns="0" bIns="0" anchor="t">
            <a:spAutoFit/>
          </a:bodyPr>
          <a:lstStyle/>
          <a:p>
            <a:pPr>
              <a:spcBef>
                <a:spcPts val="0"/>
              </a:spcBef>
              <a:spcAft>
                <a:spcPts val="0"/>
              </a:spcAft>
            </a:pPr>
            <a:r>
              <a:rPr sz="910" b="0">
                <a:solidFill>
                  <a:srgbClr val="516978"/>
                </a:solidFill>
                <a:latin typeface="Arial"/>
                <a:hlinkClick r:id="rId2"/>
              </a:rPr>
              <a:t>Sources: docs/performance-stress.md | docs/assessment-deliverables.md</a:t>
            </a:r>
          </a:p>
        </p:txBody>
      </p:sp>
      <p:sp>
        <p:nvSpPr>
          <p:cNvPr id="33" name="TextBox 32"/>
          <p:cNvSpPr txBox="1"/>
          <p:nvPr/>
        </p:nvSpPr>
        <p:spPr>
          <a:xfrm>
            <a:off x="10985500" y="6451600"/>
            <a:ext cx="609600" cy="213360"/>
          </a:xfrm>
          <a:prstGeom prst="rect">
            <a:avLst/>
          </a:prstGeom>
          <a:noFill/>
        </p:spPr>
        <p:txBody>
          <a:bodyPr wrap="none" lIns="0" rIns="0" tIns="0" bIns="0" anchor="t">
            <a:spAutoFit/>
          </a:bodyPr>
          <a:lstStyle/>
          <a:p>
            <a:pPr>
              <a:spcBef>
                <a:spcPts val="0"/>
              </a:spcBef>
              <a:spcAft>
                <a:spcPts val="0"/>
              </a:spcAft>
            </a:pPr>
            <a:r>
              <a:rPr sz="1000" b="1">
                <a:solidFill>
                  <a:srgbClr val="516978"/>
                </a:solidFill>
                <a:latin typeface="Arial"/>
              </a:rPr>
              <a:t>21 / 22</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6F8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09600" y="342900"/>
            <a:ext cx="10972800" cy="213360"/>
          </a:xfrm>
          <a:prstGeom prst="rect">
            <a:avLst/>
          </a:prstGeom>
          <a:noFill/>
        </p:spPr>
        <p:txBody>
          <a:bodyPr wrap="none" lIns="0" rIns="0" tIns="0" bIns="0" anchor="t">
            <a:spAutoFit/>
          </a:bodyPr>
          <a:lstStyle/>
          <a:p>
            <a:pPr>
              <a:spcBef>
                <a:spcPts val="0"/>
              </a:spcBef>
              <a:spcAft>
                <a:spcPts val="0"/>
              </a:spcAft>
            </a:pPr>
            <a:r>
              <a:rPr sz="1000" b="1">
                <a:solidFill>
                  <a:srgbClr val="007F78"/>
                </a:solidFill>
                <a:latin typeface="Arial"/>
              </a:rPr>
              <a:t>APPENDIX G / DELIVERABLE INDEX</a:t>
            </a:r>
          </a:p>
        </p:txBody>
      </p:sp>
      <p:sp>
        <p:nvSpPr>
          <p:cNvPr id="4" name="TextBox 3"/>
          <p:cNvSpPr txBox="1"/>
          <p:nvPr/>
        </p:nvSpPr>
        <p:spPr>
          <a:xfrm>
            <a:off x="609600" y="673100"/>
            <a:ext cx="10972800" cy="505968"/>
          </a:xfrm>
          <a:prstGeom prst="rect">
            <a:avLst/>
          </a:prstGeom>
          <a:noFill/>
        </p:spPr>
        <p:txBody>
          <a:bodyPr wrap="none" lIns="0" rIns="0" tIns="0" bIns="0" anchor="t">
            <a:spAutoFit/>
          </a:bodyPr>
          <a:lstStyle/>
          <a:p>
            <a:pPr>
              <a:spcBef>
                <a:spcPts val="0"/>
              </a:spcBef>
              <a:spcAft>
                <a:spcPts val="0"/>
              </a:spcAft>
            </a:pPr>
            <a:r>
              <a:rPr sz="2800" b="1">
                <a:solidFill>
                  <a:srgbClr val="122B3B"/>
                </a:solidFill>
                <a:latin typeface="Arial"/>
              </a:rPr>
              <a:t>Every claim has a path back to the work</a:t>
            </a:r>
          </a:p>
        </p:txBody>
      </p:sp>
      <p:sp>
        <p:nvSpPr>
          <p:cNvPr id="5" name="TextBox 4"/>
          <p:cNvSpPr txBox="1"/>
          <p:nvPr/>
        </p:nvSpPr>
        <p:spPr>
          <a:xfrm>
            <a:off x="609600" y="1473200"/>
            <a:ext cx="3556000" cy="310896"/>
          </a:xfrm>
          <a:prstGeom prst="rect">
            <a:avLst/>
          </a:prstGeom>
          <a:noFill/>
        </p:spPr>
        <p:txBody>
          <a:bodyPr wrap="none" lIns="0" rIns="0" tIns="0" bIns="0" anchor="t">
            <a:spAutoFit/>
          </a:bodyPr>
          <a:lstStyle/>
          <a:p>
            <a:pPr>
              <a:spcBef>
                <a:spcPts val="0"/>
              </a:spcBef>
              <a:spcAft>
                <a:spcPts val="0"/>
              </a:spcAft>
            </a:pPr>
            <a:r>
              <a:rPr sz="1600" b="1">
                <a:solidFill>
                  <a:srgbClr val="183342"/>
                </a:solidFill>
                <a:latin typeface="Arial"/>
              </a:rPr>
              <a:t>Application + SQL</a:t>
            </a:r>
          </a:p>
        </p:txBody>
      </p:sp>
      <p:sp>
        <p:nvSpPr>
          <p:cNvPr id="6" name="TextBox 5"/>
          <p:cNvSpPr txBox="1"/>
          <p:nvPr/>
        </p:nvSpPr>
        <p:spPr>
          <a:xfrm>
            <a:off x="4318000" y="1473200"/>
            <a:ext cx="7264400" cy="294640"/>
          </a:xfrm>
          <a:prstGeom prst="rect">
            <a:avLst/>
          </a:prstGeom>
          <a:noFill/>
        </p:spPr>
        <p:txBody>
          <a:bodyPr wrap="none" lIns="0" rIns="0" tIns="0" bIns="0" anchor="t">
            <a:spAutoFit/>
          </a:bodyPr>
          <a:lstStyle/>
          <a:p>
            <a:pPr>
              <a:spcBef>
                <a:spcPts val="0"/>
              </a:spcBef>
              <a:spcAft>
                <a:spcPts val="0"/>
              </a:spcAft>
            </a:pPr>
            <a:r>
              <a:rPr sz="1500" b="0">
                <a:solidFill>
                  <a:srgbClr val="007F78"/>
                </a:solidFill>
                <a:latin typeface="Arial"/>
                <a:hlinkClick r:id="rId2"/>
              </a:rPr>
              <a:t>app/ and sql/</a:t>
            </a:r>
          </a:p>
        </p:txBody>
      </p:sp>
      <p:sp>
        <p:nvSpPr>
          <p:cNvPr id="7" name="TextBox 6"/>
          <p:cNvSpPr txBox="1"/>
          <p:nvPr/>
        </p:nvSpPr>
        <p:spPr>
          <a:xfrm>
            <a:off x="609600" y="2133600"/>
            <a:ext cx="3556000" cy="310896"/>
          </a:xfrm>
          <a:prstGeom prst="rect">
            <a:avLst/>
          </a:prstGeom>
          <a:noFill/>
        </p:spPr>
        <p:txBody>
          <a:bodyPr wrap="none" lIns="0" rIns="0" tIns="0" bIns="0" anchor="t">
            <a:spAutoFit/>
          </a:bodyPr>
          <a:lstStyle/>
          <a:p>
            <a:pPr>
              <a:spcBef>
                <a:spcPts val="0"/>
              </a:spcBef>
              <a:spcAft>
                <a:spcPts val="0"/>
              </a:spcAft>
            </a:pPr>
            <a:r>
              <a:rPr sz="1600" b="1">
                <a:solidFill>
                  <a:srgbClr val="183342"/>
                </a:solidFill>
                <a:latin typeface="Arial"/>
              </a:rPr>
              <a:t>Docker + run instructions</a:t>
            </a:r>
          </a:p>
        </p:txBody>
      </p:sp>
      <p:sp>
        <p:nvSpPr>
          <p:cNvPr id="8" name="TextBox 7"/>
          <p:cNvSpPr txBox="1"/>
          <p:nvPr/>
        </p:nvSpPr>
        <p:spPr>
          <a:xfrm>
            <a:off x="4318000" y="2133600"/>
            <a:ext cx="7264400" cy="294640"/>
          </a:xfrm>
          <a:prstGeom prst="rect">
            <a:avLst/>
          </a:prstGeom>
          <a:noFill/>
        </p:spPr>
        <p:txBody>
          <a:bodyPr wrap="none" lIns="0" rIns="0" tIns="0" bIns="0" anchor="t">
            <a:spAutoFit/>
          </a:bodyPr>
          <a:lstStyle/>
          <a:p>
            <a:pPr>
              <a:spcBef>
                <a:spcPts val="0"/>
              </a:spcBef>
              <a:spcAft>
                <a:spcPts val="0"/>
              </a:spcAft>
            </a:pPr>
            <a:r>
              <a:rPr sz="1500" b="0">
                <a:solidFill>
                  <a:srgbClr val="007F78"/>
                </a:solidFill>
                <a:latin typeface="Arial"/>
                <a:hlinkClick r:id="rId3"/>
              </a:rPr>
              <a:t>docker-compose.yaml and README</a:t>
            </a:r>
          </a:p>
        </p:txBody>
      </p:sp>
      <p:sp>
        <p:nvSpPr>
          <p:cNvPr id="9" name="TextBox 8"/>
          <p:cNvSpPr txBox="1"/>
          <p:nvPr/>
        </p:nvSpPr>
        <p:spPr>
          <a:xfrm>
            <a:off x="609600" y="2794000"/>
            <a:ext cx="3556000" cy="310896"/>
          </a:xfrm>
          <a:prstGeom prst="rect">
            <a:avLst/>
          </a:prstGeom>
          <a:noFill/>
        </p:spPr>
        <p:txBody>
          <a:bodyPr wrap="none" lIns="0" rIns="0" tIns="0" bIns="0" anchor="t">
            <a:spAutoFit/>
          </a:bodyPr>
          <a:lstStyle/>
          <a:p>
            <a:pPr>
              <a:spcBef>
                <a:spcPts val="0"/>
              </a:spcBef>
              <a:spcAft>
                <a:spcPts val="0"/>
              </a:spcAft>
            </a:pPr>
            <a:r>
              <a:rPr sz="1600" b="1">
                <a:solidFill>
                  <a:srgbClr val="183342"/>
                </a:solidFill>
                <a:latin typeface="Arial"/>
              </a:rPr>
              <a:t>Architecture + historical joins</a:t>
            </a:r>
          </a:p>
        </p:txBody>
      </p:sp>
      <p:sp>
        <p:nvSpPr>
          <p:cNvPr id="10" name="TextBox 9"/>
          <p:cNvSpPr txBox="1"/>
          <p:nvPr/>
        </p:nvSpPr>
        <p:spPr>
          <a:xfrm>
            <a:off x="4318000" y="2794000"/>
            <a:ext cx="7264400" cy="294640"/>
          </a:xfrm>
          <a:prstGeom prst="rect">
            <a:avLst/>
          </a:prstGeom>
          <a:noFill/>
        </p:spPr>
        <p:txBody>
          <a:bodyPr wrap="none" lIns="0" rIns="0" tIns="0" bIns="0" anchor="t">
            <a:spAutoFit/>
          </a:bodyPr>
          <a:lstStyle/>
          <a:p>
            <a:pPr>
              <a:spcBef>
                <a:spcPts val="0"/>
              </a:spcBef>
              <a:spcAft>
                <a:spcPts val="0"/>
              </a:spcAft>
            </a:pPr>
            <a:r>
              <a:rPr sz="1500" b="0">
                <a:solidFill>
                  <a:srgbClr val="007F78"/>
                </a:solidFill>
                <a:latin typeface="Arial"/>
                <a:hlinkClick r:id="rId4"/>
              </a:rPr>
              <a:t>docs/architecture.md</a:t>
            </a:r>
          </a:p>
        </p:txBody>
      </p:sp>
      <p:sp>
        <p:nvSpPr>
          <p:cNvPr id="11" name="TextBox 10"/>
          <p:cNvSpPr txBox="1"/>
          <p:nvPr/>
        </p:nvSpPr>
        <p:spPr>
          <a:xfrm>
            <a:off x="609600" y="3454400"/>
            <a:ext cx="3556000" cy="310896"/>
          </a:xfrm>
          <a:prstGeom prst="rect">
            <a:avLst/>
          </a:prstGeom>
          <a:noFill/>
        </p:spPr>
        <p:txBody>
          <a:bodyPr wrap="none" lIns="0" rIns="0" tIns="0" bIns="0" anchor="t">
            <a:spAutoFit/>
          </a:bodyPr>
          <a:lstStyle/>
          <a:p>
            <a:pPr>
              <a:spcBef>
                <a:spcPts val="0"/>
              </a:spcBef>
              <a:spcAft>
                <a:spcPts val="0"/>
              </a:spcAft>
            </a:pPr>
            <a:r>
              <a:rPr sz="1600" b="1">
                <a:solidFill>
                  <a:srgbClr val="183342"/>
                </a:solidFill>
                <a:latin typeface="Arial"/>
              </a:rPr>
              <a:t>Sizing + measured limits</a:t>
            </a:r>
          </a:p>
        </p:txBody>
      </p:sp>
      <p:sp>
        <p:nvSpPr>
          <p:cNvPr id="12" name="TextBox 11"/>
          <p:cNvSpPr txBox="1"/>
          <p:nvPr/>
        </p:nvSpPr>
        <p:spPr>
          <a:xfrm>
            <a:off x="4318000" y="3454400"/>
            <a:ext cx="7264400" cy="294640"/>
          </a:xfrm>
          <a:prstGeom prst="rect">
            <a:avLst/>
          </a:prstGeom>
          <a:noFill/>
        </p:spPr>
        <p:txBody>
          <a:bodyPr wrap="none" lIns="0" rIns="0" tIns="0" bIns="0" anchor="t">
            <a:spAutoFit/>
          </a:bodyPr>
          <a:lstStyle/>
          <a:p>
            <a:pPr>
              <a:spcBef>
                <a:spcPts val="0"/>
              </a:spcBef>
              <a:spcAft>
                <a:spcPts val="0"/>
              </a:spcAft>
            </a:pPr>
            <a:r>
              <a:rPr sz="1500" b="0">
                <a:solidFill>
                  <a:srgbClr val="007F78"/>
                </a:solidFill>
                <a:latin typeface="Arial"/>
                <a:hlinkClick r:id="rId5"/>
              </a:rPr>
              <a:t>docs/performance.md and performance-stress.md</a:t>
            </a:r>
          </a:p>
        </p:txBody>
      </p:sp>
      <p:sp>
        <p:nvSpPr>
          <p:cNvPr id="13" name="TextBox 12"/>
          <p:cNvSpPr txBox="1"/>
          <p:nvPr/>
        </p:nvSpPr>
        <p:spPr>
          <a:xfrm>
            <a:off x="609600" y="4114800"/>
            <a:ext cx="3556000" cy="310896"/>
          </a:xfrm>
          <a:prstGeom prst="rect">
            <a:avLst/>
          </a:prstGeom>
          <a:noFill/>
        </p:spPr>
        <p:txBody>
          <a:bodyPr wrap="none" lIns="0" rIns="0" tIns="0" bIns="0" anchor="t">
            <a:spAutoFit/>
          </a:bodyPr>
          <a:lstStyle/>
          <a:p>
            <a:pPr>
              <a:spcBef>
                <a:spcPts val="0"/>
              </a:spcBef>
              <a:spcAft>
                <a:spcPts val="0"/>
              </a:spcAft>
            </a:pPr>
            <a:r>
              <a:rPr sz="1600" b="1">
                <a:solidFill>
                  <a:srgbClr val="183342"/>
                </a:solidFill>
                <a:latin typeface="Arial"/>
              </a:rPr>
              <a:t>Evidence + experiment code</a:t>
            </a:r>
          </a:p>
        </p:txBody>
      </p:sp>
      <p:sp>
        <p:nvSpPr>
          <p:cNvPr id="14" name="TextBox 13"/>
          <p:cNvSpPr txBox="1"/>
          <p:nvPr/>
        </p:nvSpPr>
        <p:spPr>
          <a:xfrm>
            <a:off x="4318000" y="4114800"/>
            <a:ext cx="7264400" cy="294640"/>
          </a:xfrm>
          <a:prstGeom prst="rect">
            <a:avLst/>
          </a:prstGeom>
          <a:noFill/>
        </p:spPr>
        <p:txBody>
          <a:bodyPr wrap="none" lIns="0" rIns="0" tIns="0" bIns="0" anchor="t">
            <a:spAutoFit/>
          </a:bodyPr>
          <a:lstStyle/>
          <a:p>
            <a:pPr>
              <a:spcBef>
                <a:spcPts val="0"/>
              </a:spcBef>
              <a:spcAft>
                <a:spcPts val="0"/>
              </a:spcAft>
            </a:pPr>
            <a:r>
              <a:rPr sz="1500" b="0">
                <a:solidFill>
                  <a:srgbClr val="007F78"/>
                </a:solidFill>
                <a:latin typeface="Arial"/>
                <a:hlinkClick r:id="rId6"/>
              </a:rPr>
              <a:t>docs/evidence/ and scripts/stress/</a:t>
            </a:r>
          </a:p>
        </p:txBody>
      </p:sp>
      <p:sp>
        <p:nvSpPr>
          <p:cNvPr id="15" name="TextBox 14"/>
          <p:cNvSpPr txBox="1"/>
          <p:nvPr/>
        </p:nvSpPr>
        <p:spPr>
          <a:xfrm>
            <a:off x="609600" y="4775200"/>
            <a:ext cx="3556000" cy="310896"/>
          </a:xfrm>
          <a:prstGeom prst="rect">
            <a:avLst/>
          </a:prstGeom>
          <a:noFill/>
        </p:spPr>
        <p:txBody>
          <a:bodyPr wrap="none" lIns="0" rIns="0" tIns="0" bIns="0" anchor="t">
            <a:spAutoFit/>
          </a:bodyPr>
          <a:lstStyle/>
          <a:p>
            <a:pPr>
              <a:spcBef>
                <a:spcPts val="0"/>
              </a:spcBef>
              <a:spcAft>
                <a:spcPts val="0"/>
              </a:spcAft>
            </a:pPr>
            <a:r>
              <a:rPr sz="1600" b="1">
                <a:solidFill>
                  <a:srgbClr val="183342"/>
                </a:solidFill>
                <a:latin typeface="Arial"/>
              </a:rPr>
              <a:t>Presentation source + provenance</a:t>
            </a:r>
          </a:p>
        </p:txBody>
      </p:sp>
      <p:sp>
        <p:nvSpPr>
          <p:cNvPr id="16" name="TextBox 15"/>
          <p:cNvSpPr txBox="1"/>
          <p:nvPr/>
        </p:nvSpPr>
        <p:spPr>
          <a:xfrm>
            <a:off x="4318000" y="4775200"/>
            <a:ext cx="7264400" cy="294640"/>
          </a:xfrm>
          <a:prstGeom prst="rect">
            <a:avLst/>
          </a:prstGeom>
          <a:noFill/>
        </p:spPr>
        <p:txBody>
          <a:bodyPr wrap="none" lIns="0" rIns="0" tIns="0" bIns="0" anchor="t">
            <a:spAutoFit/>
          </a:bodyPr>
          <a:lstStyle/>
          <a:p>
            <a:pPr>
              <a:spcBef>
                <a:spcPts val="0"/>
              </a:spcBef>
              <a:spcAft>
                <a:spcPts val="0"/>
              </a:spcAft>
            </a:pPr>
            <a:r>
              <a:rPr sz="1500" b="0">
                <a:solidFill>
                  <a:srgbClr val="007F78"/>
                </a:solidFill>
                <a:latin typeface="Arial"/>
                <a:hlinkClick r:id="rId7"/>
              </a:rPr>
              <a:t>scripts/presentation/ and docs/presentation/manifest.json</a:t>
            </a:r>
          </a:p>
        </p:txBody>
      </p:sp>
      <p:sp>
        <p:nvSpPr>
          <p:cNvPr id="17" name="TextBox 16"/>
          <p:cNvSpPr txBox="1"/>
          <p:nvPr/>
        </p:nvSpPr>
        <p:spPr>
          <a:xfrm>
            <a:off x="609600" y="5765800"/>
            <a:ext cx="10972800" cy="343408"/>
          </a:xfrm>
          <a:prstGeom prst="rect">
            <a:avLst/>
          </a:prstGeom>
          <a:noFill/>
        </p:spPr>
        <p:txBody>
          <a:bodyPr wrap="none" lIns="0" rIns="0" tIns="0" bIns="0" anchor="t">
            <a:spAutoFit/>
          </a:bodyPr>
          <a:lstStyle/>
          <a:p>
            <a:pPr>
              <a:spcBef>
                <a:spcPts val="0"/>
              </a:spcBef>
              <a:spcAft>
                <a:spcPts val="0"/>
              </a:spcAft>
            </a:pPr>
            <a:r>
              <a:rPr sz="1800" b="1">
                <a:solidFill>
                  <a:srgbClr val="007F78"/>
                </a:solidFill>
                <a:latin typeface="Arial"/>
                <a:hlinkClick r:id="rId8"/>
              </a:rPr>
              <a:t>fabdutra/deel-data-engineering-task • private assessment delivery</a:t>
            </a:r>
          </a:p>
        </p:txBody>
      </p:sp>
      <p:cxnSp>
        <p:nvCxnSpPr>
          <p:cNvPr id="18" name="Connector 17"/>
          <p:cNvCxnSpPr/>
          <p:nvPr/>
        </p:nvCxnSpPr>
        <p:spPr>
          <a:xfrm>
            <a:off x="609600" y="6324600"/>
            <a:ext cx="10972800" cy="0"/>
          </a:xfrm>
          <a:prstGeom prst="line">
            <a:avLst/>
          </a:prstGeom>
          <a:ln w="8890">
            <a:solidFill>
              <a:srgbClr val="E5EBEF"/>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09600" y="6451600"/>
            <a:ext cx="10058400" cy="198729"/>
          </a:xfrm>
          <a:prstGeom prst="rect">
            <a:avLst/>
          </a:prstGeom>
          <a:noFill/>
        </p:spPr>
        <p:txBody>
          <a:bodyPr wrap="none" lIns="0" rIns="0" tIns="0" bIns="0" anchor="t">
            <a:spAutoFit/>
          </a:bodyPr>
          <a:lstStyle/>
          <a:p>
            <a:pPr>
              <a:spcBef>
                <a:spcPts val="0"/>
              </a:spcBef>
              <a:spcAft>
                <a:spcPts val="0"/>
              </a:spcAft>
            </a:pPr>
            <a:r>
              <a:rPr sz="910" b="0">
                <a:solidFill>
                  <a:srgbClr val="516978"/>
                </a:solidFill>
                <a:latin typeface="Arial"/>
                <a:hlinkClick r:id="rId9"/>
              </a:rPr>
              <a:t>Sources: docs/assessment-deliverables.md | docs/evidence/README.md</a:t>
            </a:r>
          </a:p>
        </p:txBody>
      </p:sp>
      <p:sp>
        <p:nvSpPr>
          <p:cNvPr id="20" name="TextBox 19"/>
          <p:cNvSpPr txBox="1"/>
          <p:nvPr/>
        </p:nvSpPr>
        <p:spPr>
          <a:xfrm>
            <a:off x="10985500" y="6451600"/>
            <a:ext cx="609600" cy="213360"/>
          </a:xfrm>
          <a:prstGeom prst="rect">
            <a:avLst/>
          </a:prstGeom>
          <a:noFill/>
        </p:spPr>
        <p:txBody>
          <a:bodyPr wrap="none" lIns="0" rIns="0" tIns="0" bIns="0" anchor="t">
            <a:spAutoFit/>
          </a:bodyPr>
          <a:lstStyle/>
          <a:p>
            <a:pPr>
              <a:spcBef>
                <a:spcPts val="0"/>
              </a:spcBef>
              <a:spcAft>
                <a:spcPts val="0"/>
              </a:spcAft>
            </a:pPr>
            <a:r>
              <a:rPr sz="1000" b="1">
                <a:solidFill>
                  <a:srgbClr val="516978"/>
                </a:solidFill>
                <a:latin typeface="Arial"/>
              </a:rPr>
              <a:t>22 /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ACME Delivery: streaming operational analytics</dc:title>
  <dc:subject>Deel Senior Data Engineer assessment</dc:subject>
  <dc:creator>Fabricio Dutra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